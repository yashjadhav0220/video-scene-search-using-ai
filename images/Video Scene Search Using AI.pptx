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9" r:id="rId4"/>
    <p:sldId id="260" r:id="rId5"/>
    <p:sldId id="261" r:id="rId6"/>
    <p:sldId id="262" r:id="rId7"/>
    <p:sldId id="263" r:id="rId8"/>
    <p:sldId id="267" r:id="rId9"/>
    <p:sldId id="266" r:id="rId10"/>
    <p:sldId id="265" r:id="rId11"/>
    <p:sldId id="264"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AB08DE-1A33-DB89-5250-189ECE65819F}" v="58" dt="2026-06-11T15:30:04.277"/>
    <p1510:client id="{421E49C0-19B3-1003-0B4B-088756109DBD}" v="175" dt="2026-06-12T05:45:01.881"/>
    <p1510:client id="{9828B9F2-2046-F192-F40E-714E9F6E8435}" v="597" dt="2026-06-10T15:42:35.214"/>
    <p1510:client id="{9DCB4D37-A1D9-03AF-1AB7-923DB6B6BF02}" v="95" dt="2026-06-12T02:09:00.739"/>
    <p1510:client id="{A25E6C0F-E595-4FB1-3653-0857BEC02DB2}" v="145" dt="2026-06-11T18:20:41.943"/>
    <p1510:client id="{B6B77847-86E9-BB0D-BF85-CA3B2F643C9A}" v="166" dt="2026-06-10T17:31:48.056"/>
    <p1510:client id="{C239EDE8-0DC3-BE6C-3087-520882A76BE3}" v="219" dt="2026-06-11T05:43:04.9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6/27/2026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everyone, and thank you for your time. Today I am thrilled to present YashFlix AI — a modern enterprise video search platform designed to turn hours of passive, unsearchable video recordings into active, structured corporate intelligence. Over the next several minutes I will walk you through the problem, the platform, the technology that powers it, and the strategic value it delivers to our teams.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road map for our session today. We will start with a core question about how we spend our time, highlight the corporate challenges we are addressing, look at the underlying platform mechanics, step into a live demonstration, and conclude with future growth opportunities. Each section is intentionally focused on business outcomes rather than technical implementation.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Unstructured data is a massive challenge for modern businesses. When knowledge is trapped inside video files, teams often duplicate efforts simply because finding the original discussion is too labor-intensive. The industry benchmark you see on the right is widely cited — roughly eighty percent of enterprise data lives in unstructured formats, and video is the fastest-growing slice of that. YashFlix AI is specifically engineered to make that slice productive.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YashFlix AI acts as an internal search engine for your company's recordings. If you can remember a topic, phrase, or requirement mentioned weeks ago, you can type it in, hit search, and watch the exact clip instantly. The experience is intentionally familiar — it looks and behaves like a consumer search bar, so adoption requires no training or change management.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chose this stack because it balances speed with enterprise-grade stability. FastAPI gives us a fast, predictable web layer that integrates cleanly with our existing services. OpenAI's Whisper engine handles audio with industry-leading accuracy across accents and acoustic conditions. And Snowflake provides the secure cloud foundation that lets us govern, scale, and protect all of this without sending sensitive content to public third-party services.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guarantee absolute data consistency, our application uses a sequential pipeline. The application holds the request active until the video has been broken down, transcribed, and indexed into the database, meaning when the interface turns green, the file is immediately ready for company-wide search. There is no ambiguity, no silent failure mode, and no need for the user to refresh and hope.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Snowflake is the core brain of this project. By utilizing Snowflake Cortex AI, we can run advanced semantic logic without sending our private company data to public third-party applications, giving management absolute security peace of mind. The same governance, encryption, and access controls that protect our financial data now protect every transcript and every search.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platform isn't restricted to standard corporate meetings; its application extends across multiple high-stakes industries by transforming how we interact with raw media. In security and operations, it bridges text queries with raw surveillance or radio recordings, turning hours of blind monitoring into precision auditing. In the enterprise space, it acts as the ultimate knowledge repository—allowing cross-functional teams to instantly mine insights from technical hand-offs and client calls, cutting down on time-wasting scavenger hunts. Finally, for anyone who loves cinema or works in post-production, finding the perfect shot in hundreds of hours of raw footage is notoriously painful. With YashFlix AI, we are bringing a ‘Director’s Cut’ mentality to video search. A filmmaker can literally type a creative description of a scene—focusing on a specific emotion, dialog, or a visual backdrop—and the system maps that description directly to the exact millisecond inside the video timeline. We are removing the tedious mechanical search so creators can focus entirely on the art of storytelling.</a:t>
            </a:r>
          </a:p>
        </p:txBody>
      </p:sp>
      <p:sp>
        <p:nvSpPr>
          <p:cNvPr id="4" name="Slide Number Placeholder 3"/>
          <p:cNvSpPr>
            <a:spLocks noGrp="1"/>
          </p:cNvSpPr>
          <p:nvPr>
            <p:ph type="sldNum" sz="quarter" idx="10"/>
          </p:nvPr>
        </p:nvSpPr>
        <p:spPr/>
        <p:txBody>
          <a:bodyPr/>
          <a:lstStyle/>
          <a:p>
            <a:fld id="{F7021451-1387-4CA6-816F-3879F97B5CBD}" type="slidenum">
              <a:rPr lang="en-US"/>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 we look past our current operational prototype, our strategic roadmap focuses on two high-impact enhancements designed to deepen our infrastructure and maximize user value. First, we are upgrading our core infrastructure by migrating our transcription phase directly into the data cloud using Snowflake's native Cortex AI_TRANSCRIBE capabilities. By processing audio native to Snowflake, we achieve absolute data isolation—meaning sensitive internal recordings never have to touch an external processing server. Second, we are moving from simple timestamp tracking into true generative intelligence. We will be adding an automated summarization layer directly into the dashboard interface. Instead of just finding a specific timestamp, a user will be presented with instant, high-level structural breakdowns, automated chapter markers, and an interactive list of verbal action-items right next to the video player timeline. This takes us from a search utility to an end-to-end knowledge asset management system.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Let's step away from the slides and look at how this operates in practice. I will demonstrate uploading an internal video, searching for a specific business concept, and showing how the player eliminates manual searching. Pay attention to how quickly results appear and how precisely the playhead snaps to the exact moment a topic was discussed.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0" y="0"/>
            <a:ext cx="5303520" cy="6858000"/>
          </a:xfrm>
          <a:prstGeom prst="rect">
            <a:avLst/>
          </a:prstGeom>
          <a:solidFill>
            <a:srgbClr val="E6F6FC"/>
          </a:solidFill>
          <a:ln w="12700">
            <a:solidFill>
              <a:srgbClr val="E6F6FC"/>
            </a:solidFill>
            <a:prstDash val="solid"/>
          </a:ln>
        </p:spPr>
      </p:sp>
      <p:sp>
        <p:nvSpPr>
          <p:cNvPr id="3" name="Shape 1"/>
          <p:cNvSpPr/>
          <p:nvPr/>
        </p:nvSpPr>
        <p:spPr>
          <a:xfrm>
            <a:off x="7162800" y="0"/>
            <a:ext cx="5029200" cy="5029200"/>
          </a:xfrm>
          <a:prstGeom prst="ellipse">
            <a:avLst/>
          </a:prstGeom>
          <a:solidFill>
            <a:srgbClr val="29B5E8">
              <a:alpha val="30000"/>
            </a:srgbClr>
          </a:solidFill>
          <a:ln w="12700">
            <a:solidFill>
              <a:srgbClr val="29B5E8"/>
            </a:solidFill>
            <a:prstDash val="solid"/>
          </a:ln>
        </p:spPr>
      </p:sp>
      <p:sp>
        <p:nvSpPr>
          <p:cNvPr id="4" name="Shape 2"/>
          <p:cNvSpPr/>
          <p:nvPr/>
        </p:nvSpPr>
        <p:spPr>
          <a:xfrm>
            <a:off x="7162800" y="1828800"/>
            <a:ext cx="5029200" cy="5029200"/>
          </a:xfrm>
          <a:prstGeom prst="ellipse">
            <a:avLst/>
          </a:prstGeom>
          <a:solidFill>
            <a:srgbClr val="0056D2">
              <a:alpha val="15000"/>
            </a:srgbClr>
          </a:solidFill>
          <a:ln w="12700">
            <a:solidFill>
              <a:srgbClr val="0056D2"/>
            </a:solidFill>
            <a:prstDash val="solid"/>
          </a:ln>
        </p:spPr>
      </p:sp>
      <p:sp>
        <p:nvSpPr>
          <p:cNvPr id="5" name="Shape 3"/>
          <p:cNvSpPr/>
          <p:nvPr/>
        </p:nvSpPr>
        <p:spPr>
          <a:xfrm>
            <a:off x="0" y="0"/>
            <a:ext cx="12161520" cy="73152"/>
          </a:xfrm>
          <a:prstGeom prst="rect">
            <a:avLst/>
          </a:prstGeom>
          <a:solidFill>
            <a:srgbClr val="29B5E8"/>
          </a:solidFill>
          <a:ln w="12700">
            <a:solidFill>
              <a:srgbClr val="29B5E8"/>
            </a:solidFill>
            <a:prstDash val="solid"/>
          </a:ln>
        </p:spPr>
        <p:txBody>
          <a:bodyPr/>
          <a:lstStyle/>
          <a:p>
            <a:endParaRPr lang="en-US"/>
          </a:p>
        </p:txBody>
      </p:sp>
      <p:sp>
        <p:nvSpPr>
          <p:cNvPr id="9" name="Text 7"/>
          <p:cNvSpPr/>
          <p:nvPr/>
        </p:nvSpPr>
        <p:spPr>
          <a:xfrm>
            <a:off x="640080" y="1933875"/>
            <a:ext cx="5943600" cy="365760"/>
          </a:xfrm>
          <a:prstGeom prst="rect">
            <a:avLst/>
          </a:prstGeom>
          <a:noFill/>
          <a:ln/>
        </p:spPr>
        <p:txBody>
          <a:bodyPr wrap="square" lIns="0" tIns="0" rIns="0" bIns="0" rtlCol="0" anchor="ctr"/>
          <a:lstStyle/>
          <a:p>
            <a:pPr marL="0" indent="0">
              <a:buNone/>
            </a:pPr>
            <a:r>
              <a:rPr lang="en-US" sz="1100" b="1" kern="0" spc="500">
                <a:solidFill>
                  <a:srgbClr val="29B5E8"/>
                </a:solidFill>
              </a:rPr>
              <a:t>VIDEO SEMANTIC SEARCH ENGINE</a:t>
            </a:r>
            <a:endParaRPr lang="en-US" sz="1100"/>
          </a:p>
        </p:txBody>
      </p:sp>
      <p:sp>
        <p:nvSpPr>
          <p:cNvPr id="10" name="Text 8"/>
          <p:cNvSpPr/>
          <p:nvPr/>
        </p:nvSpPr>
        <p:spPr>
          <a:xfrm>
            <a:off x="640080" y="2295225"/>
            <a:ext cx="6217920" cy="1188720"/>
          </a:xfrm>
          <a:prstGeom prst="rect">
            <a:avLst/>
          </a:prstGeom>
          <a:noFill/>
          <a:ln/>
        </p:spPr>
        <p:txBody>
          <a:bodyPr wrap="square" lIns="0" tIns="0" rIns="0" bIns="0" rtlCol="0" anchor="ctr"/>
          <a:lstStyle/>
          <a:p>
            <a:r>
              <a:rPr lang="en-US" sz="3600" b="1">
                <a:solidFill>
                  <a:srgbClr val="0A2540"/>
                </a:solidFill>
                <a:latin typeface="Calibri"/>
                <a:ea typeface="Calibri"/>
                <a:cs typeface="Calibri"/>
              </a:rPr>
              <a:t>The Intelligent Video Navigator</a:t>
            </a:r>
          </a:p>
        </p:txBody>
      </p:sp>
      <p:sp>
        <p:nvSpPr>
          <p:cNvPr id="11" name="Shape 9"/>
          <p:cNvSpPr/>
          <p:nvPr/>
        </p:nvSpPr>
        <p:spPr>
          <a:xfrm>
            <a:off x="640080" y="3424990"/>
            <a:ext cx="1097280" cy="54864"/>
          </a:xfrm>
          <a:prstGeom prst="rect">
            <a:avLst/>
          </a:prstGeom>
          <a:solidFill>
            <a:srgbClr val="29B5E8"/>
          </a:solidFill>
          <a:ln w="12700">
            <a:solidFill>
              <a:srgbClr val="29B5E8"/>
            </a:solidFill>
            <a:prstDash val="solid"/>
          </a:ln>
        </p:spPr>
        <p:txBody>
          <a:bodyPr/>
          <a:lstStyle/>
          <a:p>
            <a:endParaRPr lang="en-US"/>
          </a:p>
        </p:txBody>
      </p:sp>
      <p:sp>
        <p:nvSpPr>
          <p:cNvPr id="12" name="Text 10"/>
          <p:cNvSpPr/>
          <p:nvPr/>
        </p:nvSpPr>
        <p:spPr>
          <a:xfrm>
            <a:off x="640080" y="4069080"/>
            <a:ext cx="6217920" cy="640080"/>
          </a:xfrm>
          <a:prstGeom prst="rect">
            <a:avLst/>
          </a:prstGeom>
          <a:noFill/>
          <a:ln/>
        </p:spPr>
        <p:txBody>
          <a:bodyPr wrap="square" lIns="0" tIns="0" rIns="0" bIns="0" rtlCol="0" anchor="ctr"/>
          <a:lstStyle/>
          <a:p>
            <a:r>
              <a:rPr lang="en-US" sz="1900">
                <a:solidFill>
                  <a:srgbClr val="0056D2"/>
                </a:solidFill>
                <a:ea typeface="+mn-lt"/>
                <a:cs typeface="+mn-lt"/>
              </a:rPr>
              <a:t>Eliminating </a:t>
            </a:r>
            <a:r>
              <a:rPr lang="en-US" sz="1900">
                <a:solidFill>
                  <a:srgbClr val="0056D2"/>
                </a:solidFill>
                <a:ea typeface="Calibri"/>
                <a:cs typeface="Calibri"/>
              </a:rPr>
              <a:t>the Manual Video Hunt with Instant Search</a:t>
            </a:r>
            <a:endParaRPr lang="en-US"/>
          </a:p>
        </p:txBody>
      </p:sp>
      <p:sp>
        <p:nvSpPr>
          <p:cNvPr id="13" name="Shape 11"/>
          <p:cNvSpPr/>
          <p:nvPr/>
        </p:nvSpPr>
        <p:spPr>
          <a:xfrm>
            <a:off x="640080" y="5120640"/>
            <a:ext cx="5943600" cy="0"/>
          </a:xfrm>
          <a:prstGeom prst="line">
            <a:avLst/>
          </a:prstGeom>
          <a:noFill/>
          <a:ln w="12700">
            <a:solidFill>
              <a:srgbClr val="D9E2EC"/>
            </a:solidFill>
            <a:prstDash val="solid"/>
          </a:ln>
        </p:spPr>
      </p:sp>
      <p:sp>
        <p:nvSpPr>
          <p:cNvPr id="20" name="Shape 18"/>
          <p:cNvSpPr/>
          <p:nvPr/>
        </p:nvSpPr>
        <p:spPr>
          <a:xfrm>
            <a:off x="7680960" y="1737360"/>
            <a:ext cx="3840480" cy="3840480"/>
          </a:xfrm>
          <a:prstGeom prst="roundRect">
            <a:avLst>
              <a:gd name="adj" fmla="val 4762"/>
            </a:avLst>
          </a:prstGeom>
          <a:solidFill>
            <a:srgbClr val="FFFFFF"/>
          </a:solidFill>
          <a:ln w="25400">
            <a:solidFill>
              <a:srgbClr val="29B5E8"/>
            </a:solidFill>
            <a:prstDash val="solid"/>
          </a:ln>
          <a:effectLst>
            <a:outerShdw blurRad="381000" dist="76200" dir="5400000" algn="bl" rotWithShape="0">
              <a:srgbClr val="0A2540">
                <a:alpha val="12000"/>
              </a:srgbClr>
            </a:outerShdw>
          </a:effectLst>
        </p:spPr>
      </p:sp>
      <p:sp>
        <p:nvSpPr>
          <p:cNvPr id="21" name="Shape 19"/>
          <p:cNvSpPr/>
          <p:nvPr/>
        </p:nvSpPr>
        <p:spPr>
          <a:xfrm>
            <a:off x="8138160" y="2194560"/>
            <a:ext cx="2926080" cy="2926080"/>
          </a:xfrm>
          <a:prstGeom prst="ellipse">
            <a:avLst/>
          </a:prstGeom>
          <a:solidFill>
            <a:srgbClr val="E6F6FC"/>
          </a:solidFill>
          <a:ln w="12700">
            <a:solidFill>
              <a:srgbClr val="E6F6FC"/>
            </a:solidFill>
            <a:prstDash val="solid"/>
          </a:ln>
        </p:spPr>
      </p:sp>
      <p:sp>
        <p:nvSpPr>
          <p:cNvPr id="22" name="Shape 20"/>
          <p:cNvSpPr/>
          <p:nvPr/>
        </p:nvSpPr>
        <p:spPr>
          <a:xfrm>
            <a:off x="8503920" y="2560320"/>
            <a:ext cx="2194560" cy="2194560"/>
          </a:xfrm>
          <a:prstGeom prst="ellipse">
            <a:avLst/>
          </a:prstGeom>
          <a:solidFill>
            <a:srgbClr val="29B5E8"/>
          </a:solidFill>
          <a:ln w="12700">
            <a:solidFill>
              <a:srgbClr val="29B5E8"/>
            </a:solidFill>
            <a:prstDash val="solid"/>
          </a:ln>
        </p:spPr>
      </p:sp>
      <p:sp>
        <p:nvSpPr>
          <p:cNvPr id="23" name="Text 21"/>
          <p:cNvSpPr/>
          <p:nvPr/>
        </p:nvSpPr>
        <p:spPr>
          <a:xfrm>
            <a:off x="8503920" y="2560320"/>
            <a:ext cx="2194560" cy="2194560"/>
          </a:xfrm>
          <a:prstGeom prst="rect">
            <a:avLst/>
          </a:prstGeom>
          <a:noFill/>
          <a:ln/>
        </p:spPr>
        <p:txBody>
          <a:bodyPr wrap="square" lIns="0" tIns="0" rIns="0" bIns="0" rtlCol="0" anchor="ctr"/>
          <a:lstStyle/>
          <a:p>
            <a:pPr algn="ctr"/>
            <a:r>
              <a:rPr lang="en-US" sz="9600" b="1">
                <a:solidFill>
                  <a:srgbClr val="FFFFFF"/>
                </a:solidFill>
              </a:rPr>
              <a:t> ▶</a:t>
            </a:r>
            <a:endParaRPr lang="en-US" sz="9600"/>
          </a:p>
        </p:txBody>
      </p:sp>
      <p:sp>
        <p:nvSpPr>
          <p:cNvPr id="24" name="Text 22"/>
          <p:cNvSpPr/>
          <p:nvPr/>
        </p:nvSpPr>
        <p:spPr>
          <a:xfrm>
            <a:off x="7680960" y="5715000"/>
            <a:ext cx="3840480" cy="365760"/>
          </a:xfrm>
          <a:prstGeom prst="rect">
            <a:avLst/>
          </a:prstGeom>
          <a:noFill/>
          <a:ln/>
        </p:spPr>
        <p:txBody>
          <a:bodyPr wrap="square" lIns="0" tIns="0" rIns="0" bIns="0" rtlCol="0" anchor="ctr"/>
          <a:lstStyle/>
          <a:p>
            <a:pPr marL="0" indent="0" algn="ctr">
              <a:buNone/>
            </a:pPr>
            <a:r>
              <a:rPr lang="en-US" sz="1000" b="1" kern="0" spc="400">
                <a:solidFill>
                  <a:srgbClr val="0056D2"/>
                </a:solidFill>
              </a:rPr>
              <a:t>SEMANTIC SEARCH FOR VIDEO</a:t>
            </a:r>
            <a:endParaRPr lang="en-US" sz="1000"/>
          </a:p>
        </p:txBody>
      </p:sp>
      <p:sp>
        <p:nvSpPr>
          <p:cNvPr id="25" name="Shape 23"/>
          <p:cNvSpPr/>
          <p:nvPr/>
        </p:nvSpPr>
        <p:spPr>
          <a:xfrm>
            <a:off x="0" y="6784848"/>
            <a:ext cx="12161520" cy="73152"/>
          </a:xfrm>
          <a:prstGeom prst="rect">
            <a:avLst/>
          </a:prstGeom>
          <a:solidFill>
            <a:srgbClr val="0056D2"/>
          </a:solidFill>
          <a:ln w="12700">
            <a:solidFill>
              <a:srgbClr val="0056D2"/>
            </a:solidFill>
            <a:prstDash val="solid"/>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54864"/>
          </a:xfrm>
          <a:prstGeom prst="rect">
            <a:avLst/>
          </a:prstGeom>
          <a:solidFill>
            <a:srgbClr val="29B5E8"/>
          </a:solidFill>
          <a:ln w="12700">
            <a:solidFill>
              <a:srgbClr val="29B5E8"/>
            </a:solidFill>
            <a:prstDash val="solid"/>
          </a:ln>
        </p:spPr>
      </p:sp>
      <p:sp>
        <p:nvSpPr>
          <p:cNvPr id="5" name="Text 3"/>
          <p:cNvSpPr/>
          <p:nvPr/>
        </p:nvSpPr>
        <p:spPr>
          <a:xfrm>
            <a:off x="886968" y="228600"/>
            <a:ext cx="2743200" cy="310896"/>
          </a:xfrm>
          <a:prstGeom prst="rect">
            <a:avLst/>
          </a:prstGeom>
          <a:noFill/>
          <a:ln/>
        </p:spPr>
        <p:txBody>
          <a:bodyPr wrap="square" lIns="0" tIns="0" rIns="0" bIns="0" rtlCol="0" anchor="ctr"/>
          <a:lstStyle/>
          <a:p>
            <a:pPr marL="0" indent="0">
              <a:buNone/>
            </a:pPr>
            <a:endParaRPr lang="en-US" sz="1100" b="1" kern="0" spc="300">
              <a:solidFill>
                <a:srgbClr val="0A2540"/>
              </a:solidFill>
              <a:ea typeface="Calibri"/>
              <a:cs typeface="Calibri"/>
            </a:endParaRPr>
          </a:p>
        </p:txBody>
      </p:sp>
      <p:sp>
        <p:nvSpPr>
          <p:cNvPr id="6" name="Shape 4"/>
          <p:cNvSpPr/>
          <p:nvPr/>
        </p:nvSpPr>
        <p:spPr>
          <a:xfrm>
            <a:off x="502920" y="6400800"/>
            <a:ext cx="11155680" cy="0"/>
          </a:xfrm>
          <a:prstGeom prst="line">
            <a:avLst/>
          </a:prstGeom>
          <a:noFill/>
          <a:ln w="12700">
            <a:solidFill>
              <a:srgbClr val="D9E2EC"/>
            </a:solidFill>
            <a:prstDash val="solid"/>
          </a:ln>
        </p:spPr>
        <p:txBody>
          <a:bodyPr/>
          <a:lstStyle/>
          <a:p>
            <a:endParaRPr lang="en-US"/>
          </a:p>
        </p:txBody>
      </p:sp>
      <p:sp>
        <p:nvSpPr>
          <p:cNvPr id="9" name="Text 7"/>
          <p:cNvSpPr/>
          <p:nvPr/>
        </p:nvSpPr>
        <p:spPr>
          <a:xfrm>
            <a:off x="352525" y="537812"/>
            <a:ext cx="3274595" cy="424713"/>
          </a:xfrm>
          <a:prstGeom prst="rect">
            <a:avLst/>
          </a:prstGeom>
          <a:noFill/>
          <a:ln/>
        </p:spPr>
        <p:txBody>
          <a:bodyPr wrap="square" lIns="0" tIns="0" rIns="0" bIns="0" rtlCol="0" anchor="ctr"/>
          <a:lstStyle/>
          <a:p>
            <a:pPr marL="0" indent="0">
              <a:buNone/>
            </a:pPr>
            <a:r>
              <a:rPr lang="en-US" sz="1600" b="1" kern="0" spc="400">
                <a:solidFill>
                  <a:srgbClr val="29B5E8"/>
                </a:solidFill>
              </a:rPr>
              <a:t>SESSION ROADMAP</a:t>
            </a:r>
            <a:endParaRPr lang="en-US" sz="1600">
              <a:ea typeface="Calibri"/>
              <a:cs typeface="Calibri"/>
            </a:endParaRPr>
          </a:p>
        </p:txBody>
      </p:sp>
      <p:sp>
        <p:nvSpPr>
          <p:cNvPr id="10" name="Text 8"/>
          <p:cNvSpPr/>
          <p:nvPr/>
        </p:nvSpPr>
        <p:spPr>
          <a:xfrm>
            <a:off x="502920" y="1143000"/>
            <a:ext cx="11155680" cy="777240"/>
          </a:xfrm>
          <a:prstGeom prst="rect">
            <a:avLst/>
          </a:prstGeom>
          <a:noFill/>
          <a:ln/>
        </p:spPr>
        <p:txBody>
          <a:bodyPr wrap="square" lIns="0" tIns="0" rIns="0" bIns="0" rtlCol="0" anchor="ctr"/>
          <a:lstStyle/>
          <a:p>
            <a:pPr marL="0" indent="0">
              <a:buNone/>
            </a:pPr>
            <a:r>
              <a:rPr lang="en-US" sz="3200" b="1">
                <a:solidFill>
                  <a:srgbClr val="0A2540"/>
                </a:solidFill>
                <a:latin typeface="Calibri" pitchFamily="34" charset="0"/>
                <a:ea typeface="Calibri" pitchFamily="34" charset="-122"/>
                <a:cs typeface="Calibri" pitchFamily="34" charset="-120"/>
              </a:rPr>
              <a:t>Today's Agenda</a:t>
            </a:r>
            <a:endParaRPr lang="en-US" sz="3200"/>
          </a:p>
        </p:txBody>
      </p:sp>
      <p:sp>
        <p:nvSpPr>
          <p:cNvPr id="11" name="Text 9"/>
          <p:cNvSpPr/>
          <p:nvPr/>
        </p:nvSpPr>
        <p:spPr>
          <a:xfrm>
            <a:off x="502920" y="1874520"/>
            <a:ext cx="11155680" cy="457200"/>
          </a:xfrm>
          <a:prstGeom prst="rect">
            <a:avLst/>
          </a:prstGeom>
          <a:noFill/>
          <a:ln/>
        </p:spPr>
        <p:txBody>
          <a:bodyPr wrap="square" lIns="0" tIns="0" rIns="0" bIns="0" rtlCol="0" anchor="ctr"/>
          <a:lstStyle/>
          <a:p>
            <a:r>
              <a:rPr lang="en-US" sz="1400" i="1">
                <a:solidFill>
                  <a:srgbClr val="5C6F84"/>
                </a:solidFill>
                <a:latin typeface="Calibri"/>
                <a:ea typeface="Calibri"/>
                <a:cs typeface="Calibri"/>
              </a:rPr>
              <a:t>Eight stops from the core question to strategic outlook</a:t>
            </a:r>
            <a:endParaRPr lang="en-US" sz="1400">
              <a:latin typeface="Calibri"/>
              <a:ea typeface="Calibri"/>
              <a:cs typeface="Calibri"/>
            </a:endParaRPr>
          </a:p>
        </p:txBody>
      </p:sp>
      <p:sp>
        <p:nvSpPr>
          <p:cNvPr id="12" name="Shape 10"/>
          <p:cNvSpPr/>
          <p:nvPr/>
        </p:nvSpPr>
        <p:spPr>
          <a:xfrm>
            <a:off x="502920" y="2377440"/>
            <a:ext cx="914400" cy="36576"/>
          </a:xfrm>
          <a:prstGeom prst="rect">
            <a:avLst/>
          </a:prstGeom>
          <a:solidFill>
            <a:srgbClr val="29B5E8"/>
          </a:solidFill>
          <a:ln w="12700">
            <a:solidFill>
              <a:srgbClr val="29B5E8"/>
            </a:solidFill>
            <a:prstDash val="solid"/>
          </a:ln>
        </p:spPr>
      </p:sp>
      <p:sp>
        <p:nvSpPr>
          <p:cNvPr id="13" name="Shape 11"/>
          <p:cNvSpPr/>
          <p:nvPr/>
        </p:nvSpPr>
        <p:spPr>
          <a:xfrm>
            <a:off x="502920" y="2606040"/>
            <a:ext cx="5440680" cy="749808"/>
          </a:xfrm>
          <a:prstGeom prst="rect">
            <a:avLst/>
          </a:prstGeom>
          <a:solidFill>
            <a:srgbClr val="FAFCFD"/>
          </a:solidFill>
          <a:ln w="12700">
            <a:solidFill>
              <a:srgbClr val="D9E2EC"/>
            </a:solidFill>
            <a:prstDash val="solid"/>
          </a:ln>
        </p:spPr>
      </p:sp>
      <p:sp>
        <p:nvSpPr>
          <p:cNvPr id="14" name="Shape 12"/>
          <p:cNvSpPr/>
          <p:nvPr/>
        </p:nvSpPr>
        <p:spPr>
          <a:xfrm>
            <a:off x="777240" y="2706624"/>
            <a:ext cx="548640" cy="548640"/>
          </a:xfrm>
          <a:prstGeom prst="ellipse">
            <a:avLst/>
          </a:prstGeom>
          <a:solidFill>
            <a:srgbClr val="29B5E8"/>
          </a:solidFill>
          <a:ln w="12700">
            <a:solidFill>
              <a:srgbClr val="29B5E8"/>
            </a:solidFill>
            <a:prstDash val="solid"/>
          </a:ln>
        </p:spPr>
        <p:txBody>
          <a:bodyPr/>
          <a:lstStyle/>
          <a:p>
            <a:endParaRPr lang="en-US"/>
          </a:p>
        </p:txBody>
      </p:sp>
      <p:sp>
        <p:nvSpPr>
          <p:cNvPr id="15" name="Text 13"/>
          <p:cNvSpPr/>
          <p:nvPr/>
        </p:nvSpPr>
        <p:spPr>
          <a:xfrm>
            <a:off x="777240" y="2706624"/>
            <a:ext cx="548640" cy="548640"/>
          </a:xfrm>
          <a:prstGeom prst="rect">
            <a:avLst/>
          </a:prstGeom>
          <a:noFill/>
          <a:ln/>
        </p:spPr>
        <p:txBody>
          <a:bodyPr wrap="square" lIns="0" tIns="0" rIns="0" bIns="0" rtlCol="0" anchor="ctr"/>
          <a:lstStyle/>
          <a:p>
            <a:pPr marL="0" indent="0" algn="ctr">
              <a:buNone/>
            </a:pPr>
            <a:r>
              <a:rPr lang="en-US" sz="1600" b="1">
                <a:solidFill>
                  <a:srgbClr val="FFFFFF"/>
                </a:solidFill>
              </a:rPr>
              <a:t>01</a:t>
            </a:r>
            <a:endParaRPr lang="en-US" sz="1600"/>
          </a:p>
        </p:txBody>
      </p:sp>
      <p:sp>
        <p:nvSpPr>
          <p:cNvPr id="16" name="Text 14"/>
          <p:cNvSpPr/>
          <p:nvPr/>
        </p:nvSpPr>
        <p:spPr>
          <a:xfrm>
            <a:off x="1508760" y="2606040"/>
            <a:ext cx="4251960" cy="749808"/>
          </a:xfrm>
          <a:prstGeom prst="rect">
            <a:avLst/>
          </a:prstGeom>
          <a:noFill/>
          <a:ln/>
        </p:spPr>
        <p:txBody>
          <a:bodyPr wrap="square" lIns="0" tIns="0" rIns="0" bIns="0" rtlCol="0" anchor="ctr"/>
          <a:lstStyle/>
          <a:p>
            <a:r>
              <a:rPr lang="en-US" b="1">
                <a:solidFill>
                  <a:srgbClr val="0A2540"/>
                </a:solidFill>
                <a:ea typeface="Calibri"/>
                <a:cs typeface="Calibri"/>
              </a:rPr>
              <a:t>Problem Statement</a:t>
            </a:r>
            <a:endParaRPr lang="en-US" sz="1800" b="1" dirty="0">
              <a:solidFill>
                <a:srgbClr val="0A2540"/>
              </a:solidFill>
              <a:ea typeface="Calibri"/>
              <a:cs typeface="Calibri"/>
            </a:endParaRPr>
          </a:p>
        </p:txBody>
      </p:sp>
      <p:sp>
        <p:nvSpPr>
          <p:cNvPr id="17" name="Shape 15"/>
          <p:cNvSpPr/>
          <p:nvPr/>
        </p:nvSpPr>
        <p:spPr>
          <a:xfrm>
            <a:off x="502920" y="2606040"/>
            <a:ext cx="73152" cy="749808"/>
          </a:xfrm>
          <a:prstGeom prst="rect">
            <a:avLst/>
          </a:prstGeom>
          <a:solidFill>
            <a:srgbClr val="29B5E8"/>
          </a:solidFill>
          <a:ln w="12700">
            <a:solidFill>
              <a:srgbClr val="29B5E8"/>
            </a:solidFill>
            <a:prstDash val="solid"/>
          </a:ln>
        </p:spPr>
      </p:sp>
      <p:sp>
        <p:nvSpPr>
          <p:cNvPr id="18" name="Shape 16"/>
          <p:cNvSpPr/>
          <p:nvPr/>
        </p:nvSpPr>
        <p:spPr>
          <a:xfrm>
            <a:off x="6217920" y="2606040"/>
            <a:ext cx="5440680" cy="749808"/>
          </a:xfrm>
          <a:prstGeom prst="rect">
            <a:avLst/>
          </a:prstGeom>
          <a:solidFill>
            <a:srgbClr val="F4F7F9"/>
          </a:solidFill>
          <a:ln w="12700">
            <a:solidFill>
              <a:srgbClr val="D9E2EC"/>
            </a:solidFill>
            <a:prstDash val="solid"/>
          </a:ln>
        </p:spPr>
        <p:txBody>
          <a:bodyPr/>
          <a:lstStyle/>
          <a:p>
            <a:endParaRPr lang="en-US"/>
          </a:p>
        </p:txBody>
      </p:sp>
      <p:sp>
        <p:nvSpPr>
          <p:cNvPr id="19" name="Shape 17"/>
          <p:cNvSpPr/>
          <p:nvPr/>
        </p:nvSpPr>
        <p:spPr>
          <a:xfrm>
            <a:off x="6492240" y="2706624"/>
            <a:ext cx="548640" cy="548640"/>
          </a:xfrm>
          <a:prstGeom prst="ellipse">
            <a:avLst/>
          </a:prstGeom>
          <a:solidFill>
            <a:srgbClr val="29B5E8"/>
          </a:solidFill>
          <a:ln w="12700">
            <a:solidFill>
              <a:srgbClr val="29B5E8"/>
            </a:solidFill>
            <a:prstDash val="solid"/>
          </a:ln>
        </p:spPr>
        <p:txBody>
          <a:bodyPr/>
          <a:lstStyle/>
          <a:p>
            <a:endParaRPr lang="en-US"/>
          </a:p>
        </p:txBody>
      </p:sp>
      <p:sp>
        <p:nvSpPr>
          <p:cNvPr id="20" name="Text 18"/>
          <p:cNvSpPr/>
          <p:nvPr/>
        </p:nvSpPr>
        <p:spPr>
          <a:xfrm>
            <a:off x="6492240" y="2706624"/>
            <a:ext cx="548640" cy="548640"/>
          </a:xfrm>
          <a:prstGeom prst="rect">
            <a:avLst/>
          </a:prstGeom>
          <a:noFill/>
          <a:ln/>
        </p:spPr>
        <p:txBody>
          <a:bodyPr wrap="square" lIns="0" tIns="0" rIns="0" bIns="0" rtlCol="0" anchor="ctr"/>
          <a:lstStyle/>
          <a:p>
            <a:pPr marL="0" indent="0" algn="ctr">
              <a:buNone/>
            </a:pPr>
            <a:r>
              <a:rPr lang="en-US" sz="1600" b="1">
                <a:solidFill>
                  <a:srgbClr val="FFFFFF"/>
                </a:solidFill>
              </a:rPr>
              <a:t>02</a:t>
            </a:r>
            <a:endParaRPr lang="en-US" sz="1600"/>
          </a:p>
        </p:txBody>
      </p:sp>
      <p:sp>
        <p:nvSpPr>
          <p:cNvPr id="21" name="Text 19"/>
          <p:cNvSpPr/>
          <p:nvPr/>
        </p:nvSpPr>
        <p:spPr>
          <a:xfrm>
            <a:off x="7223760" y="2606040"/>
            <a:ext cx="4251960" cy="749808"/>
          </a:xfrm>
          <a:prstGeom prst="rect">
            <a:avLst/>
          </a:prstGeom>
          <a:noFill/>
          <a:ln/>
        </p:spPr>
        <p:txBody>
          <a:bodyPr wrap="square" lIns="0" tIns="0" rIns="0" bIns="0" rtlCol="0" anchor="ctr"/>
          <a:lstStyle/>
          <a:p>
            <a:r>
              <a:rPr lang="en-US" b="1">
                <a:solidFill>
                  <a:srgbClr val="0A2540"/>
                </a:solidFill>
              </a:rPr>
              <a:t>Introduction To The Tool</a:t>
            </a:r>
            <a:endParaRPr lang="en-US" sz="1800">
              <a:solidFill>
                <a:srgbClr val="000000"/>
              </a:solidFill>
              <a:ea typeface="Calibri"/>
              <a:cs typeface="Calibri"/>
            </a:endParaRPr>
          </a:p>
        </p:txBody>
      </p:sp>
      <p:sp>
        <p:nvSpPr>
          <p:cNvPr id="22" name="Shape 20"/>
          <p:cNvSpPr/>
          <p:nvPr/>
        </p:nvSpPr>
        <p:spPr>
          <a:xfrm>
            <a:off x="6217920" y="2606040"/>
            <a:ext cx="73152" cy="749808"/>
          </a:xfrm>
          <a:prstGeom prst="rect">
            <a:avLst/>
          </a:prstGeom>
          <a:solidFill>
            <a:srgbClr val="29B5E8"/>
          </a:solidFill>
          <a:ln w="12700">
            <a:solidFill>
              <a:srgbClr val="29B5E8"/>
            </a:solidFill>
            <a:prstDash val="solid"/>
          </a:ln>
        </p:spPr>
        <p:txBody>
          <a:bodyPr/>
          <a:lstStyle/>
          <a:p>
            <a:endParaRPr lang="en-US"/>
          </a:p>
        </p:txBody>
      </p:sp>
      <p:sp>
        <p:nvSpPr>
          <p:cNvPr id="23" name="Shape 21"/>
          <p:cNvSpPr/>
          <p:nvPr/>
        </p:nvSpPr>
        <p:spPr>
          <a:xfrm>
            <a:off x="502920" y="3465576"/>
            <a:ext cx="5440680" cy="749808"/>
          </a:xfrm>
          <a:prstGeom prst="rect">
            <a:avLst/>
          </a:prstGeom>
          <a:solidFill>
            <a:srgbClr val="FAFCFD"/>
          </a:solidFill>
          <a:ln w="12700">
            <a:solidFill>
              <a:srgbClr val="D9E2EC"/>
            </a:solidFill>
            <a:prstDash val="solid"/>
          </a:ln>
        </p:spPr>
        <p:txBody>
          <a:bodyPr/>
          <a:lstStyle/>
          <a:p>
            <a:endParaRPr lang="en-US"/>
          </a:p>
        </p:txBody>
      </p:sp>
      <p:sp>
        <p:nvSpPr>
          <p:cNvPr id="24" name="Shape 22"/>
          <p:cNvSpPr/>
          <p:nvPr/>
        </p:nvSpPr>
        <p:spPr>
          <a:xfrm>
            <a:off x="777240" y="3566160"/>
            <a:ext cx="548640" cy="548640"/>
          </a:xfrm>
          <a:prstGeom prst="ellipse">
            <a:avLst/>
          </a:prstGeom>
          <a:solidFill>
            <a:srgbClr val="29B5E8"/>
          </a:solidFill>
          <a:ln w="12700">
            <a:solidFill>
              <a:srgbClr val="29B5E8"/>
            </a:solidFill>
            <a:prstDash val="solid"/>
          </a:ln>
        </p:spPr>
        <p:txBody>
          <a:bodyPr/>
          <a:lstStyle/>
          <a:p>
            <a:endParaRPr lang="en-US"/>
          </a:p>
        </p:txBody>
      </p:sp>
      <p:sp>
        <p:nvSpPr>
          <p:cNvPr id="25" name="Text 23"/>
          <p:cNvSpPr/>
          <p:nvPr/>
        </p:nvSpPr>
        <p:spPr>
          <a:xfrm>
            <a:off x="777240" y="3566160"/>
            <a:ext cx="548640" cy="548640"/>
          </a:xfrm>
          <a:prstGeom prst="rect">
            <a:avLst/>
          </a:prstGeom>
          <a:noFill/>
          <a:ln/>
        </p:spPr>
        <p:txBody>
          <a:bodyPr wrap="square" lIns="0" tIns="0" rIns="0" bIns="0" rtlCol="0" anchor="ctr"/>
          <a:lstStyle/>
          <a:p>
            <a:pPr marL="0" indent="0" algn="ctr">
              <a:buNone/>
            </a:pPr>
            <a:r>
              <a:rPr lang="en-US" sz="1600" b="1">
                <a:solidFill>
                  <a:srgbClr val="FFFFFF"/>
                </a:solidFill>
              </a:rPr>
              <a:t>03</a:t>
            </a:r>
            <a:endParaRPr lang="en-US" sz="1600"/>
          </a:p>
        </p:txBody>
      </p:sp>
      <p:sp>
        <p:nvSpPr>
          <p:cNvPr id="26" name="Text 24"/>
          <p:cNvSpPr/>
          <p:nvPr/>
        </p:nvSpPr>
        <p:spPr>
          <a:xfrm>
            <a:off x="1508760" y="3465576"/>
            <a:ext cx="4251960" cy="749808"/>
          </a:xfrm>
          <a:prstGeom prst="rect">
            <a:avLst/>
          </a:prstGeom>
          <a:noFill/>
          <a:ln/>
        </p:spPr>
        <p:txBody>
          <a:bodyPr wrap="square" lIns="0" tIns="0" rIns="0" bIns="0" rtlCol="0" anchor="ctr"/>
          <a:lstStyle/>
          <a:p>
            <a:endParaRPr lang="en-US" b="1" dirty="0">
              <a:solidFill>
                <a:srgbClr val="0A2540"/>
              </a:solidFill>
            </a:endParaRPr>
          </a:p>
          <a:p>
            <a:r>
              <a:rPr lang="en-US" b="1">
                <a:solidFill>
                  <a:srgbClr val="0A2540"/>
                </a:solidFill>
              </a:rPr>
              <a:t>Tech Stack</a:t>
            </a:r>
            <a:endParaRPr lang="en-US">
              <a:solidFill>
                <a:srgbClr val="000000"/>
              </a:solidFill>
              <a:ea typeface="Calibri"/>
              <a:cs typeface="Calibri"/>
            </a:endParaRPr>
          </a:p>
          <a:p>
            <a:endParaRPr lang="en-US" sz="1800" b="1" dirty="0">
              <a:solidFill>
                <a:srgbClr val="0A2540"/>
              </a:solidFill>
              <a:ea typeface="Calibri"/>
              <a:cs typeface="Calibri"/>
            </a:endParaRPr>
          </a:p>
        </p:txBody>
      </p:sp>
      <p:sp>
        <p:nvSpPr>
          <p:cNvPr id="27" name="Shape 25"/>
          <p:cNvSpPr/>
          <p:nvPr/>
        </p:nvSpPr>
        <p:spPr>
          <a:xfrm>
            <a:off x="502920" y="3465576"/>
            <a:ext cx="73152" cy="749808"/>
          </a:xfrm>
          <a:prstGeom prst="rect">
            <a:avLst/>
          </a:prstGeom>
          <a:solidFill>
            <a:srgbClr val="29B5E8"/>
          </a:solidFill>
          <a:ln w="12700">
            <a:solidFill>
              <a:srgbClr val="29B5E8"/>
            </a:solidFill>
            <a:prstDash val="solid"/>
          </a:ln>
        </p:spPr>
        <p:txBody>
          <a:bodyPr/>
          <a:lstStyle/>
          <a:p>
            <a:endParaRPr lang="en-US"/>
          </a:p>
        </p:txBody>
      </p:sp>
      <p:sp>
        <p:nvSpPr>
          <p:cNvPr id="28" name="Shape 26"/>
          <p:cNvSpPr/>
          <p:nvPr/>
        </p:nvSpPr>
        <p:spPr>
          <a:xfrm>
            <a:off x="6217920" y="3465576"/>
            <a:ext cx="5440680" cy="749808"/>
          </a:xfrm>
          <a:prstGeom prst="rect">
            <a:avLst/>
          </a:prstGeom>
          <a:solidFill>
            <a:srgbClr val="F4F7F9"/>
          </a:solidFill>
          <a:ln w="12700">
            <a:solidFill>
              <a:srgbClr val="D9E2EC"/>
            </a:solidFill>
            <a:prstDash val="solid"/>
          </a:ln>
        </p:spPr>
        <p:txBody>
          <a:bodyPr/>
          <a:lstStyle/>
          <a:p>
            <a:endParaRPr lang="en-US"/>
          </a:p>
        </p:txBody>
      </p:sp>
      <p:sp>
        <p:nvSpPr>
          <p:cNvPr id="29" name="Shape 27"/>
          <p:cNvSpPr/>
          <p:nvPr/>
        </p:nvSpPr>
        <p:spPr>
          <a:xfrm>
            <a:off x="6492240" y="3566160"/>
            <a:ext cx="548640" cy="548640"/>
          </a:xfrm>
          <a:prstGeom prst="ellipse">
            <a:avLst/>
          </a:prstGeom>
          <a:solidFill>
            <a:srgbClr val="29B5E8"/>
          </a:solidFill>
          <a:ln w="12700">
            <a:solidFill>
              <a:srgbClr val="29B5E8"/>
            </a:solidFill>
            <a:prstDash val="solid"/>
          </a:ln>
        </p:spPr>
      </p:sp>
      <p:sp>
        <p:nvSpPr>
          <p:cNvPr id="30" name="Text 28"/>
          <p:cNvSpPr/>
          <p:nvPr/>
        </p:nvSpPr>
        <p:spPr>
          <a:xfrm>
            <a:off x="6492240" y="3566160"/>
            <a:ext cx="548640" cy="548640"/>
          </a:xfrm>
          <a:prstGeom prst="rect">
            <a:avLst/>
          </a:prstGeom>
          <a:noFill/>
          <a:ln/>
        </p:spPr>
        <p:txBody>
          <a:bodyPr wrap="square" lIns="0" tIns="0" rIns="0" bIns="0" rtlCol="0" anchor="ctr"/>
          <a:lstStyle/>
          <a:p>
            <a:pPr marL="0" indent="0" algn="ctr">
              <a:buNone/>
            </a:pPr>
            <a:r>
              <a:rPr lang="en-US" sz="1600" b="1">
                <a:solidFill>
                  <a:srgbClr val="FFFFFF"/>
                </a:solidFill>
              </a:rPr>
              <a:t>04</a:t>
            </a:r>
            <a:endParaRPr lang="en-US" sz="1600"/>
          </a:p>
        </p:txBody>
      </p:sp>
      <p:sp>
        <p:nvSpPr>
          <p:cNvPr id="31" name="Text 29"/>
          <p:cNvSpPr/>
          <p:nvPr/>
        </p:nvSpPr>
        <p:spPr>
          <a:xfrm>
            <a:off x="7223760" y="3465576"/>
            <a:ext cx="4251960" cy="749808"/>
          </a:xfrm>
          <a:prstGeom prst="rect">
            <a:avLst/>
          </a:prstGeom>
          <a:noFill/>
          <a:ln/>
        </p:spPr>
        <p:txBody>
          <a:bodyPr wrap="square" lIns="0" tIns="0" rIns="0" bIns="0" rtlCol="0" anchor="ctr"/>
          <a:lstStyle/>
          <a:p>
            <a:endParaRPr lang="en-US" dirty="0">
              <a:solidFill>
                <a:srgbClr val="000000"/>
              </a:solidFill>
              <a:ea typeface="Calibri"/>
              <a:cs typeface="Calibri"/>
            </a:endParaRPr>
          </a:p>
          <a:p>
            <a:r>
              <a:rPr lang="en-US" b="1">
                <a:solidFill>
                  <a:srgbClr val="0A2540"/>
                </a:solidFill>
                <a:ea typeface="Calibri"/>
                <a:cs typeface="Calibri"/>
              </a:rPr>
              <a:t>The Ingestion Phase</a:t>
            </a:r>
          </a:p>
          <a:p>
            <a:endParaRPr lang="en-US" sz="1800" b="1" dirty="0">
              <a:solidFill>
                <a:srgbClr val="0A2540"/>
              </a:solidFill>
              <a:ea typeface="Calibri"/>
              <a:cs typeface="Calibri"/>
            </a:endParaRPr>
          </a:p>
        </p:txBody>
      </p:sp>
      <p:sp>
        <p:nvSpPr>
          <p:cNvPr id="32" name="Shape 30"/>
          <p:cNvSpPr/>
          <p:nvPr/>
        </p:nvSpPr>
        <p:spPr>
          <a:xfrm>
            <a:off x="6217920" y="3465576"/>
            <a:ext cx="73152" cy="749808"/>
          </a:xfrm>
          <a:prstGeom prst="rect">
            <a:avLst/>
          </a:prstGeom>
          <a:solidFill>
            <a:srgbClr val="29B5E8"/>
          </a:solidFill>
          <a:ln w="12700">
            <a:solidFill>
              <a:srgbClr val="29B5E8"/>
            </a:solidFill>
            <a:prstDash val="solid"/>
          </a:ln>
        </p:spPr>
        <p:txBody>
          <a:bodyPr/>
          <a:lstStyle/>
          <a:p>
            <a:endParaRPr lang="en-US"/>
          </a:p>
        </p:txBody>
      </p:sp>
      <p:sp>
        <p:nvSpPr>
          <p:cNvPr id="33" name="Shape 31"/>
          <p:cNvSpPr/>
          <p:nvPr/>
        </p:nvSpPr>
        <p:spPr>
          <a:xfrm>
            <a:off x="502920" y="4325112"/>
            <a:ext cx="5440680" cy="749808"/>
          </a:xfrm>
          <a:prstGeom prst="rect">
            <a:avLst/>
          </a:prstGeom>
          <a:solidFill>
            <a:srgbClr val="FAFCFD"/>
          </a:solidFill>
          <a:ln w="12700">
            <a:solidFill>
              <a:srgbClr val="D9E2EC"/>
            </a:solidFill>
            <a:prstDash val="solid"/>
          </a:ln>
        </p:spPr>
      </p:sp>
      <p:sp>
        <p:nvSpPr>
          <p:cNvPr id="34" name="Shape 32"/>
          <p:cNvSpPr/>
          <p:nvPr/>
        </p:nvSpPr>
        <p:spPr>
          <a:xfrm>
            <a:off x="777240" y="4425696"/>
            <a:ext cx="548640" cy="548640"/>
          </a:xfrm>
          <a:prstGeom prst="ellipse">
            <a:avLst/>
          </a:prstGeom>
          <a:solidFill>
            <a:srgbClr val="29B5E8"/>
          </a:solidFill>
          <a:ln w="12700">
            <a:solidFill>
              <a:srgbClr val="29B5E8"/>
            </a:solidFill>
            <a:prstDash val="solid"/>
          </a:ln>
        </p:spPr>
        <p:txBody>
          <a:bodyPr/>
          <a:lstStyle/>
          <a:p>
            <a:endParaRPr lang="en-US"/>
          </a:p>
        </p:txBody>
      </p:sp>
      <p:sp>
        <p:nvSpPr>
          <p:cNvPr id="35" name="Text 33"/>
          <p:cNvSpPr/>
          <p:nvPr/>
        </p:nvSpPr>
        <p:spPr>
          <a:xfrm>
            <a:off x="777240" y="4425696"/>
            <a:ext cx="548640" cy="548640"/>
          </a:xfrm>
          <a:prstGeom prst="rect">
            <a:avLst/>
          </a:prstGeom>
          <a:noFill/>
          <a:ln/>
        </p:spPr>
        <p:txBody>
          <a:bodyPr wrap="square" lIns="0" tIns="0" rIns="0" bIns="0" rtlCol="0" anchor="ctr"/>
          <a:lstStyle/>
          <a:p>
            <a:pPr marL="0" indent="0" algn="ctr">
              <a:buNone/>
            </a:pPr>
            <a:r>
              <a:rPr lang="en-US" sz="1600" b="1">
                <a:solidFill>
                  <a:srgbClr val="FFFFFF"/>
                </a:solidFill>
              </a:rPr>
              <a:t>05</a:t>
            </a:r>
            <a:endParaRPr lang="en-US" sz="1600"/>
          </a:p>
        </p:txBody>
      </p:sp>
      <p:sp>
        <p:nvSpPr>
          <p:cNvPr id="36" name="Text 34"/>
          <p:cNvSpPr/>
          <p:nvPr/>
        </p:nvSpPr>
        <p:spPr>
          <a:xfrm>
            <a:off x="1508760" y="4325112"/>
            <a:ext cx="4251960" cy="749808"/>
          </a:xfrm>
          <a:prstGeom prst="rect">
            <a:avLst/>
          </a:prstGeom>
          <a:noFill/>
          <a:ln/>
        </p:spPr>
        <p:txBody>
          <a:bodyPr wrap="square" lIns="0" tIns="0" rIns="0" bIns="0" rtlCol="0" anchor="ctr"/>
          <a:lstStyle/>
          <a:p>
            <a:endParaRPr lang="en-US" b="1" dirty="0">
              <a:solidFill>
                <a:srgbClr val="0A2540"/>
              </a:solidFill>
            </a:endParaRPr>
          </a:p>
          <a:p>
            <a:endParaRPr lang="en-US" b="1" dirty="0">
              <a:solidFill>
                <a:srgbClr val="0A2540"/>
              </a:solidFill>
            </a:endParaRPr>
          </a:p>
          <a:p>
            <a:r>
              <a:rPr lang="en-US" b="1">
                <a:solidFill>
                  <a:srgbClr val="0A2540"/>
                </a:solidFill>
              </a:rPr>
              <a:t>Snowflake </a:t>
            </a:r>
            <a:endParaRPr lang="en-US" b="1" dirty="0">
              <a:solidFill>
                <a:srgbClr val="0A2540"/>
              </a:solidFill>
              <a:ea typeface="Calibri"/>
              <a:cs typeface="Calibri"/>
            </a:endParaRPr>
          </a:p>
          <a:p>
            <a:endParaRPr lang="en-US" b="1" dirty="0">
              <a:solidFill>
                <a:srgbClr val="0A2540"/>
              </a:solidFill>
              <a:ea typeface="Calibri"/>
              <a:cs typeface="Calibri"/>
            </a:endParaRPr>
          </a:p>
          <a:p>
            <a:endParaRPr lang="en-US" sz="1800" b="1" dirty="0">
              <a:solidFill>
                <a:srgbClr val="0A2540"/>
              </a:solidFill>
              <a:ea typeface="Calibri"/>
              <a:cs typeface="Calibri"/>
            </a:endParaRPr>
          </a:p>
        </p:txBody>
      </p:sp>
      <p:sp>
        <p:nvSpPr>
          <p:cNvPr id="37" name="Shape 35"/>
          <p:cNvSpPr/>
          <p:nvPr/>
        </p:nvSpPr>
        <p:spPr>
          <a:xfrm>
            <a:off x="502920" y="4325112"/>
            <a:ext cx="73152" cy="749808"/>
          </a:xfrm>
          <a:prstGeom prst="rect">
            <a:avLst/>
          </a:prstGeom>
          <a:solidFill>
            <a:srgbClr val="29B5E8"/>
          </a:solidFill>
          <a:ln w="12700">
            <a:solidFill>
              <a:srgbClr val="29B5E8"/>
            </a:solidFill>
            <a:prstDash val="solid"/>
          </a:ln>
        </p:spPr>
      </p:sp>
      <p:sp>
        <p:nvSpPr>
          <p:cNvPr id="38" name="Shape 36"/>
          <p:cNvSpPr/>
          <p:nvPr/>
        </p:nvSpPr>
        <p:spPr>
          <a:xfrm>
            <a:off x="6217920" y="4325112"/>
            <a:ext cx="5440680" cy="749808"/>
          </a:xfrm>
          <a:prstGeom prst="rect">
            <a:avLst/>
          </a:prstGeom>
          <a:solidFill>
            <a:srgbClr val="F4F7F9"/>
          </a:solidFill>
          <a:ln w="12700">
            <a:solidFill>
              <a:srgbClr val="D9E2EC"/>
            </a:solidFill>
            <a:prstDash val="solid"/>
          </a:ln>
        </p:spPr>
      </p:sp>
      <p:sp>
        <p:nvSpPr>
          <p:cNvPr id="39" name="Shape 37"/>
          <p:cNvSpPr/>
          <p:nvPr/>
        </p:nvSpPr>
        <p:spPr>
          <a:xfrm>
            <a:off x="6492240" y="4425696"/>
            <a:ext cx="548640" cy="548640"/>
          </a:xfrm>
          <a:prstGeom prst="ellipse">
            <a:avLst/>
          </a:prstGeom>
          <a:solidFill>
            <a:srgbClr val="29B5E8"/>
          </a:solidFill>
          <a:ln w="12700">
            <a:solidFill>
              <a:srgbClr val="29B5E8"/>
            </a:solidFill>
            <a:prstDash val="solid"/>
          </a:ln>
        </p:spPr>
      </p:sp>
      <p:sp>
        <p:nvSpPr>
          <p:cNvPr id="40" name="Text 38"/>
          <p:cNvSpPr/>
          <p:nvPr/>
        </p:nvSpPr>
        <p:spPr>
          <a:xfrm>
            <a:off x="6492240" y="4425696"/>
            <a:ext cx="548640" cy="548640"/>
          </a:xfrm>
          <a:prstGeom prst="rect">
            <a:avLst/>
          </a:prstGeom>
          <a:noFill/>
          <a:ln/>
        </p:spPr>
        <p:txBody>
          <a:bodyPr wrap="square" lIns="0" tIns="0" rIns="0" bIns="0" rtlCol="0" anchor="ctr"/>
          <a:lstStyle/>
          <a:p>
            <a:pPr marL="0" indent="0" algn="ctr">
              <a:buNone/>
            </a:pPr>
            <a:r>
              <a:rPr lang="en-US" sz="1600" b="1">
                <a:solidFill>
                  <a:srgbClr val="FFFFFF"/>
                </a:solidFill>
              </a:rPr>
              <a:t>06</a:t>
            </a:r>
            <a:endParaRPr lang="en-US" sz="1600"/>
          </a:p>
        </p:txBody>
      </p:sp>
      <p:sp>
        <p:nvSpPr>
          <p:cNvPr id="41" name="Text 39"/>
          <p:cNvSpPr/>
          <p:nvPr/>
        </p:nvSpPr>
        <p:spPr>
          <a:xfrm>
            <a:off x="7223760" y="4325112"/>
            <a:ext cx="4251960" cy="749808"/>
          </a:xfrm>
          <a:prstGeom prst="rect">
            <a:avLst/>
          </a:prstGeom>
          <a:noFill/>
          <a:ln/>
        </p:spPr>
        <p:txBody>
          <a:bodyPr wrap="square" lIns="0" tIns="0" rIns="0" bIns="0" rtlCol="0" anchor="ctr"/>
          <a:lstStyle/>
          <a:p>
            <a:endParaRPr lang="en-US" b="1" dirty="0">
              <a:solidFill>
                <a:srgbClr val="0A2540"/>
              </a:solidFill>
              <a:ea typeface="Calibri"/>
              <a:cs typeface="Calibri"/>
            </a:endParaRPr>
          </a:p>
          <a:p>
            <a:r>
              <a:rPr lang="en-US" b="1">
                <a:solidFill>
                  <a:srgbClr val="0A2540"/>
                </a:solidFill>
                <a:ea typeface="Calibri"/>
                <a:cs typeface="Calibri"/>
              </a:rPr>
              <a:t>The Query Phase</a:t>
            </a:r>
            <a:endParaRPr lang="en-US" b="1" dirty="0">
              <a:solidFill>
                <a:srgbClr val="0A2540"/>
              </a:solidFill>
              <a:ea typeface="Calibri"/>
              <a:cs typeface="Calibri"/>
            </a:endParaRPr>
          </a:p>
          <a:p>
            <a:endParaRPr lang="en-US" sz="1800" b="1" dirty="0">
              <a:solidFill>
                <a:srgbClr val="0A2540"/>
              </a:solidFill>
              <a:ea typeface="Calibri"/>
              <a:cs typeface="Calibri"/>
            </a:endParaRPr>
          </a:p>
        </p:txBody>
      </p:sp>
      <p:sp>
        <p:nvSpPr>
          <p:cNvPr id="42" name="Shape 40"/>
          <p:cNvSpPr/>
          <p:nvPr/>
        </p:nvSpPr>
        <p:spPr>
          <a:xfrm>
            <a:off x="6217920" y="4325112"/>
            <a:ext cx="73152" cy="749808"/>
          </a:xfrm>
          <a:prstGeom prst="rect">
            <a:avLst/>
          </a:prstGeom>
          <a:solidFill>
            <a:srgbClr val="29B5E8"/>
          </a:solidFill>
          <a:ln w="12700">
            <a:solidFill>
              <a:srgbClr val="29B5E8"/>
            </a:solidFill>
            <a:prstDash val="solid"/>
          </a:ln>
        </p:spPr>
      </p:sp>
      <p:sp>
        <p:nvSpPr>
          <p:cNvPr id="43" name="Shape 41"/>
          <p:cNvSpPr/>
          <p:nvPr/>
        </p:nvSpPr>
        <p:spPr>
          <a:xfrm>
            <a:off x="502920" y="5184648"/>
            <a:ext cx="5440680" cy="749808"/>
          </a:xfrm>
          <a:prstGeom prst="rect">
            <a:avLst/>
          </a:prstGeom>
          <a:solidFill>
            <a:srgbClr val="FAFCFD"/>
          </a:solidFill>
          <a:ln w="12700">
            <a:solidFill>
              <a:srgbClr val="D9E2EC"/>
            </a:solidFill>
            <a:prstDash val="solid"/>
          </a:ln>
        </p:spPr>
      </p:sp>
      <p:sp>
        <p:nvSpPr>
          <p:cNvPr id="44" name="Shape 42"/>
          <p:cNvSpPr/>
          <p:nvPr/>
        </p:nvSpPr>
        <p:spPr>
          <a:xfrm>
            <a:off x="777240" y="5285232"/>
            <a:ext cx="548640" cy="548640"/>
          </a:xfrm>
          <a:prstGeom prst="ellipse">
            <a:avLst/>
          </a:prstGeom>
          <a:solidFill>
            <a:srgbClr val="29B5E8"/>
          </a:solidFill>
          <a:ln w="12700">
            <a:solidFill>
              <a:srgbClr val="29B5E8"/>
            </a:solidFill>
            <a:prstDash val="solid"/>
          </a:ln>
        </p:spPr>
      </p:sp>
      <p:sp>
        <p:nvSpPr>
          <p:cNvPr id="45" name="Text 43"/>
          <p:cNvSpPr/>
          <p:nvPr/>
        </p:nvSpPr>
        <p:spPr>
          <a:xfrm>
            <a:off x="777240" y="5285232"/>
            <a:ext cx="548640" cy="548640"/>
          </a:xfrm>
          <a:prstGeom prst="rect">
            <a:avLst/>
          </a:prstGeom>
          <a:noFill/>
          <a:ln/>
        </p:spPr>
        <p:txBody>
          <a:bodyPr wrap="square" lIns="0" tIns="0" rIns="0" bIns="0" rtlCol="0" anchor="ctr"/>
          <a:lstStyle/>
          <a:p>
            <a:pPr algn="ctr">
              <a:buNone/>
            </a:pPr>
            <a:r>
              <a:rPr lang="en-US" sz="1600" b="1">
                <a:solidFill>
                  <a:srgbClr val="FFFFFF"/>
                </a:solidFill>
              </a:rPr>
              <a:t>07</a:t>
            </a:r>
            <a:endParaRPr lang="en-US" sz="1600">
              <a:solidFill>
                <a:srgbClr val="000000"/>
              </a:solidFill>
              <a:ea typeface="Calibri"/>
              <a:cs typeface="Calibri"/>
            </a:endParaRPr>
          </a:p>
        </p:txBody>
      </p:sp>
      <p:sp>
        <p:nvSpPr>
          <p:cNvPr id="46" name="Text 44"/>
          <p:cNvSpPr/>
          <p:nvPr/>
        </p:nvSpPr>
        <p:spPr>
          <a:xfrm>
            <a:off x="1508760" y="5184648"/>
            <a:ext cx="4251960" cy="749808"/>
          </a:xfrm>
          <a:prstGeom prst="rect">
            <a:avLst/>
          </a:prstGeom>
          <a:noFill/>
          <a:ln/>
        </p:spPr>
        <p:txBody>
          <a:bodyPr wrap="square" lIns="0" tIns="0" rIns="0" bIns="0" rtlCol="0" anchor="ctr"/>
          <a:lstStyle/>
          <a:p>
            <a:endParaRPr lang="en-US" b="1" dirty="0">
              <a:solidFill>
                <a:srgbClr val="0A2540"/>
              </a:solidFill>
              <a:ea typeface="Calibri"/>
              <a:cs typeface="Calibri"/>
            </a:endParaRPr>
          </a:p>
          <a:p>
            <a:r>
              <a:rPr lang="en-US" b="1">
                <a:solidFill>
                  <a:srgbClr val="0A2540"/>
                </a:solidFill>
                <a:ea typeface="Calibri"/>
                <a:cs typeface="Calibri"/>
              </a:rPr>
              <a:t>Applications &amp; Future Scope</a:t>
            </a:r>
            <a:endParaRPr lang="en-US" b="1" dirty="0">
              <a:solidFill>
                <a:srgbClr val="0A2540"/>
              </a:solidFill>
              <a:ea typeface="Calibri"/>
              <a:cs typeface="Calibri"/>
            </a:endParaRPr>
          </a:p>
          <a:p>
            <a:r>
              <a:rPr lang="en-US" b="1">
                <a:solidFill>
                  <a:srgbClr val="0A2540"/>
                </a:solidFill>
                <a:ea typeface="Calibri"/>
                <a:cs typeface="Calibri"/>
              </a:rPr>
              <a:t> </a:t>
            </a:r>
            <a:endParaRPr lang="en-US" sz="1800" b="1">
              <a:solidFill>
                <a:srgbClr val="0A2540"/>
              </a:solidFill>
              <a:ea typeface="Calibri"/>
              <a:cs typeface="Calibri"/>
            </a:endParaRPr>
          </a:p>
        </p:txBody>
      </p:sp>
      <p:sp>
        <p:nvSpPr>
          <p:cNvPr id="47" name="Shape 45"/>
          <p:cNvSpPr/>
          <p:nvPr/>
        </p:nvSpPr>
        <p:spPr>
          <a:xfrm>
            <a:off x="502920" y="5184648"/>
            <a:ext cx="73152" cy="749808"/>
          </a:xfrm>
          <a:prstGeom prst="rect">
            <a:avLst/>
          </a:prstGeom>
          <a:solidFill>
            <a:srgbClr val="29B5E8"/>
          </a:solidFill>
          <a:ln w="12700">
            <a:solidFill>
              <a:srgbClr val="29B5E8"/>
            </a:solidFill>
            <a:prstDash val="solid"/>
          </a:ln>
        </p:spPr>
      </p:sp>
      <p:sp>
        <p:nvSpPr>
          <p:cNvPr id="3" name="Shape 41">
            <a:extLst>
              <a:ext uri="{FF2B5EF4-FFF2-40B4-BE49-F238E27FC236}">
                <a16:creationId xmlns:a16="http://schemas.microsoft.com/office/drawing/2014/main" id="{E2AE5E29-F842-C04B-8446-2365D5DCCBB9}"/>
              </a:ext>
            </a:extLst>
          </p:cNvPr>
          <p:cNvSpPr/>
          <p:nvPr/>
        </p:nvSpPr>
        <p:spPr>
          <a:xfrm>
            <a:off x="6288104" y="5184648"/>
            <a:ext cx="5440680" cy="749808"/>
          </a:xfrm>
          <a:prstGeom prst="rect">
            <a:avLst/>
          </a:prstGeom>
          <a:solidFill>
            <a:srgbClr val="FAFCFD"/>
          </a:solidFill>
          <a:ln w="12700">
            <a:solidFill>
              <a:srgbClr val="D9E2EC"/>
            </a:solidFill>
            <a:prstDash val="solid"/>
          </a:ln>
        </p:spPr>
      </p:sp>
      <p:sp>
        <p:nvSpPr>
          <p:cNvPr id="4" name="Shape 42">
            <a:extLst>
              <a:ext uri="{FF2B5EF4-FFF2-40B4-BE49-F238E27FC236}">
                <a16:creationId xmlns:a16="http://schemas.microsoft.com/office/drawing/2014/main" id="{5B505EB6-E9D0-8BEF-0200-1FE79BE6BD6F}"/>
              </a:ext>
            </a:extLst>
          </p:cNvPr>
          <p:cNvSpPr/>
          <p:nvPr/>
        </p:nvSpPr>
        <p:spPr>
          <a:xfrm>
            <a:off x="6492240" y="5285232"/>
            <a:ext cx="548640" cy="548640"/>
          </a:xfrm>
          <a:prstGeom prst="ellipse">
            <a:avLst/>
          </a:prstGeom>
          <a:solidFill>
            <a:srgbClr val="29B5E8"/>
          </a:solidFill>
          <a:ln w="12700">
            <a:solidFill>
              <a:srgbClr val="29B5E8"/>
            </a:solidFill>
            <a:prstDash val="solid"/>
          </a:ln>
        </p:spPr>
      </p:sp>
      <p:sp>
        <p:nvSpPr>
          <p:cNvPr id="7" name="TextBox 6">
            <a:extLst>
              <a:ext uri="{FF2B5EF4-FFF2-40B4-BE49-F238E27FC236}">
                <a16:creationId xmlns:a16="http://schemas.microsoft.com/office/drawing/2014/main" id="{90C0B574-254B-F514-58A3-B5BD9D00D4DC}"/>
              </a:ext>
            </a:extLst>
          </p:cNvPr>
          <p:cNvSpPr txBox="1"/>
          <p:nvPr/>
        </p:nvSpPr>
        <p:spPr>
          <a:xfrm>
            <a:off x="3048000" y="3429000"/>
            <a:ext cx="6096000"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i="0" u="none" strike="noStrike" baseline="0">
                <a:solidFill>
                  <a:srgbClr val="FFFFFF"/>
                </a:solidFill>
                <a:latin typeface="Calibri"/>
              </a:rPr>
              <a:t>07</a:t>
            </a:r>
            <a:r>
              <a:rPr sz="1600" b="0" i="0">
                <a:solidFill>
                  <a:srgbClr val="000000"/>
                </a:solidFill>
                <a:latin typeface="Calibri"/>
                <a:ea typeface="Calibri"/>
                <a:cs typeface="Calibri"/>
              </a:rPr>
              <a:t>​</a:t>
            </a:r>
            <a:endParaRPr lang="en-US"/>
          </a:p>
          <a:p>
            <a:pPr algn="ctr"/>
            <a:endParaRPr lang="en-US"/>
          </a:p>
        </p:txBody>
      </p:sp>
      <p:sp>
        <p:nvSpPr>
          <p:cNvPr id="8" name="Shape 45">
            <a:extLst>
              <a:ext uri="{FF2B5EF4-FFF2-40B4-BE49-F238E27FC236}">
                <a16:creationId xmlns:a16="http://schemas.microsoft.com/office/drawing/2014/main" id="{99085469-75E5-5CC9-1C3F-167D512EE008}"/>
              </a:ext>
            </a:extLst>
          </p:cNvPr>
          <p:cNvSpPr/>
          <p:nvPr/>
        </p:nvSpPr>
        <p:spPr>
          <a:xfrm>
            <a:off x="6217920" y="5184648"/>
            <a:ext cx="73152" cy="749808"/>
          </a:xfrm>
          <a:prstGeom prst="rect">
            <a:avLst/>
          </a:prstGeom>
          <a:solidFill>
            <a:srgbClr val="29B5E8"/>
          </a:solidFill>
          <a:ln w="12700">
            <a:solidFill>
              <a:srgbClr val="29B5E8"/>
            </a:solidFill>
            <a:prstDash val="solid"/>
          </a:ln>
        </p:spPr>
      </p:sp>
      <p:sp>
        <p:nvSpPr>
          <p:cNvPr id="48" name="TextBox 47">
            <a:extLst>
              <a:ext uri="{FF2B5EF4-FFF2-40B4-BE49-F238E27FC236}">
                <a16:creationId xmlns:a16="http://schemas.microsoft.com/office/drawing/2014/main" id="{736C94F9-2832-0EE0-4CDE-1F3A6C63B5F9}"/>
              </a:ext>
            </a:extLst>
          </p:cNvPr>
          <p:cNvSpPr txBox="1"/>
          <p:nvPr/>
        </p:nvSpPr>
        <p:spPr>
          <a:xfrm>
            <a:off x="7218947" y="5384132"/>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A2540"/>
                </a:solidFill>
                <a:ea typeface="Calibri"/>
                <a:cs typeface="Calibri"/>
              </a:rPr>
              <a:t>Live Demo</a:t>
            </a:r>
            <a:endParaRPr lang="en-US" b="1" dirty="0">
              <a:solidFill>
                <a:srgbClr val="0A2540"/>
              </a:solidFill>
              <a:ea typeface="Calibri"/>
              <a:cs typeface="Calibri"/>
            </a:endParaRPr>
          </a:p>
          <a:p>
            <a:pPr algn="ctr"/>
            <a:endParaRPr lang="en-US"/>
          </a:p>
        </p:txBody>
      </p:sp>
      <p:sp>
        <p:nvSpPr>
          <p:cNvPr id="49" name="TextBox 48">
            <a:extLst>
              <a:ext uri="{FF2B5EF4-FFF2-40B4-BE49-F238E27FC236}">
                <a16:creationId xmlns:a16="http://schemas.microsoft.com/office/drawing/2014/main" id="{29A1CCC1-89EA-3953-34CA-9D3A4C3083B8}"/>
              </a:ext>
            </a:extLst>
          </p:cNvPr>
          <p:cNvSpPr txBox="1"/>
          <p:nvPr/>
        </p:nvSpPr>
        <p:spPr>
          <a:xfrm>
            <a:off x="6559006" y="5393507"/>
            <a:ext cx="41103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b="1">
                <a:solidFill>
                  <a:schemeClr val="bg1"/>
                </a:solidFill>
                <a:ea typeface="Calibri"/>
                <a:cs typeface="Calibri"/>
              </a:rPr>
              <a:t>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54864"/>
          </a:xfrm>
          <a:prstGeom prst="rect">
            <a:avLst/>
          </a:prstGeom>
          <a:solidFill>
            <a:srgbClr val="29B5E8"/>
          </a:solidFill>
          <a:ln w="12700">
            <a:solidFill>
              <a:srgbClr val="29B5E8"/>
            </a:solidFill>
            <a:prstDash val="solid"/>
          </a:ln>
        </p:spPr>
      </p:sp>
      <p:sp>
        <p:nvSpPr>
          <p:cNvPr id="6" name="Shape 4"/>
          <p:cNvSpPr/>
          <p:nvPr/>
        </p:nvSpPr>
        <p:spPr>
          <a:xfrm>
            <a:off x="502920" y="6400800"/>
            <a:ext cx="11155680" cy="0"/>
          </a:xfrm>
          <a:prstGeom prst="line">
            <a:avLst/>
          </a:prstGeom>
          <a:noFill/>
          <a:ln w="12700">
            <a:solidFill>
              <a:srgbClr val="D9E2EC"/>
            </a:solidFill>
            <a:prstDash val="solid"/>
          </a:ln>
        </p:spPr>
        <p:txBody>
          <a:bodyPr/>
          <a:lstStyle/>
          <a:p>
            <a:endParaRPr lang="en-US"/>
          </a:p>
        </p:txBody>
      </p:sp>
      <p:sp>
        <p:nvSpPr>
          <p:cNvPr id="9" name="Text 7"/>
          <p:cNvSpPr/>
          <p:nvPr/>
        </p:nvSpPr>
        <p:spPr>
          <a:xfrm>
            <a:off x="532998" y="206944"/>
            <a:ext cx="7285122" cy="936056"/>
          </a:xfrm>
          <a:prstGeom prst="rect">
            <a:avLst/>
          </a:prstGeom>
          <a:noFill/>
          <a:ln/>
        </p:spPr>
        <p:txBody>
          <a:bodyPr wrap="square" lIns="0" tIns="0" rIns="0" bIns="0" rtlCol="0" anchor="ctr"/>
          <a:lstStyle/>
          <a:p>
            <a:pPr marL="0" indent="0">
              <a:buNone/>
            </a:pPr>
            <a:r>
              <a:rPr lang="en-US" sz="1600" b="1" kern="0" spc="400">
                <a:solidFill>
                  <a:srgbClr val="29B5E8"/>
                </a:solidFill>
              </a:rPr>
              <a:t>01— PROBLEM STATEMENT</a:t>
            </a:r>
            <a:endParaRPr lang="en-US" sz="1600">
              <a:ea typeface="Calibri"/>
              <a:cs typeface="Calibri"/>
            </a:endParaRPr>
          </a:p>
        </p:txBody>
      </p:sp>
      <p:sp>
        <p:nvSpPr>
          <p:cNvPr id="10" name="Text 8"/>
          <p:cNvSpPr/>
          <p:nvPr/>
        </p:nvSpPr>
        <p:spPr>
          <a:xfrm>
            <a:off x="502920" y="1143000"/>
            <a:ext cx="11155680" cy="777240"/>
          </a:xfrm>
          <a:prstGeom prst="rect">
            <a:avLst/>
          </a:prstGeom>
          <a:noFill/>
          <a:ln/>
        </p:spPr>
        <p:txBody>
          <a:bodyPr wrap="square" lIns="0" tIns="0" rIns="0" bIns="0" rtlCol="0" anchor="ctr"/>
          <a:lstStyle/>
          <a:p>
            <a:r>
              <a:rPr lang="en-US" sz="3200" b="1">
                <a:solidFill>
                  <a:srgbClr val="0A2540"/>
                </a:solidFill>
                <a:ea typeface="Calibri"/>
                <a:cs typeface="Calibri"/>
              </a:rPr>
              <a:t>Problem Statement</a:t>
            </a:r>
          </a:p>
        </p:txBody>
      </p:sp>
      <p:sp>
        <p:nvSpPr>
          <p:cNvPr id="11" name="Text 9"/>
          <p:cNvSpPr/>
          <p:nvPr/>
        </p:nvSpPr>
        <p:spPr>
          <a:xfrm>
            <a:off x="532998" y="1924651"/>
            <a:ext cx="11135628" cy="617621"/>
          </a:xfrm>
          <a:prstGeom prst="rect">
            <a:avLst/>
          </a:prstGeom>
          <a:noFill/>
          <a:ln/>
        </p:spPr>
        <p:txBody>
          <a:bodyPr wrap="square" lIns="0" tIns="0" rIns="0" bIns="0" rtlCol="0" anchor="ctr"/>
          <a:lstStyle/>
          <a:p>
            <a:r>
              <a:rPr lang="en-US" b="1" i="1" dirty="0"/>
              <a:t>Develop a tool designed to accept video files as input and return the timestamps of the </a:t>
            </a:r>
            <a:r>
              <a:rPr lang="en-US" b="1" i="1"/>
              <a:t>uploaded video described by the user via natural language text.</a:t>
            </a:r>
            <a:endParaRPr lang="en-US" sz="1400" b="1" i="1">
              <a:solidFill>
                <a:srgbClr val="5C6F84"/>
              </a:solidFill>
              <a:ea typeface="Calibri"/>
              <a:cs typeface="Calibri"/>
            </a:endParaRPr>
          </a:p>
        </p:txBody>
      </p:sp>
      <p:sp>
        <p:nvSpPr>
          <p:cNvPr id="12" name="Shape 10"/>
          <p:cNvSpPr/>
          <p:nvPr/>
        </p:nvSpPr>
        <p:spPr>
          <a:xfrm>
            <a:off x="522972" y="933651"/>
            <a:ext cx="894348" cy="56628"/>
          </a:xfrm>
          <a:prstGeom prst="rect">
            <a:avLst/>
          </a:prstGeom>
          <a:solidFill>
            <a:srgbClr val="29B5E8"/>
          </a:solidFill>
          <a:ln w="12700">
            <a:solidFill>
              <a:srgbClr val="29B5E8"/>
            </a:solidFill>
            <a:prstDash val="solid"/>
          </a:ln>
        </p:spPr>
        <p:txBody>
          <a:bodyPr/>
          <a:lstStyle/>
          <a:p>
            <a:endParaRPr lang="en-US"/>
          </a:p>
        </p:txBody>
      </p:sp>
      <p:sp>
        <p:nvSpPr>
          <p:cNvPr id="14" name="Shape 12"/>
          <p:cNvSpPr/>
          <p:nvPr/>
        </p:nvSpPr>
        <p:spPr>
          <a:xfrm>
            <a:off x="502920" y="2743200"/>
            <a:ext cx="73152" cy="1005840"/>
          </a:xfrm>
          <a:prstGeom prst="rect">
            <a:avLst/>
          </a:prstGeom>
          <a:solidFill>
            <a:srgbClr val="29B5E8"/>
          </a:solidFill>
          <a:ln w="12700">
            <a:solidFill>
              <a:srgbClr val="29B5E8"/>
            </a:solidFill>
            <a:prstDash val="solid"/>
          </a:ln>
        </p:spPr>
      </p:sp>
      <p:sp>
        <p:nvSpPr>
          <p:cNvPr id="15" name="Text 13"/>
          <p:cNvSpPr/>
          <p:nvPr/>
        </p:nvSpPr>
        <p:spPr>
          <a:xfrm>
            <a:off x="777240" y="2852928"/>
            <a:ext cx="6217920" cy="365760"/>
          </a:xfrm>
          <a:prstGeom prst="rect">
            <a:avLst/>
          </a:prstGeom>
          <a:noFill/>
          <a:ln/>
        </p:spPr>
        <p:txBody>
          <a:bodyPr wrap="square" lIns="0" tIns="0" rIns="0" bIns="0" rtlCol="0" anchor="ctr"/>
          <a:lstStyle/>
          <a:p>
            <a:r>
              <a:rPr lang="en-US" sz="1600" b="1">
                <a:solidFill>
                  <a:srgbClr val="0A2540"/>
                </a:solidFill>
                <a:ea typeface="+mn-lt"/>
                <a:cs typeface="+mn-lt"/>
              </a:rPr>
              <a:t>Context disappears </a:t>
            </a:r>
            <a:r>
              <a:rPr lang="en-US" sz="1600" b="1">
                <a:solidFill>
                  <a:srgbClr val="0A2540"/>
                </a:solidFill>
              </a:rPr>
              <a:t>over</a:t>
            </a:r>
            <a:r>
              <a:rPr lang="en-US" sz="1600" b="1">
                <a:solidFill>
                  <a:srgbClr val="0A2540"/>
                </a:solidFill>
                <a:ea typeface="+mn-lt"/>
                <a:cs typeface="+mn-lt"/>
              </a:rPr>
              <a:t> time</a:t>
            </a:r>
            <a:endParaRPr lang="en-US" b="1">
              <a:ea typeface="+mn-lt"/>
              <a:cs typeface="+mn-lt"/>
            </a:endParaRPr>
          </a:p>
        </p:txBody>
      </p:sp>
      <p:sp>
        <p:nvSpPr>
          <p:cNvPr id="16" name="Text 14"/>
          <p:cNvSpPr/>
          <p:nvPr/>
        </p:nvSpPr>
        <p:spPr>
          <a:xfrm>
            <a:off x="777240" y="3218688"/>
            <a:ext cx="6217920" cy="548640"/>
          </a:xfrm>
          <a:prstGeom prst="rect">
            <a:avLst/>
          </a:prstGeom>
          <a:noFill/>
          <a:ln/>
        </p:spPr>
        <p:txBody>
          <a:bodyPr wrap="square" lIns="0" tIns="0" rIns="0" bIns="0" rtlCol="0" anchor="ctr"/>
          <a:lstStyle/>
          <a:p>
            <a:r>
              <a:rPr lang="en-US" sz="1200">
                <a:solidFill>
                  <a:srgbClr val="5C6F84"/>
                </a:solidFill>
                <a:ea typeface="+mn-lt"/>
                <a:cs typeface="+mn-lt"/>
              </a:rPr>
              <a:t>Memory fades quickly, turning what was a clear, aligned discussion into a blur of misremembered details and conflicting follow-ups weeks later.</a:t>
            </a:r>
            <a:endParaRPr lang="en-US"/>
          </a:p>
        </p:txBody>
      </p:sp>
      <p:sp>
        <p:nvSpPr>
          <p:cNvPr id="17" name="Shape 15"/>
          <p:cNvSpPr/>
          <p:nvPr/>
        </p:nvSpPr>
        <p:spPr>
          <a:xfrm>
            <a:off x="502920" y="3886200"/>
            <a:ext cx="6583680" cy="1005840"/>
          </a:xfrm>
          <a:prstGeom prst="rect">
            <a:avLst/>
          </a:prstGeom>
          <a:solidFill>
            <a:srgbClr val="FAFCFD"/>
          </a:solidFill>
          <a:ln w="12700">
            <a:solidFill>
              <a:srgbClr val="D9E2EC"/>
            </a:solidFill>
            <a:prstDash val="solid"/>
          </a:ln>
        </p:spPr>
      </p:sp>
      <p:sp>
        <p:nvSpPr>
          <p:cNvPr id="18" name="Shape 16"/>
          <p:cNvSpPr/>
          <p:nvPr/>
        </p:nvSpPr>
        <p:spPr>
          <a:xfrm>
            <a:off x="502920" y="3886200"/>
            <a:ext cx="73152" cy="1005840"/>
          </a:xfrm>
          <a:prstGeom prst="rect">
            <a:avLst/>
          </a:prstGeom>
          <a:solidFill>
            <a:srgbClr val="29B5E8"/>
          </a:solidFill>
          <a:ln w="12700">
            <a:solidFill>
              <a:srgbClr val="29B5E8"/>
            </a:solidFill>
            <a:prstDash val="solid"/>
          </a:ln>
        </p:spPr>
      </p:sp>
      <p:sp>
        <p:nvSpPr>
          <p:cNvPr id="19" name="Text 17"/>
          <p:cNvSpPr/>
          <p:nvPr/>
        </p:nvSpPr>
        <p:spPr>
          <a:xfrm>
            <a:off x="777240" y="3995928"/>
            <a:ext cx="6217920" cy="365760"/>
          </a:xfrm>
          <a:prstGeom prst="rect">
            <a:avLst/>
          </a:prstGeom>
          <a:noFill/>
          <a:ln/>
        </p:spPr>
        <p:txBody>
          <a:bodyPr wrap="square" lIns="0" tIns="0" rIns="0" bIns="0" rtlCol="0" anchor="ctr"/>
          <a:lstStyle/>
          <a:p>
            <a:pPr marL="0" indent="0">
              <a:buNone/>
            </a:pPr>
            <a:r>
              <a:rPr lang="en-US" sz="1600" b="1">
                <a:solidFill>
                  <a:srgbClr val="0A2540"/>
                </a:solidFill>
              </a:rPr>
              <a:t>Decisions evaporate at meeting close</a:t>
            </a:r>
            <a:endParaRPr lang="en-US" sz="1600"/>
          </a:p>
        </p:txBody>
      </p:sp>
      <p:sp>
        <p:nvSpPr>
          <p:cNvPr id="20" name="Text 18"/>
          <p:cNvSpPr/>
          <p:nvPr/>
        </p:nvSpPr>
        <p:spPr>
          <a:xfrm>
            <a:off x="777240" y="4361688"/>
            <a:ext cx="6217920" cy="548640"/>
          </a:xfrm>
          <a:prstGeom prst="rect">
            <a:avLst/>
          </a:prstGeom>
          <a:noFill/>
          <a:ln/>
        </p:spPr>
        <p:txBody>
          <a:bodyPr wrap="square" lIns="0" tIns="0" rIns="0" bIns="0" rtlCol="0" anchor="ctr"/>
          <a:lstStyle/>
          <a:p>
            <a:pPr marL="0" indent="0">
              <a:buNone/>
            </a:pPr>
            <a:r>
              <a:rPr lang="en-US" sz="1200">
                <a:solidFill>
                  <a:srgbClr val="5C6F84"/>
                </a:solidFill>
              </a:rPr>
              <a:t>Critical institutional decisions and action items disappear the moment a virtual meeting room closes.</a:t>
            </a:r>
            <a:endParaRPr lang="en-US" sz="1200"/>
          </a:p>
        </p:txBody>
      </p:sp>
      <p:sp>
        <p:nvSpPr>
          <p:cNvPr id="21" name="Shape 19"/>
          <p:cNvSpPr/>
          <p:nvPr/>
        </p:nvSpPr>
        <p:spPr>
          <a:xfrm>
            <a:off x="502920" y="5029200"/>
            <a:ext cx="6583680" cy="1005840"/>
          </a:xfrm>
          <a:prstGeom prst="rect">
            <a:avLst/>
          </a:prstGeom>
          <a:solidFill>
            <a:srgbClr val="FAFCFD"/>
          </a:solidFill>
          <a:ln w="12700">
            <a:solidFill>
              <a:srgbClr val="D9E2EC"/>
            </a:solidFill>
            <a:prstDash val="solid"/>
          </a:ln>
        </p:spPr>
      </p:sp>
      <p:sp>
        <p:nvSpPr>
          <p:cNvPr id="22" name="Shape 20"/>
          <p:cNvSpPr/>
          <p:nvPr/>
        </p:nvSpPr>
        <p:spPr>
          <a:xfrm>
            <a:off x="502920" y="5029200"/>
            <a:ext cx="73152" cy="1005840"/>
          </a:xfrm>
          <a:prstGeom prst="rect">
            <a:avLst/>
          </a:prstGeom>
          <a:solidFill>
            <a:srgbClr val="29B5E8"/>
          </a:solidFill>
          <a:ln w="12700">
            <a:solidFill>
              <a:srgbClr val="29B5E8"/>
            </a:solidFill>
            <a:prstDash val="solid"/>
          </a:ln>
        </p:spPr>
        <p:txBody>
          <a:bodyPr/>
          <a:lstStyle/>
          <a:p>
            <a:endParaRPr lang="en-US"/>
          </a:p>
        </p:txBody>
      </p:sp>
      <p:sp>
        <p:nvSpPr>
          <p:cNvPr id="23" name="Text 21"/>
          <p:cNvSpPr/>
          <p:nvPr/>
        </p:nvSpPr>
        <p:spPr>
          <a:xfrm>
            <a:off x="777240" y="5138928"/>
            <a:ext cx="6217920" cy="365760"/>
          </a:xfrm>
          <a:prstGeom prst="rect">
            <a:avLst/>
          </a:prstGeom>
          <a:noFill/>
          <a:ln/>
        </p:spPr>
        <p:txBody>
          <a:bodyPr wrap="square" lIns="0" tIns="0" rIns="0" bIns="0" rtlCol="0" anchor="ctr"/>
          <a:lstStyle/>
          <a:p>
            <a:pPr marL="0" indent="0">
              <a:buNone/>
            </a:pPr>
            <a:r>
              <a:rPr lang="en-US" sz="1600" b="1">
                <a:solidFill>
                  <a:srgbClr val="0A2540"/>
                </a:solidFill>
              </a:rPr>
              <a:t>Manual review does not scale</a:t>
            </a:r>
            <a:endParaRPr lang="en-US" sz="1600"/>
          </a:p>
        </p:txBody>
      </p:sp>
      <p:sp>
        <p:nvSpPr>
          <p:cNvPr id="24" name="Text 22"/>
          <p:cNvSpPr/>
          <p:nvPr/>
        </p:nvSpPr>
        <p:spPr>
          <a:xfrm>
            <a:off x="777240" y="5504688"/>
            <a:ext cx="6217920" cy="548640"/>
          </a:xfrm>
          <a:prstGeom prst="rect">
            <a:avLst/>
          </a:prstGeom>
          <a:noFill/>
          <a:ln/>
        </p:spPr>
        <p:txBody>
          <a:bodyPr wrap="square" lIns="0" tIns="0" rIns="0" bIns="0" rtlCol="0" anchor="ctr"/>
          <a:lstStyle/>
          <a:p>
            <a:pPr marL="0" indent="0">
              <a:buNone/>
            </a:pPr>
            <a:r>
              <a:rPr lang="en-US" sz="1200">
                <a:solidFill>
                  <a:srgbClr val="5C6F84"/>
                </a:solidFill>
              </a:rPr>
              <a:t>Hand reviewing recordings creates massive reporting delays and severe human review fatigue.</a:t>
            </a:r>
            <a:endParaRPr lang="en-US" sz="1200"/>
          </a:p>
        </p:txBody>
      </p:sp>
      <p:sp>
        <p:nvSpPr>
          <p:cNvPr id="26" name="Text 24"/>
          <p:cNvSpPr/>
          <p:nvPr/>
        </p:nvSpPr>
        <p:spPr>
          <a:xfrm>
            <a:off x="7726680" y="3017520"/>
            <a:ext cx="3703320" cy="365760"/>
          </a:xfrm>
          <a:prstGeom prst="rect">
            <a:avLst/>
          </a:prstGeom>
          <a:noFill/>
          <a:ln/>
        </p:spPr>
        <p:txBody>
          <a:bodyPr wrap="square" lIns="0" tIns="0" rIns="0" bIns="0" rtlCol="0" anchor="ctr"/>
          <a:lstStyle/>
          <a:p>
            <a:pPr marL="0" indent="0">
              <a:buNone/>
            </a:pPr>
            <a:endParaRPr lang="en-US" sz="1100" b="1" kern="0" spc="400">
              <a:solidFill>
                <a:srgbClr val="29B5E8"/>
              </a:solidFill>
              <a:ea typeface="Calibri"/>
              <a:cs typeface="Calibri"/>
            </a:endParaRPr>
          </a:p>
        </p:txBody>
      </p:sp>
      <p:sp>
        <p:nvSpPr>
          <p:cNvPr id="29" name="Text 27"/>
          <p:cNvSpPr/>
          <p:nvPr/>
        </p:nvSpPr>
        <p:spPr>
          <a:xfrm>
            <a:off x="7726680" y="5029200"/>
            <a:ext cx="3703320" cy="1097280"/>
          </a:xfrm>
          <a:prstGeom prst="rect">
            <a:avLst/>
          </a:prstGeom>
          <a:noFill/>
          <a:ln/>
        </p:spPr>
        <p:txBody>
          <a:bodyPr wrap="square" lIns="0" tIns="0" rIns="0" bIns="0" rtlCol="0" anchor="ctr"/>
          <a:lstStyle/>
          <a:p>
            <a:pPr marL="0" indent="0">
              <a:buNone/>
            </a:pPr>
            <a:endParaRPr lang="en-US" sz="1400" i="1">
              <a:solidFill>
                <a:srgbClr val="FFFFFF"/>
              </a:solidFill>
              <a:ea typeface="Calibri"/>
              <a:cs typeface="Calibri"/>
            </a:endParaRPr>
          </a:p>
        </p:txBody>
      </p:sp>
      <p:pic>
        <p:nvPicPr>
          <p:cNvPr id="3" name="Picture 2" descr="A magnifying glass on a white surface&#10;&#10;AI-generated content may be incorrect.">
            <a:extLst>
              <a:ext uri="{FF2B5EF4-FFF2-40B4-BE49-F238E27FC236}">
                <a16:creationId xmlns:a16="http://schemas.microsoft.com/office/drawing/2014/main" id="{A774330E-A43A-99D0-9CDB-884C6E20274A}"/>
              </a:ext>
            </a:extLst>
          </p:cNvPr>
          <p:cNvPicPr>
            <a:picLocks noChangeAspect="1"/>
          </p:cNvPicPr>
          <p:nvPr/>
        </p:nvPicPr>
        <p:blipFill>
          <a:blip r:embed="rId3"/>
          <a:stretch>
            <a:fillRect/>
          </a:stretch>
        </p:blipFill>
        <p:spPr>
          <a:xfrm>
            <a:off x="7329238" y="3270793"/>
            <a:ext cx="4469158" cy="27293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54864"/>
          </a:xfrm>
          <a:prstGeom prst="rect">
            <a:avLst/>
          </a:prstGeom>
          <a:solidFill>
            <a:srgbClr val="29B5E8"/>
          </a:solidFill>
          <a:ln w="12700">
            <a:solidFill>
              <a:srgbClr val="29B5E8"/>
            </a:solidFill>
            <a:prstDash val="solid"/>
          </a:ln>
        </p:spPr>
      </p:sp>
      <p:sp>
        <p:nvSpPr>
          <p:cNvPr id="6" name="Shape 4"/>
          <p:cNvSpPr/>
          <p:nvPr/>
        </p:nvSpPr>
        <p:spPr>
          <a:xfrm>
            <a:off x="502920" y="6400800"/>
            <a:ext cx="11155680" cy="0"/>
          </a:xfrm>
          <a:prstGeom prst="line">
            <a:avLst/>
          </a:prstGeom>
          <a:noFill/>
          <a:ln w="12700">
            <a:solidFill>
              <a:srgbClr val="D9E2EC"/>
            </a:solidFill>
            <a:prstDash val="solid"/>
          </a:ln>
        </p:spPr>
        <p:txBody>
          <a:bodyPr/>
          <a:lstStyle/>
          <a:p>
            <a:endParaRPr lang="en-US"/>
          </a:p>
        </p:txBody>
      </p:sp>
      <p:sp>
        <p:nvSpPr>
          <p:cNvPr id="9" name="Text 7"/>
          <p:cNvSpPr/>
          <p:nvPr/>
        </p:nvSpPr>
        <p:spPr>
          <a:xfrm>
            <a:off x="402657" y="507733"/>
            <a:ext cx="7315200" cy="274320"/>
          </a:xfrm>
          <a:prstGeom prst="rect">
            <a:avLst/>
          </a:prstGeom>
          <a:noFill/>
          <a:ln/>
        </p:spPr>
        <p:txBody>
          <a:bodyPr wrap="square" lIns="0" tIns="0" rIns="0" bIns="0" rtlCol="0" anchor="ctr"/>
          <a:lstStyle/>
          <a:p>
            <a:r>
              <a:rPr lang="en-US" sz="1600" b="1" kern="0" spc="400">
                <a:solidFill>
                  <a:srgbClr val="29B5E8"/>
                </a:solidFill>
              </a:rPr>
              <a:t>02 — INTRODUCTION TO THE TOOL</a:t>
            </a:r>
            <a:endParaRPr lang="en-US" sz="1600">
              <a:ea typeface="Calibri"/>
              <a:cs typeface="Calibri"/>
            </a:endParaRPr>
          </a:p>
        </p:txBody>
      </p:sp>
      <p:sp>
        <p:nvSpPr>
          <p:cNvPr id="10" name="Text 8"/>
          <p:cNvSpPr/>
          <p:nvPr/>
        </p:nvSpPr>
        <p:spPr>
          <a:xfrm>
            <a:off x="91841" y="1323474"/>
            <a:ext cx="11155680" cy="777240"/>
          </a:xfrm>
          <a:prstGeom prst="rect">
            <a:avLst/>
          </a:prstGeom>
          <a:noFill/>
          <a:ln/>
        </p:spPr>
        <p:txBody>
          <a:bodyPr wrap="square" lIns="0" tIns="0" rIns="0" bIns="0" rtlCol="0" anchor="ctr"/>
          <a:lstStyle/>
          <a:p>
            <a:pPr lvl="1"/>
            <a:r>
              <a:rPr lang="en-US" sz="3600" b="1">
                <a:solidFill>
                  <a:srgbClr val="0A2540"/>
                </a:solidFill>
                <a:latin typeface="Calibri"/>
                <a:ea typeface="Calibri"/>
                <a:cs typeface="Calibri"/>
              </a:rPr>
              <a:t>The Intelligent Video Navigator</a:t>
            </a:r>
            <a:endParaRPr lang="en-US" sz="3600">
              <a:solidFill>
                <a:srgbClr val="000000"/>
              </a:solidFill>
              <a:latin typeface="Calibri"/>
              <a:ea typeface="Calibri"/>
              <a:cs typeface="Calibri"/>
            </a:endParaRPr>
          </a:p>
          <a:p>
            <a:endParaRPr lang="en-US" sz="3200" b="1" dirty="0">
              <a:solidFill>
                <a:srgbClr val="0A2540"/>
              </a:solidFill>
              <a:latin typeface="Calibri"/>
              <a:ea typeface="Calibri"/>
              <a:cs typeface="Calibri"/>
            </a:endParaRPr>
          </a:p>
        </p:txBody>
      </p:sp>
      <p:sp>
        <p:nvSpPr>
          <p:cNvPr id="11" name="Text 9"/>
          <p:cNvSpPr/>
          <p:nvPr/>
        </p:nvSpPr>
        <p:spPr>
          <a:xfrm>
            <a:off x="502920" y="1874520"/>
            <a:ext cx="11155680" cy="457200"/>
          </a:xfrm>
          <a:prstGeom prst="rect">
            <a:avLst/>
          </a:prstGeom>
          <a:noFill/>
          <a:ln/>
        </p:spPr>
        <p:txBody>
          <a:bodyPr wrap="square" lIns="0" tIns="0" rIns="0" bIns="0" rtlCol="0" anchor="ctr"/>
          <a:lstStyle/>
          <a:p>
            <a:pPr marL="0" indent="0">
              <a:buNone/>
            </a:pPr>
            <a:r>
              <a:rPr lang="en-US" sz="1400" i="1">
                <a:solidFill>
                  <a:srgbClr val="5C6F84"/>
                </a:solidFill>
                <a:latin typeface="Calibri" pitchFamily="34" charset="0"/>
                <a:ea typeface="Calibri" pitchFamily="34" charset="-122"/>
                <a:cs typeface="Calibri" pitchFamily="34" charset="-120"/>
              </a:rPr>
              <a:t>Type the concept. Watch the exact moment.</a:t>
            </a:r>
            <a:endParaRPr lang="en-US" sz="1400"/>
          </a:p>
        </p:txBody>
      </p:sp>
      <p:sp>
        <p:nvSpPr>
          <p:cNvPr id="12" name="Shape 10"/>
          <p:cNvSpPr/>
          <p:nvPr/>
        </p:nvSpPr>
        <p:spPr>
          <a:xfrm>
            <a:off x="402657" y="913598"/>
            <a:ext cx="914400" cy="36576"/>
          </a:xfrm>
          <a:prstGeom prst="rect">
            <a:avLst/>
          </a:prstGeom>
          <a:solidFill>
            <a:srgbClr val="29B5E8"/>
          </a:solidFill>
          <a:ln w="12700">
            <a:solidFill>
              <a:srgbClr val="29B5E8"/>
            </a:solidFill>
            <a:prstDash val="solid"/>
          </a:ln>
        </p:spPr>
      </p:sp>
      <p:sp>
        <p:nvSpPr>
          <p:cNvPr id="13" name="Shape 11"/>
          <p:cNvSpPr/>
          <p:nvPr/>
        </p:nvSpPr>
        <p:spPr>
          <a:xfrm>
            <a:off x="502920" y="2788920"/>
            <a:ext cx="502920" cy="502920"/>
          </a:xfrm>
          <a:prstGeom prst="ellipse">
            <a:avLst/>
          </a:prstGeom>
          <a:solidFill>
            <a:srgbClr val="E6F6FC"/>
          </a:solidFill>
          <a:ln w="25400">
            <a:solidFill>
              <a:srgbClr val="29B5E8"/>
            </a:solidFill>
            <a:prstDash val="solid"/>
          </a:ln>
        </p:spPr>
        <p:txBody>
          <a:bodyPr/>
          <a:lstStyle/>
          <a:p>
            <a:endParaRPr lang="en-US"/>
          </a:p>
        </p:txBody>
      </p:sp>
      <p:sp>
        <p:nvSpPr>
          <p:cNvPr id="14" name="Text 12"/>
          <p:cNvSpPr/>
          <p:nvPr/>
        </p:nvSpPr>
        <p:spPr>
          <a:xfrm>
            <a:off x="502920" y="2788920"/>
            <a:ext cx="502920" cy="502920"/>
          </a:xfrm>
          <a:prstGeom prst="rect">
            <a:avLst/>
          </a:prstGeom>
          <a:noFill/>
          <a:ln/>
        </p:spPr>
        <p:txBody>
          <a:bodyPr wrap="square" lIns="0" tIns="0" rIns="0" bIns="0" rtlCol="0" anchor="ctr"/>
          <a:lstStyle/>
          <a:p>
            <a:pPr marL="0" indent="0" algn="ctr">
              <a:buNone/>
            </a:pPr>
            <a:r>
              <a:rPr lang="en-US" sz="1400" b="1">
                <a:solidFill>
                  <a:srgbClr val="0056D2"/>
                </a:solidFill>
              </a:rPr>
              <a:t>01</a:t>
            </a:r>
            <a:endParaRPr lang="en-US" sz="1400"/>
          </a:p>
        </p:txBody>
      </p:sp>
      <p:sp>
        <p:nvSpPr>
          <p:cNvPr id="15" name="Text 13"/>
          <p:cNvSpPr/>
          <p:nvPr/>
        </p:nvSpPr>
        <p:spPr>
          <a:xfrm>
            <a:off x="1188720" y="2743200"/>
            <a:ext cx="5303520" cy="411480"/>
          </a:xfrm>
          <a:prstGeom prst="rect">
            <a:avLst/>
          </a:prstGeom>
          <a:noFill/>
          <a:ln/>
        </p:spPr>
        <p:txBody>
          <a:bodyPr wrap="square" lIns="0" tIns="0" rIns="0" bIns="0" rtlCol="0" anchor="ctr"/>
          <a:lstStyle/>
          <a:p>
            <a:pPr marL="0" indent="0">
              <a:buNone/>
            </a:pPr>
            <a:r>
              <a:rPr lang="en-US" sz="1700" b="1">
                <a:solidFill>
                  <a:srgbClr val="0A2540"/>
                </a:solidFill>
              </a:rPr>
              <a:t>Concept-based queries</a:t>
            </a:r>
            <a:endParaRPr lang="en-US" sz="1700"/>
          </a:p>
        </p:txBody>
      </p:sp>
      <p:sp>
        <p:nvSpPr>
          <p:cNvPr id="16" name="Text 14"/>
          <p:cNvSpPr/>
          <p:nvPr/>
        </p:nvSpPr>
        <p:spPr>
          <a:xfrm>
            <a:off x="1188720" y="3200400"/>
            <a:ext cx="5303520" cy="640080"/>
          </a:xfrm>
          <a:prstGeom prst="rect">
            <a:avLst/>
          </a:prstGeom>
          <a:noFill/>
          <a:ln/>
        </p:spPr>
        <p:txBody>
          <a:bodyPr wrap="square" lIns="0" tIns="0" rIns="0" bIns="0" rtlCol="0" anchor="ctr"/>
          <a:lstStyle/>
          <a:p>
            <a:pPr marL="0" indent="0">
              <a:buNone/>
            </a:pPr>
            <a:r>
              <a:rPr lang="en-US" sz="1200">
                <a:solidFill>
                  <a:srgbClr val="5C6F84"/>
                </a:solidFill>
              </a:rPr>
              <a:t>A unified, intuitive interface where teams can query concepts — not literal keyword strings.</a:t>
            </a:r>
            <a:endParaRPr lang="en-US" sz="1200"/>
          </a:p>
        </p:txBody>
      </p:sp>
      <p:sp>
        <p:nvSpPr>
          <p:cNvPr id="17" name="Shape 15"/>
          <p:cNvSpPr/>
          <p:nvPr/>
        </p:nvSpPr>
        <p:spPr>
          <a:xfrm>
            <a:off x="502920" y="3977640"/>
            <a:ext cx="502920" cy="502920"/>
          </a:xfrm>
          <a:prstGeom prst="ellipse">
            <a:avLst/>
          </a:prstGeom>
          <a:solidFill>
            <a:srgbClr val="E6F6FC"/>
          </a:solidFill>
          <a:ln w="25400">
            <a:solidFill>
              <a:srgbClr val="29B5E8"/>
            </a:solidFill>
            <a:prstDash val="solid"/>
          </a:ln>
        </p:spPr>
      </p:sp>
      <p:sp>
        <p:nvSpPr>
          <p:cNvPr id="18" name="Text 16"/>
          <p:cNvSpPr/>
          <p:nvPr/>
        </p:nvSpPr>
        <p:spPr>
          <a:xfrm>
            <a:off x="502920" y="3977640"/>
            <a:ext cx="502920" cy="502920"/>
          </a:xfrm>
          <a:prstGeom prst="rect">
            <a:avLst/>
          </a:prstGeom>
          <a:noFill/>
          <a:ln/>
        </p:spPr>
        <p:txBody>
          <a:bodyPr wrap="square" lIns="0" tIns="0" rIns="0" bIns="0" rtlCol="0" anchor="ctr"/>
          <a:lstStyle/>
          <a:p>
            <a:pPr marL="0" indent="0" algn="ctr">
              <a:buNone/>
            </a:pPr>
            <a:r>
              <a:rPr lang="en-US" sz="1400" b="1">
                <a:solidFill>
                  <a:srgbClr val="0056D2"/>
                </a:solidFill>
              </a:rPr>
              <a:t>02</a:t>
            </a:r>
            <a:endParaRPr lang="en-US" sz="1400"/>
          </a:p>
        </p:txBody>
      </p:sp>
      <p:sp>
        <p:nvSpPr>
          <p:cNvPr id="19" name="Text 17"/>
          <p:cNvSpPr/>
          <p:nvPr/>
        </p:nvSpPr>
        <p:spPr>
          <a:xfrm>
            <a:off x="1188720" y="3931920"/>
            <a:ext cx="5303520" cy="411480"/>
          </a:xfrm>
          <a:prstGeom prst="rect">
            <a:avLst/>
          </a:prstGeom>
          <a:noFill/>
          <a:ln/>
        </p:spPr>
        <p:txBody>
          <a:bodyPr wrap="square" lIns="0" tIns="0" rIns="0" bIns="0" rtlCol="0" anchor="ctr"/>
          <a:lstStyle/>
          <a:p>
            <a:pPr marL="0" indent="0">
              <a:buNone/>
            </a:pPr>
            <a:r>
              <a:rPr lang="en-US" sz="1700" b="1">
                <a:solidFill>
                  <a:srgbClr val="0A2540"/>
                </a:solidFill>
              </a:rPr>
              <a:t>Semantic understanding</a:t>
            </a:r>
            <a:endParaRPr lang="en-US" sz="1700"/>
          </a:p>
        </p:txBody>
      </p:sp>
      <p:sp>
        <p:nvSpPr>
          <p:cNvPr id="20" name="Text 18"/>
          <p:cNvSpPr/>
          <p:nvPr/>
        </p:nvSpPr>
        <p:spPr>
          <a:xfrm>
            <a:off x="1188720" y="4389120"/>
            <a:ext cx="5303520" cy="640080"/>
          </a:xfrm>
          <a:prstGeom prst="rect">
            <a:avLst/>
          </a:prstGeom>
          <a:noFill/>
          <a:ln/>
        </p:spPr>
        <p:txBody>
          <a:bodyPr wrap="square" lIns="0" tIns="0" rIns="0" bIns="0" rtlCol="0" anchor="ctr"/>
          <a:lstStyle/>
          <a:p>
            <a:pPr marL="0" indent="0">
              <a:buNone/>
            </a:pPr>
            <a:r>
              <a:rPr lang="en-US" sz="1200">
                <a:solidFill>
                  <a:srgbClr val="5C6F84"/>
                </a:solidFill>
              </a:rPr>
              <a:t>Automatically processes spoken dialogue and builds rich conceptual, semantic maps.</a:t>
            </a:r>
            <a:endParaRPr lang="en-US" sz="1200"/>
          </a:p>
        </p:txBody>
      </p:sp>
      <p:sp>
        <p:nvSpPr>
          <p:cNvPr id="21" name="Shape 19"/>
          <p:cNvSpPr/>
          <p:nvPr/>
        </p:nvSpPr>
        <p:spPr>
          <a:xfrm>
            <a:off x="502920" y="5166360"/>
            <a:ext cx="502920" cy="502920"/>
          </a:xfrm>
          <a:prstGeom prst="ellipse">
            <a:avLst/>
          </a:prstGeom>
          <a:solidFill>
            <a:srgbClr val="E6F6FC"/>
          </a:solidFill>
          <a:ln w="25400">
            <a:solidFill>
              <a:srgbClr val="29B5E8"/>
            </a:solidFill>
            <a:prstDash val="solid"/>
          </a:ln>
        </p:spPr>
      </p:sp>
      <p:sp>
        <p:nvSpPr>
          <p:cNvPr id="22" name="Text 20"/>
          <p:cNvSpPr/>
          <p:nvPr/>
        </p:nvSpPr>
        <p:spPr>
          <a:xfrm>
            <a:off x="502920" y="5166360"/>
            <a:ext cx="502920" cy="502920"/>
          </a:xfrm>
          <a:prstGeom prst="rect">
            <a:avLst/>
          </a:prstGeom>
          <a:noFill/>
          <a:ln/>
        </p:spPr>
        <p:txBody>
          <a:bodyPr wrap="square" lIns="0" tIns="0" rIns="0" bIns="0" rtlCol="0" anchor="ctr"/>
          <a:lstStyle/>
          <a:p>
            <a:pPr marL="0" indent="0" algn="ctr">
              <a:buNone/>
            </a:pPr>
            <a:r>
              <a:rPr lang="en-US" sz="1400" b="1">
                <a:solidFill>
                  <a:srgbClr val="0056D2"/>
                </a:solidFill>
              </a:rPr>
              <a:t>03</a:t>
            </a:r>
            <a:endParaRPr lang="en-US" sz="1400"/>
          </a:p>
        </p:txBody>
      </p:sp>
      <p:sp>
        <p:nvSpPr>
          <p:cNvPr id="23" name="Text 21"/>
          <p:cNvSpPr/>
          <p:nvPr/>
        </p:nvSpPr>
        <p:spPr>
          <a:xfrm>
            <a:off x="1188720" y="5120640"/>
            <a:ext cx="5303520" cy="411480"/>
          </a:xfrm>
          <a:prstGeom prst="rect">
            <a:avLst/>
          </a:prstGeom>
          <a:noFill/>
          <a:ln/>
        </p:spPr>
        <p:txBody>
          <a:bodyPr wrap="square" lIns="0" tIns="0" rIns="0" bIns="0" rtlCol="0" anchor="ctr"/>
          <a:lstStyle/>
          <a:p>
            <a:pPr marL="0" indent="0">
              <a:buNone/>
            </a:pPr>
            <a:r>
              <a:rPr lang="en-US" sz="1700" b="1">
                <a:solidFill>
                  <a:srgbClr val="0A2540"/>
                </a:solidFill>
              </a:rPr>
              <a:t>Direct UI integration</a:t>
            </a:r>
            <a:endParaRPr lang="en-US" sz="1700"/>
          </a:p>
        </p:txBody>
      </p:sp>
      <p:sp>
        <p:nvSpPr>
          <p:cNvPr id="24" name="Text 22"/>
          <p:cNvSpPr/>
          <p:nvPr/>
        </p:nvSpPr>
        <p:spPr>
          <a:xfrm>
            <a:off x="1188720" y="5577840"/>
            <a:ext cx="5303520" cy="640080"/>
          </a:xfrm>
          <a:prstGeom prst="rect">
            <a:avLst/>
          </a:prstGeom>
          <a:noFill/>
          <a:ln/>
        </p:spPr>
        <p:txBody>
          <a:bodyPr wrap="square" lIns="0" tIns="0" rIns="0" bIns="0" rtlCol="0" anchor="ctr"/>
          <a:lstStyle/>
          <a:p>
            <a:pPr marL="0" indent="0">
              <a:buNone/>
            </a:pPr>
            <a:r>
              <a:rPr lang="en-US" sz="1200">
                <a:solidFill>
                  <a:srgbClr val="5C6F84"/>
                </a:solidFill>
              </a:rPr>
              <a:t>Instantly snaps a responsive video player timeline head directly to the millisecond a topic is raised.</a:t>
            </a:r>
            <a:endParaRPr lang="en-US" sz="1200"/>
          </a:p>
        </p:txBody>
      </p:sp>
      <p:sp>
        <p:nvSpPr>
          <p:cNvPr id="25" name="Shape 23"/>
          <p:cNvSpPr/>
          <p:nvPr/>
        </p:nvSpPr>
        <p:spPr>
          <a:xfrm>
            <a:off x="6949440" y="2697480"/>
            <a:ext cx="4754880" cy="3520440"/>
          </a:xfrm>
          <a:prstGeom prst="roundRect">
            <a:avLst>
              <a:gd name="adj" fmla="val 2597"/>
            </a:avLst>
          </a:prstGeom>
          <a:solidFill>
            <a:srgbClr val="F4F7F9"/>
          </a:solidFill>
          <a:ln w="12700">
            <a:solidFill>
              <a:srgbClr val="D9E2EC"/>
            </a:solidFill>
            <a:prstDash val="solid"/>
          </a:ln>
          <a:effectLst>
            <a:outerShdw blurRad="254000" dist="50800" dir="5400000" algn="bl" rotWithShape="0">
              <a:srgbClr val="0A2540">
                <a:alpha val="8000"/>
              </a:srgbClr>
            </a:outerShdw>
          </a:effectLst>
        </p:spPr>
      </p:sp>
      <p:sp>
        <p:nvSpPr>
          <p:cNvPr id="26" name="Shape 24"/>
          <p:cNvSpPr/>
          <p:nvPr/>
        </p:nvSpPr>
        <p:spPr>
          <a:xfrm>
            <a:off x="7223760" y="2971800"/>
            <a:ext cx="4206240" cy="502920"/>
          </a:xfrm>
          <a:prstGeom prst="roundRect">
            <a:avLst>
              <a:gd name="adj" fmla="val 10909"/>
            </a:avLst>
          </a:prstGeom>
          <a:solidFill>
            <a:srgbClr val="FFFFFF"/>
          </a:solidFill>
          <a:ln w="12700">
            <a:solidFill>
              <a:srgbClr val="D9E2EC"/>
            </a:solidFill>
            <a:prstDash val="solid"/>
          </a:ln>
        </p:spPr>
        <p:txBody>
          <a:bodyPr/>
          <a:lstStyle/>
          <a:p>
            <a:endParaRPr lang="en-US"/>
          </a:p>
        </p:txBody>
      </p:sp>
      <p:sp>
        <p:nvSpPr>
          <p:cNvPr id="27" name="Shape 25"/>
          <p:cNvSpPr/>
          <p:nvPr/>
        </p:nvSpPr>
        <p:spPr>
          <a:xfrm>
            <a:off x="7406640" y="3118104"/>
            <a:ext cx="201168" cy="201168"/>
          </a:xfrm>
          <a:prstGeom prst="ellipse">
            <a:avLst/>
          </a:prstGeom>
          <a:solidFill>
            <a:srgbClr val="FFFFFF"/>
          </a:solidFill>
          <a:ln w="25400">
            <a:solidFill>
              <a:srgbClr val="29B5E8"/>
            </a:solidFill>
            <a:prstDash val="solid"/>
          </a:ln>
        </p:spPr>
        <p:txBody>
          <a:bodyPr/>
          <a:lstStyle/>
          <a:p>
            <a:endParaRPr lang="en-US"/>
          </a:p>
        </p:txBody>
      </p:sp>
      <p:sp>
        <p:nvSpPr>
          <p:cNvPr id="28" name="Shape 26"/>
          <p:cNvSpPr/>
          <p:nvPr/>
        </p:nvSpPr>
        <p:spPr>
          <a:xfrm>
            <a:off x="7571232" y="3300984"/>
            <a:ext cx="109728" cy="109728"/>
          </a:xfrm>
          <a:prstGeom prst="line">
            <a:avLst/>
          </a:prstGeom>
          <a:noFill/>
          <a:ln w="25400">
            <a:solidFill>
              <a:srgbClr val="29B5E8"/>
            </a:solidFill>
            <a:prstDash val="solid"/>
          </a:ln>
        </p:spPr>
      </p:sp>
      <p:sp>
        <p:nvSpPr>
          <p:cNvPr id="29" name="Text 27"/>
          <p:cNvSpPr/>
          <p:nvPr/>
        </p:nvSpPr>
        <p:spPr>
          <a:xfrm>
            <a:off x="7818120" y="2971800"/>
            <a:ext cx="3566160" cy="502920"/>
          </a:xfrm>
          <a:prstGeom prst="rect">
            <a:avLst/>
          </a:prstGeom>
          <a:noFill/>
          <a:ln/>
        </p:spPr>
        <p:txBody>
          <a:bodyPr wrap="square" lIns="0" tIns="0" rIns="0" bIns="0" rtlCol="0" anchor="ctr"/>
          <a:lstStyle/>
          <a:p>
            <a:pPr marL="0" indent="0">
              <a:buNone/>
            </a:pPr>
            <a:r>
              <a:rPr lang="en-US" sz="1100" i="1">
                <a:solidFill>
                  <a:srgbClr val="5C6F84"/>
                </a:solidFill>
              </a:rPr>
              <a:t>what did the client say about delivery dates?</a:t>
            </a:r>
            <a:endParaRPr lang="en-US" sz="1100"/>
          </a:p>
        </p:txBody>
      </p:sp>
      <p:sp>
        <p:nvSpPr>
          <p:cNvPr id="30" name="Text 28"/>
          <p:cNvSpPr/>
          <p:nvPr/>
        </p:nvSpPr>
        <p:spPr>
          <a:xfrm>
            <a:off x="9189720" y="3566160"/>
            <a:ext cx="274320" cy="274320"/>
          </a:xfrm>
          <a:prstGeom prst="rect">
            <a:avLst/>
          </a:prstGeom>
          <a:noFill/>
          <a:ln/>
        </p:spPr>
        <p:txBody>
          <a:bodyPr wrap="square" lIns="0" tIns="0" rIns="0" bIns="0" rtlCol="0" anchor="ctr"/>
          <a:lstStyle/>
          <a:p>
            <a:pPr marL="0" indent="0" algn="ctr">
              <a:buNone/>
            </a:pPr>
            <a:r>
              <a:rPr lang="en-US" sz="1400" b="1">
                <a:solidFill>
                  <a:srgbClr val="29B5E8"/>
                </a:solidFill>
              </a:rPr>
              <a:t>▼</a:t>
            </a:r>
            <a:endParaRPr lang="en-US" sz="1400"/>
          </a:p>
        </p:txBody>
      </p:sp>
      <p:sp>
        <p:nvSpPr>
          <p:cNvPr id="31" name="Shape 29"/>
          <p:cNvSpPr/>
          <p:nvPr/>
        </p:nvSpPr>
        <p:spPr>
          <a:xfrm>
            <a:off x="7223760" y="3886200"/>
            <a:ext cx="4206240" cy="2103120"/>
          </a:xfrm>
          <a:prstGeom prst="roundRect">
            <a:avLst>
              <a:gd name="adj" fmla="val 2609"/>
            </a:avLst>
          </a:prstGeom>
          <a:solidFill>
            <a:srgbClr val="0A2540"/>
          </a:solidFill>
          <a:ln w="12700">
            <a:solidFill>
              <a:srgbClr val="0A2540"/>
            </a:solidFill>
            <a:prstDash val="solid"/>
          </a:ln>
        </p:spPr>
      </p:sp>
      <p:sp>
        <p:nvSpPr>
          <p:cNvPr id="32" name="Shape 30"/>
          <p:cNvSpPr/>
          <p:nvPr/>
        </p:nvSpPr>
        <p:spPr>
          <a:xfrm>
            <a:off x="8915400" y="4389120"/>
            <a:ext cx="822960" cy="822960"/>
          </a:xfrm>
          <a:prstGeom prst="ellipse">
            <a:avLst/>
          </a:prstGeom>
          <a:solidFill>
            <a:srgbClr val="29B5E8"/>
          </a:solidFill>
          <a:ln w="12700">
            <a:solidFill>
              <a:srgbClr val="29B5E8"/>
            </a:solidFill>
            <a:prstDash val="solid"/>
          </a:ln>
        </p:spPr>
      </p:sp>
      <p:sp>
        <p:nvSpPr>
          <p:cNvPr id="33" name="Text 31"/>
          <p:cNvSpPr/>
          <p:nvPr/>
        </p:nvSpPr>
        <p:spPr>
          <a:xfrm>
            <a:off x="8915400" y="4389120"/>
            <a:ext cx="822960" cy="822960"/>
          </a:xfrm>
          <a:prstGeom prst="rect">
            <a:avLst/>
          </a:prstGeom>
          <a:noFill/>
          <a:ln/>
        </p:spPr>
        <p:txBody>
          <a:bodyPr wrap="square" lIns="0" tIns="0" rIns="0" bIns="0" rtlCol="0" anchor="ctr"/>
          <a:lstStyle/>
          <a:p>
            <a:pPr algn="ctr"/>
            <a:r>
              <a:rPr lang="en-US" sz="2600" b="1">
                <a:solidFill>
                  <a:srgbClr val="FFFFFF"/>
                </a:solidFill>
              </a:rPr>
              <a:t> ▶</a:t>
            </a:r>
            <a:endParaRPr lang="en-US" sz="2600"/>
          </a:p>
        </p:txBody>
      </p:sp>
      <p:sp>
        <p:nvSpPr>
          <p:cNvPr id="34" name="Shape 32"/>
          <p:cNvSpPr/>
          <p:nvPr/>
        </p:nvSpPr>
        <p:spPr>
          <a:xfrm>
            <a:off x="7406640" y="5532120"/>
            <a:ext cx="3840480" cy="73152"/>
          </a:xfrm>
          <a:prstGeom prst="rect">
            <a:avLst/>
          </a:prstGeom>
          <a:solidFill>
            <a:srgbClr val="1F3A5F"/>
          </a:solidFill>
          <a:ln w="12700">
            <a:solidFill>
              <a:srgbClr val="0A2540"/>
            </a:solidFill>
            <a:prstDash val="solid"/>
          </a:ln>
        </p:spPr>
      </p:sp>
      <p:sp>
        <p:nvSpPr>
          <p:cNvPr id="35" name="Shape 33"/>
          <p:cNvSpPr/>
          <p:nvPr/>
        </p:nvSpPr>
        <p:spPr>
          <a:xfrm>
            <a:off x="7406640" y="5532120"/>
            <a:ext cx="1463040" cy="73152"/>
          </a:xfrm>
          <a:prstGeom prst="rect">
            <a:avLst/>
          </a:prstGeom>
          <a:solidFill>
            <a:srgbClr val="29B5E8"/>
          </a:solidFill>
          <a:ln w="12700">
            <a:solidFill>
              <a:srgbClr val="29B5E8"/>
            </a:solidFill>
            <a:prstDash val="solid"/>
          </a:ln>
        </p:spPr>
      </p:sp>
      <p:sp>
        <p:nvSpPr>
          <p:cNvPr id="36" name="Shape 34"/>
          <p:cNvSpPr/>
          <p:nvPr/>
        </p:nvSpPr>
        <p:spPr>
          <a:xfrm>
            <a:off x="8778240" y="5458968"/>
            <a:ext cx="219456" cy="219456"/>
          </a:xfrm>
          <a:prstGeom prst="ellipse">
            <a:avLst/>
          </a:prstGeom>
          <a:solidFill>
            <a:srgbClr val="FFFFFF"/>
          </a:solidFill>
          <a:ln w="25400">
            <a:solidFill>
              <a:srgbClr val="29B5E8"/>
            </a:solidFill>
            <a:prstDash val="solid"/>
          </a:ln>
        </p:spPr>
      </p:sp>
      <p:sp>
        <p:nvSpPr>
          <p:cNvPr id="37" name="Text 35"/>
          <p:cNvSpPr/>
          <p:nvPr/>
        </p:nvSpPr>
        <p:spPr>
          <a:xfrm>
            <a:off x="7406640" y="5760720"/>
            <a:ext cx="3840480" cy="201168"/>
          </a:xfrm>
          <a:prstGeom prst="rect">
            <a:avLst/>
          </a:prstGeom>
          <a:noFill/>
          <a:ln/>
        </p:spPr>
        <p:txBody>
          <a:bodyPr wrap="square" lIns="0" tIns="0" rIns="0" bIns="0" rtlCol="0" anchor="ctr"/>
          <a:lstStyle/>
          <a:p>
            <a:pPr marL="0" indent="0">
              <a:buNone/>
            </a:pPr>
            <a:r>
              <a:rPr lang="en-US" sz="900">
                <a:solidFill>
                  <a:srgbClr val="FFFFFF"/>
                </a:solidFill>
              </a:rPr>
              <a:t>00:14:32 — match</a:t>
            </a:r>
            <a:endParaRPr lang="en-US" sz="9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54864"/>
          </a:xfrm>
          <a:prstGeom prst="rect">
            <a:avLst/>
          </a:prstGeom>
          <a:solidFill>
            <a:srgbClr val="29B5E8"/>
          </a:solidFill>
          <a:ln w="12700">
            <a:solidFill>
              <a:srgbClr val="29B5E8"/>
            </a:solidFill>
            <a:prstDash val="solid"/>
          </a:ln>
        </p:spPr>
      </p:sp>
      <p:sp>
        <p:nvSpPr>
          <p:cNvPr id="4" name="Text 2"/>
          <p:cNvSpPr/>
          <p:nvPr/>
        </p:nvSpPr>
        <p:spPr>
          <a:xfrm>
            <a:off x="502920" y="228600"/>
            <a:ext cx="310896" cy="310896"/>
          </a:xfrm>
          <a:prstGeom prst="rect">
            <a:avLst/>
          </a:prstGeom>
          <a:noFill/>
          <a:ln/>
        </p:spPr>
        <p:txBody>
          <a:bodyPr wrap="square" lIns="0" tIns="0" rIns="0" bIns="0" rtlCol="0" anchor="ctr"/>
          <a:lstStyle/>
          <a:p>
            <a:pPr marL="0" indent="0" algn="ctr">
              <a:buNone/>
            </a:pPr>
            <a:endParaRPr lang="en-US" sz="1400" b="1">
              <a:solidFill>
                <a:srgbClr val="FFFFFF"/>
              </a:solidFill>
              <a:ea typeface="Calibri"/>
              <a:cs typeface="Calibri"/>
            </a:endParaRPr>
          </a:p>
        </p:txBody>
      </p:sp>
      <p:sp>
        <p:nvSpPr>
          <p:cNvPr id="6" name="Shape 4"/>
          <p:cNvSpPr/>
          <p:nvPr/>
        </p:nvSpPr>
        <p:spPr>
          <a:xfrm>
            <a:off x="502920" y="6400800"/>
            <a:ext cx="11155680" cy="0"/>
          </a:xfrm>
          <a:prstGeom prst="line">
            <a:avLst/>
          </a:prstGeom>
          <a:noFill/>
          <a:ln w="12700">
            <a:solidFill>
              <a:srgbClr val="D9E2EC"/>
            </a:solidFill>
            <a:prstDash val="solid"/>
          </a:ln>
        </p:spPr>
        <p:txBody>
          <a:bodyPr/>
          <a:lstStyle/>
          <a:p>
            <a:endParaRPr lang="en-US"/>
          </a:p>
        </p:txBody>
      </p:sp>
      <p:sp>
        <p:nvSpPr>
          <p:cNvPr id="9" name="Text 7"/>
          <p:cNvSpPr/>
          <p:nvPr/>
        </p:nvSpPr>
        <p:spPr>
          <a:xfrm>
            <a:off x="502920" y="537812"/>
            <a:ext cx="7315200" cy="274320"/>
          </a:xfrm>
          <a:prstGeom prst="rect">
            <a:avLst/>
          </a:prstGeom>
          <a:noFill/>
          <a:ln/>
        </p:spPr>
        <p:txBody>
          <a:bodyPr wrap="square" lIns="0" tIns="0" rIns="0" bIns="0" rtlCol="0" anchor="ctr"/>
          <a:lstStyle/>
          <a:p>
            <a:pPr marL="0" indent="0">
              <a:buNone/>
            </a:pPr>
            <a:r>
              <a:rPr lang="en-US" sz="1600" b="1" kern="0" spc="400">
                <a:solidFill>
                  <a:srgbClr val="29B5E8"/>
                </a:solidFill>
              </a:rPr>
              <a:t>03 — TECH STACK</a:t>
            </a:r>
            <a:endParaRPr lang="en-US" sz="1600"/>
          </a:p>
        </p:txBody>
      </p:sp>
      <p:sp>
        <p:nvSpPr>
          <p:cNvPr id="10" name="Text 8"/>
          <p:cNvSpPr/>
          <p:nvPr/>
        </p:nvSpPr>
        <p:spPr>
          <a:xfrm>
            <a:off x="502920" y="1143000"/>
            <a:ext cx="11155680" cy="777240"/>
          </a:xfrm>
          <a:prstGeom prst="rect">
            <a:avLst/>
          </a:prstGeom>
          <a:noFill/>
          <a:ln/>
        </p:spPr>
        <p:txBody>
          <a:bodyPr wrap="square" lIns="0" tIns="0" rIns="0" bIns="0" rtlCol="0" anchor="ctr"/>
          <a:lstStyle/>
          <a:p>
            <a:r>
              <a:rPr lang="en-US" sz="3200" b="1">
                <a:solidFill>
                  <a:srgbClr val="0A2540"/>
                </a:solidFill>
                <a:ea typeface="Calibri"/>
                <a:cs typeface="Calibri"/>
              </a:rPr>
              <a:t>Retrieve Process and Store</a:t>
            </a:r>
            <a:endParaRPr lang="en-US" sz="3200" b="1" dirty="0">
              <a:solidFill>
                <a:srgbClr val="0A2540"/>
              </a:solidFill>
              <a:ea typeface="Calibri"/>
              <a:cs typeface="Calibri"/>
            </a:endParaRPr>
          </a:p>
        </p:txBody>
      </p:sp>
      <p:sp>
        <p:nvSpPr>
          <p:cNvPr id="11" name="Text 9"/>
          <p:cNvSpPr/>
          <p:nvPr/>
        </p:nvSpPr>
        <p:spPr>
          <a:xfrm>
            <a:off x="502920" y="1874520"/>
            <a:ext cx="11155680" cy="457200"/>
          </a:xfrm>
          <a:prstGeom prst="rect">
            <a:avLst/>
          </a:prstGeom>
          <a:noFill/>
          <a:ln/>
        </p:spPr>
        <p:txBody>
          <a:bodyPr wrap="square" lIns="0" tIns="0" rIns="0" bIns="0" rtlCol="0" anchor="ctr"/>
          <a:lstStyle/>
          <a:p>
            <a:pPr marL="0" indent="0">
              <a:buNone/>
            </a:pPr>
            <a:r>
              <a:rPr lang="en-US" sz="1400" i="1">
                <a:solidFill>
                  <a:srgbClr val="5C6F84"/>
                </a:solidFill>
                <a:latin typeface="Calibri" pitchFamily="34" charset="0"/>
                <a:ea typeface="Calibri" pitchFamily="34" charset="-122"/>
                <a:cs typeface="Calibri" pitchFamily="34" charset="-120"/>
              </a:rPr>
              <a:t>Three pillars chosen for speed, security, and enterprise stability</a:t>
            </a:r>
            <a:endParaRPr lang="en-US" sz="1400"/>
          </a:p>
        </p:txBody>
      </p:sp>
      <p:sp>
        <p:nvSpPr>
          <p:cNvPr id="12" name="Shape 10"/>
          <p:cNvSpPr/>
          <p:nvPr/>
        </p:nvSpPr>
        <p:spPr>
          <a:xfrm>
            <a:off x="502920" y="903572"/>
            <a:ext cx="914400" cy="36576"/>
          </a:xfrm>
          <a:prstGeom prst="rect">
            <a:avLst/>
          </a:prstGeom>
          <a:solidFill>
            <a:srgbClr val="29B5E8"/>
          </a:solidFill>
          <a:ln w="12700">
            <a:solidFill>
              <a:srgbClr val="29B5E8"/>
            </a:solidFill>
            <a:prstDash val="solid"/>
          </a:ln>
        </p:spPr>
      </p:sp>
      <p:sp>
        <p:nvSpPr>
          <p:cNvPr id="13" name="Shape 11"/>
          <p:cNvSpPr/>
          <p:nvPr/>
        </p:nvSpPr>
        <p:spPr>
          <a:xfrm>
            <a:off x="434340" y="2788920"/>
            <a:ext cx="3611880" cy="3520440"/>
          </a:xfrm>
          <a:prstGeom prst="roundRect">
            <a:avLst>
              <a:gd name="adj" fmla="val 3117"/>
            </a:avLst>
          </a:prstGeom>
          <a:solidFill>
            <a:srgbClr val="FFFFFF"/>
          </a:solidFill>
          <a:ln w="12700">
            <a:solidFill>
              <a:srgbClr val="D9E2EC"/>
            </a:solidFill>
            <a:prstDash val="solid"/>
          </a:ln>
          <a:effectLst>
            <a:outerShdw blurRad="228600" dist="38100" dir="5400000" algn="bl" rotWithShape="0">
              <a:srgbClr val="0A2540">
                <a:alpha val="7000"/>
              </a:srgbClr>
            </a:outerShdw>
          </a:effectLst>
        </p:spPr>
      </p:sp>
      <p:sp>
        <p:nvSpPr>
          <p:cNvPr id="14" name="Shape 12"/>
          <p:cNvSpPr/>
          <p:nvPr/>
        </p:nvSpPr>
        <p:spPr>
          <a:xfrm>
            <a:off x="434340" y="2788920"/>
            <a:ext cx="3611880" cy="91440"/>
          </a:xfrm>
          <a:prstGeom prst="rect">
            <a:avLst/>
          </a:prstGeom>
          <a:solidFill>
            <a:srgbClr val="29B5E8"/>
          </a:solidFill>
          <a:ln w="12700">
            <a:solidFill>
              <a:srgbClr val="29B5E8"/>
            </a:solidFill>
            <a:prstDash val="solid"/>
          </a:ln>
        </p:spPr>
        <p:txBody>
          <a:bodyPr/>
          <a:lstStyle/>
          <a:p>
            <a:endParaRPr lang="en-US"/>
          </a:p>
        </p:txBody>
      </p:sp>
      <p:sp>
        <p:nvSpPr>
          <p:cNvPr id="15" name="Text 13"/>
          <p:cNvSpPr/>
          <p:nvPr/>
        </p:nvSpPr>
        <p:spPr>
          <a:xfrm>
            <a:off x="800100" y="3063240"/>
            <a:ext cx="2880360" cy="320040"/>
          </a:xfrm>
          <a:prstGeom prst="rect">
            <a:avLst/>
          </a:prstGeom>
          <a:noFill/>
          <a:ln/>
        </p:spPr>
        <p:txBody>
          <a:bodyPr wrap="square" lIns="0" tIns="0" rIns="0" bIns="0" rtlCol="0" anchor="ctr"/>
          <a:lstStyle/>
          <a:p>
            <a:pPr marL="0" indent="0">
              <a:buNone/>
            </a:pPr>
            <a:r>
              <a:rPr lang="en-US" sz="1000" b="1" kern="0" spc="400">
                <a:solidFill>
                  <a:srgbClr val="29B5E8"/>
                </a:solidFill>
              </a:rPr>
              <a:t>WEB GATEWAY</a:t>
            </a:r>
            <a:endParaRPr lang="en-US" sz="1000"/>
          </a:p>
        </p:txBody>
      </p:sp>
      <p:sp>
        <p:nvSpPr>
          <p:cNvPr id="16" name="Shape 14"/>
          <p:cNvSpPr/>
          <p:nvPr/>
        </p:nvSpPr>
        <p:spPr>
          <a:xfrm>
            <a:off x="1645920" y="3566160"/>
            <a:ext cx="1188720" cy="1188720"/>
          </a:xfrm>
          <a:prstGeom prst="ellipse">
            <a:avLst/>
          </a:prstGeom>
          <a:solidFill>
            <a:srgbClr val="E6F6FC"/>
          </a:solidFill>
          <a:ln w="12700">
            <a:solidFill>
              <a:srgbClr val="E6F6FC"/>
            </a:solidFill>
            <a:prstDash val="solid"/>
          </a:ln>
        </p:spPr>
        <p:txBody>
          <a:bodyPr/>
          <a:lstStyle/>
          <a:p>
            <a:endParaRPr lang="en-US"/>
          </a:p>
        </p:txBody>
      </p:sp>
      <p:sp>
        <p:nvSpPr>
          <p:cNvPr id="17" name="Shape 15"/>
          <p:cNvSpPr/>
          <p:nvPr/>
        </p:nvSpPr>
        <p:spPr>
          <a:xfrm>
            <a:off x="2670048" y="4087368"/>
            <a:ext cx="146304" cy="146304"/>
          </a:xfrm>
          <a:prstGeom prst="rect">
            <a:avLst/>
          </a:prstGeom>
          <a:solidFill>
            <a:srgbClr val="0056D2"/>
          </a:solidFill>
          <a:ln w="12700">
            <a:solidFill>
              <a:srgbClr val="0056D2"/>
            </a:solidFill>
            <a:prstDash val="solid"/>
          </a:ln>
        </p:spPr>
        <p:txBody>
          <a:bodyPr/>
          <a:lstStyle/>
          <a:p>
            <a:endParaRPr lang="en-US"/>
          </a:p>
        </p:txBody>
      </p:sp>
      <p:sp>
        <p:nvSpPr>
          <p:cNvPr id="18" name="Shape 16"/>
          <p:cNvSpPr/>
          <p:nvPr/>
        </p:nvSpPr>
        <p:spPr>
          <a:xfrm rot="2700000">
            <a:off x="2522746" y="4442986"/>
            <a:ext cx="146304" cy="146304"/>
          </a:xfrm>
          <a:prstGeom prst="rect">
            <a:avLst/>
          </a:prstGeom>
          <a:solidFill>
            <a:srgbClr val="0056D2"/>
          </a:solidFill>
          <a:ln w="12700">
            <a:solidFill>
              <a:srgbClr val="0056D2"/>
            </a:solidFill>
            <a:prstDash val="solid"/>
          </a:ln>
        </p:spPr>
      </p:sp>
      <p:sp>
        <p:nvSpPr>
          <p:cNvPr id="19" name="Shape 17"/>
          <p:cNvSpPr/>
          <p:nvPr/>
        </p:nvSpPr>
        <p:spPr>
          <a:xfrm rot="5400000">
            <a:off x="2167128" y="4590288"/>
            <a:ext cx="146304" cy="146304"/>
          </a:xfrm>
          <a:prstGeom prst="rect">
            <a:avLst/>
          </a:prstGeom>
          <a:solidFill>
            <a:srgbClr val="0056D2"/>
          </a:solidFill>
          <a:ln w="12700">
            <a:solidFill>
              <a:srgbClr val="0056D2"/>
            </a:solidFill>
            <a:prstDash val="solid"/>
          </a:ln>
        </p:spPr>
      </p:sp>
      <p:sp>
        <p:nvSpPr>
          <p:cNvPr id="20" name="Shape 18"/>
          <p:cNvSpPr/>
          <p:nvPr/>
        </p:nvSpPr>
        <p:spPr>
          <a:xfrm rot="8100000">
            <a:off x="1811510" y="4442986"/>
            <a:ext cx="146304" cy="146304"/>
          </a:xfrm>
          <a:prstGeom prst="rect">
            <a:avLst/>
          </a:prstGeom>
          <a:solidFill>
            <a:srgbClr val="0056D2"/>
          </a:solidFill>
          <a:ln w="12700">
            <a:solidFill>
              <a:srgbClr val="0056D2"/>
            </a:solidFill>
            <a:prstDash val="solid"/>
          </a:ln>
        </p:spPr>
        <p:txBody>
          <a:bodyPr/>
          <a:lstStyle/>
          <a:p>
            <a:endParaRPr lang="en-US"/>
          </a:p>
        </p:txBody>
      </p:sp>
      <p:sp>
        <p:nvSpPr>
          <p:cNvPr id="21" name="Shape 19"/>
          <p:cNvSpPr/>
          <p:nvPr/>
        </p:nvSpPr>
        <p:spPr>
          <a:xfrm rot="10800000">
            <a:off x="1664208" y="4087368"/>
            <a:ext cx="146304" cy="146304"/>
          </a:xfrm>
          <a:prstGeom prst="rect">
            <a:avLst/>
          </a:prstGeom>
          <a:solidFill>
            <a:srgbClr val="0056D2"/>
          </a:solidFill>
          <a:ln w="12700">
            <a:solidFill>
              <a:srgbClr val="0056D2"/>
            </a:solidFill>
            <a:prstDash val="solid"/>
          </a:ln>
        </p:spPr>
        <p:txBody>
          <a:bodyPr/>
          <a:lstStyle/>
          <a:p>
            <a:endParaRPr lang="en-US"/>
          </a:p>
        </p:txBody>
      </p:sp>
      <p:sp>
        <p:nvSpPr>
          <p:cNvPr id="22" name="Shape 20"/>
          <p:cNvSpPr/>
          <p:nvPr/>
        </p:nvSpPr>
        <p:spPr>
          <a:xfrm rot="13500000">
            <a:off x="1811510" y="3731750"/>
            <a:ext cx="146304" cy="146304"/>
          </a:xfrm>
          <a:prstGeom prst="rect">
            <a:avLst/>
          </a:prstGeom>
          <a:solidFill>
            <a:srgbClr val="0056D2"/>
          </a:solidFill>
          <a:ln w="12700">
            <a:solidFill>
              <a:srgbClr val="0056D2"/>
            </a:solidFill>
            <a:prstDash val="solid"/>
          </a:ln>
        </p:spPr>
        <p:txBody>
          <a:bodyPr/>
          <a:lstStyle/>
          <a:p>
            <a:endParaRPr lang="en-US"/>
          </a:p>
        </p:txBody>
      </p:sp>
      <p:sp>
        <p:nvSpPr>
          <p:cNvPr id="23" name="Shape 21"/>
          <p:cNvSpPr/>
          <p:nvPr/>
        </p:nvSpPr>
        <p:spPr>
          <a:xfrm rot="16200000">
            <a:off x="2167128" y="3584448"/>
            <a:ext cx="146304" cy="146304"/>
          </a:xfrm>
          <a:prstGeom prst="rect">
            <a:avLst/>
          </a:prstGeom>
          <a:solidFill>
            <a:srgbClr val="0056D2"/>
          </a:solidFill>
          <a:ln w="12700">
            <a:solidFill>
              <a:srgbClr val="0056D2"/>
            </a:solidFill>
            <a:prstDash val="solid"/>
          </a:ln>
        </p:spPr>
        <p:txBody>
          <a:bodyPr/>
          <a:lstStyle/>
          <a:p>
            <a:endParaRPr lang="en-US"/>
          </a:p>
        </p:txBody>
      </p:sp>
      <p:sp>
        <p:nvSpPr>
          <p:cNvPr id="24" name="Shape 22"/>
          <p:cNvSpPr/>
          <p:nvPr/>
        </p:nvSpPr>
        <p:spPr>
          <a:xfrm rot="18900000">
            <a:off x="2522746" y="3731750"/>
            <a:ext cx="146304" cy="146304"/>
          </a:xfrm>
          <a:prstGeom prst="rect">
            <a:avLst/>
          </a:prstGeom>
          <a:solidFill>
            <a:srgbClr val="0056D2"/>
          </a:solidFill>
          <a:ln w="12700">
            <a:solidFill>
              <a:srgbClr val="0056D2"/>
            </a:solidFill>
            <a:prstDash val="solid"/>
          </a:ln>
        </p:spPr>
      </p:sp>
      <p:sp>
        <p:nvSpPr>
          <p:cNvPr id="25" name="Shape 23"/>
          <p:cNvSpPr/>
          <p:nvPr/>
        </p:nvSpPr>
        <p:spPr>
          <a:xfrm>
            <a:off x="1783080" y="3703320"/>
            <a:ext cx="914400" cy="914400"/>
          </a:xfrm>
          <a:prstGeom prst="ellipse">
            <a:avLst/>
          </a:prstGeom>
          <a:solidFill>
            <a:srgbClr val="0056D2"/>
          </a:solidFill>
          <a:ln w="12700">
            <a:solidFill>
              <a:srgbClr val="0056D2"/>
            </a:solidFill>
            <a:prstDash val="solid"/>
          </a:ln>
        </p:spPr>
      </p:sp>
      <p:sp>
        <p:nvSpPr>
          <p:cNvPr id="26" name="Shape 24"/>
          <p:cNvSpPr/>
          <p:nvPr/>
        </p:nvSpPr>
        <p:spPr>
          <a:xfrm>
            <a:off x="2057400" y="3977640"/>
            <a:ext cx="365760" cy="365760"/>
          </a:xfrm>
          <a:prstGeom prst="ellipse">
            <a:avLst/>
          </a:prstGeom>
          <a:solidFill>
            <a:srgbClr val="E6F6FC"/>
          </a:solidFill>
          <a:ln w="12700">
            <a:solidFill>
              <a:srgbClr val="E6F6FC"/>
            </a:solidFill>
            <a:prstDash val="solid"/>
          </a:ln>
        </p:spPr>
        <p:txBody>
          <a:bodyPr/>
          <a:lstStyle/>
          <a:p>
            <a:endParaRPr lang="en-US"/>
          </a:p>
        </p:txBody>
      </p:sp>
      <p:sp>
        <p:nvSpPr>
          <p:cNvPr id="27" name="Text 25"/>
          <p:cNvSpPr/>
          <p:nvPr/>
        </p:nvSpPr>
        <p:spPr>
          <a:xfrm>
            <a:off x="708660" y="4937760"/>
            <a:ext cx="3063240" cy="457200"/>
          </a:xfrm>
          <a:prstGeom prst="rect">
            <a:avLst/>
          </a:prstGeom>
          <a:noFill/>
          <a:ln/>
        </p:spPr>
        <p:txBody>
          <a:bodyPr wrap="square" lIns="0" tIns="0" rIns="0" bIns="0" rtlCol="0" anchor="ctr"/>
          <a:lstStyle/>
          <a:p>
            <a:pPr marL="0" indent="0" algn="ctr">
              <a:buNone/>
            </a:pPr>
            <a:r>
              <a:rPr lang="en-US" sz="2000" b="1">
                <a:solidFill>
                  <a:srgbClr val="0A2540"/>
                </a:solidFill>
              </a:rPr>
              <a:t>Python + FastAPI</a:t>
            </a:r>
            <a:endParaRPr lang="en-US" sz="2000"/>
          </a:p>
        </p:txBody>
      </p:sp>
      <p:sp>
        <p:nvSpPr>
          <p:cNvPr id="28" name="Shape 26"/>
          <p:cNvSpPr/>
          <p:nvPr/>
        </p:nvSpPr>
        <p:spPr>
          <a:xfrm>
            <a:off x="1874520" y="5394960"/>
            <a:ext cx="731520" cy="36576"/>
          </a:xfrm>
          <a:prstGeom prst="rect">
            <a:avLst/>
          </a:prstGeom>
          <a:solidFill>
            <a:srgbClr val="29B5E8"/>
          </a:solidFill>
          <a:ln w="12700">
            <a:solidFill>
              <a:srgbClr val="29B5E8"/>
            </a:solidFill>
            <a:prstDash val="solid"/>
          </a:ln>
        </p:spPr>
        <p:txBody>
          <a:bodyPr/>
          <a:lstStyle/>
          <a:p>
            <a:endParaRPr lang="en-US"/>
          </a:p>
        </p:txBody>
      </p:sp>
      <p:sp>
        <p:nvSpPr>
          <p:cNvPr id="29" name="Text 27"/>
          <p:cNvSpPr/>
          <p:nvPr/>
        </p:nvSpPr>
        <p:spPr>
          <a:xfrm>
            <a:off x="754380" y="5486400"/>
            <a:ext cx="2971800" cy="777240"/>
          </a:xfrm>
          <a:prstGeom prst="rect">
            <a:avLst/>
          </a:prstGeom>
          <a:noFill/>
          <a:ln/>
        </p:spPr>
        <p:txBody>
          <a:bodyPr wrap="square" lIns="0" tIns="0" rIns="0" bIns="0" rtlCol="0" anchor="ctr"/>
          <a:lstStyle/>
          <a:p>
            <a:pPr marL="0" indent="0" algn="ctr">
              <a:buNone/>
            </a:pPr>
            <a:r>
              <a:rPr lang="en-US" sz="1200">
                <a:solidFill>
                  <a:srgbClr val="5C6F84"/>
                </a:solidFill>
              </a:rPr>
              <a:t>High-speed web gateways that ensure seamless data verification and instant UI communication.</a:t>
            </a:r>
            <a:endParaRPr lang="en-US" sz="1200"/>
          </a:p>
        </p:txBody>
      </p:sp>
      <p:sp>
        <p:nvSpPr>
          <p:cNvPr id="30" name="Shape 28"/>
          <p:cNvSpPr/>
          <p:nvPr/>
        </p:nvSpPr>
        <p:spPr>
          <a:xfrm>
            <a:off x="4274820" y="2788920"/>
            <a:ext cx="3611880" cy="3520440"/>
          </a:xfrm>
          <a:prstGeom prst="roundRect">
            <a:avLst>
              <a:gd name="adj" fmla="val 3117"/>
            </a:avLst>
          </a:prstGeom>
          <a:solidFill>
            <a:srgbClr val="FFFFFF"/>
          </a:solidFill>
          <a:ln w="12700">
            <a:solidFill>
              <a:srgbClr val="D9E2EC"/>
            </a:solidFill>
            <a:prstDash val="solid"/>
          </a:ln>
          <a:effectLst>
            <a:outerShdw blurRad="228600" dist="38100" dir="5400000" algn="bl" rotWithShape="0">
              <a:srgbClr val="0A2540">
                <a:alpha val="7000"/>
              </a:srgbClr>
            </a:outerShdw>
          </a:effectLst>
        </p:spPr>
      </p:sp>
      <p:sp>
        <p:nvSpPr>
          <p:cNvPr id="31" name="Shape 29"/>
          <p:cNvSpPr/>
          <p:nvPr/>
        </p:nvSpPr>
        <p:spPr>
          <a:xfrm>
            <a:off x="4274820" y="2788920"/>
            <a:ext cx="3611880" cy="91440"/>
          </a:xfrm>
          <a:prstGeom prst="rect">
            <a:avLst/>
          </a:prstGeom>
          <a:solidFill>
            <a:srgbClr val="29B5E8"/>
          </a:solidFill>
          <a:ln w="12700">
            <a:solidFill>
              <a:srgbClr val="29B5E8"/>
            </a:solidFill>
            <a:prstDash val="solid"/>
          </a:ln>
        </p:spPr>
      </p:sp>
      <p:sp>
        <p:nvSpPr>
          <p:cNvPr id="32" name="Text 30"/>
          <p:cNvSpPr/>
          <p:nvPr/>
        </p:nvSpPr>
        <p:spPr>
          <a:xfrm>
            <a:off x="4640580" y="3063240"/>
            <a:ext cx="2880360" cy="320040"/>
          </a:xfrm>
          <a:prstGeom prst="rect">
            <a:avLst/>
          </a:prstGeom>
          <a:noFill/>
          <a:ln/>
        </p:spPr>
        <p:txBody>
          <a:bodyPr wrap="square" lIns="0" tIns="0" rIns="0" bIns="0" rtlCol="0" anchor="ctr"/>
          <a:lstStyle/>
          <a:p>
            <a:pPr marL="0" indent="0">
              <a:buNone/>
            </a:pPr>
            <a:r>
              <a:rPr lang="en-US" sz="1000" b="1" kern="0" spc="400">
                <a:solidFill>
                  <a:srgbClr val="29B5E8"/>
                </a:solidFill>
              </a:rPr>
              <a:t>AUDIO PARSING</a:t>
            </a:r>
            <a:endParaRPr lang="en-US" sz="1000"/>
          </a:p>
        </p:txBody>
      </p:sp>
      <p:sp>
        <p:nvSpPr>
          <p:cNvPr id="33" name="Shape 31"/>
          <p:cNvSpPr/>
          <p:nvPr/>
        </p:nvSpPr>
        <p:spPr>
          <a:xfrm>
            <a:off x="5486400" y="3566160"/>
            <a:ext cx="1188720" cy="1188720"/>
          </a:xfrm>
          <a:prstGeom prst="ellipse">
            <a:avLst/>
          </a:prstGeom>
          <a:solidFill>
            <a:srgbClr val="E6F6FC"/>
          </a:solidFill>
          <a:ln w="12700">
            <a:solidFill>
              <a:srgbClr val="E6F6FC"/>
            </a:solidFill>
            <a:prstDash val="solid"/>
          </a:ln>
        </p:spPr>
      </p:sp>
      <p:sp>
        <p:nvSpPr>
          <p:cNvPr id="34" name="Shape 32"/>
          <p:cNvSpPr/>
          <p:nvPr/>
        </p:nvSpPr>
        <p:spPr>
          <a:xfrm>
            <a:off x="5879592" y="3703320"/>
            <a:ext cx="402336" cy="685800"/>
          </a:xfrm>
          <a:prstGeom prst="roundRect">
            <a:avLst>
              <a:gd name="adj" fmla="val 45455"/>
            </a:avLst>
          </a:prstGeom>
          <a:solidFill>
            <a:srgbClr val="0056D2"/>
          </a:solidFill>
          <a:ln w="12700">
            <a:solidFill>
              <a:srgbClr val="0056D2"/>
            </a:solidFill>
            <a:prstDash val="solid"/>
          </a:ln>
        </p:spPr>
      </p:sp>
      <p:sp>
        <p:nvSpPr>
          <p:cNvPr id="35" name="Shape 33"/>
          <p:cNvSpPr/>
          <p:nvPr/>
        </p:nvSpPr>
        <p:spPr>
          <a:xfrm>
            <a:off x="6080760" y="4480560"/>
            <a:ext cx="0" cy="182880"/>
          </a:xfrm>
          <a:prstGeom prst="line">
            <a:avLst/>
          </a:prstGeom>
          <a:noFill/>
          <a:ln w="50800">
            <a:solidFill>
              <a:srgbClr val="0056D2"/>
            </a:solidFill>
            <a:prstDash val="solid"/>
          </a:ln>
        </p:spPr>
      </p:sp>
      <p:sp>
        <p:nvSpPr>
          <p:cNvPr id="36" name="Shape 34"/>
          <p:cNvSpPr/>
          <p:nvPr/>
        </p:nvSpPr>
        <p:spPr>
          <a:xfrm>
            <a:off x="5916168" y="4663440"/>
            <a:ext cx="329184" cy="0"/>
          </a:xfrm>
          <a:prstGeom prst="line">
            <a:avLst/>
          </a:prstGeom>
          <a:noFill/>
          <a:ln w="50800">
            <a:solidFill>
              <a:srgbClr val="0056D2"/>
            </a:solidFill>
            <a:prstDash val="solid"/>
          </a:ln>
        </p:spPr>
      </p:sp>
      <p:sp>
        <p:nvSpPr>
          <p:cNvPr id="37" name="Shape 35"/>
          <p:cNvSpPr/>
          <p:nvPr/>
        </p:nvSpPr>
        <p:spPr>
          <a:xfrm>
            <a:off x="5577840" y="3977640"/>
            <a:ext cx="0" cy="274320"/>
          </a:xfrm>
          <a:prstGeom prst="line">
            <a:avLst/>
          </a:prstGeom>
          <a:noFill/>
          <a:ln w="38100">
            <a:solidFill>
              <a:srgbClr val="29B5E8"/>
            </a:solidFill>
            <a:prstDash val="solid"/>
          </a:ln>
        </p:spPr>
      </p:sp>
      <p:sp>
        <p:nvSpPr>
          <p:cNvPr id="38" name="Shape 36"/>
          <p:cNvSpPr/>
          <p:nvPr/>
        </p:nvSpPr>
        <p:spPr>
          <a:xfrm>
            <a:off x="6583680" y="3977640"/>
            <a:ext cx="0" cy="274320"/>
          </a:xfrm>
          <a:prstGeom prst="line">
            <a:avLst/>
          </a:prstGeom>
          <a:noFill/>
          <a:ln w="38100">
            <a:solidFill>
              <a:srgbClr val="29B5E8"/>
            </a:solidFill>
            <a:prstDash val="solid"/>
          </a:ln>
        </p:spPr>
      </p:sp>
      <p:sp>
        <p:nvSpPr>
          <p:cNvPr id="39" name="Text 37"/>
          <p:cNvSpPr/>
          <p:nvPr/>
        </p:nvSpPr>
        <p:spPr>
          <a:xfrm>
            <a:off x="4549140" y="4937760"/>
            <a:ext cx="3063240" cy="457200"/>
          </a:xfrm>
          <a:prstGeom prst="rect">
            <a:avLst/>
          </a:prstGeom>
          <a:noFill/>
          <a:ln/>
        </p:spPr>
        <p:txBody>
          <a:bodyPr wrap="square" lIns="0" tIns="0" rIns="0" bIns="0" rtlCol="0" anchor="ctr"/>
          <a:lstStyle/>
          <a:p>
            <a:pPr marL="0" indent="0" algn="ctr">
              <a:buNone/>
            </a:pPr>
            <a:r>
              <a:rPr lang="en-US" sz="2000" b="1">
                <a:solidFill>
                  <a:srgbClr val="0A2540"/>
                </a:solidFill>
              </a:rPr>
              <a:t>OpenAI Whisper</a:t>
            </a:r>
            <a:endParaRPr lang="en-US" sz="2000"/>
          </a:p>
        </p:txBody>
      </p:sp>
      <p:sp>
        <p:nvSpPr>
          <p:cNvPr id="40" name="Shape 38"/>
          <p:cNvSpPr/>
          <p:nvPr/>
        </p:nvSpPr>
        <p:spPr>
          <a:xfrm>
            <a:off x="5715000" y="5394960"/>
            <a:ext cx="731520" cy="36576"/>
          </a:xfrm>
          <a:prstGeom prst="rect">
            <a:avLst/>
          </a:prstGeom>
          <a:solidFill>
            <a:srgbClr val="29B5E8"/>
          </a:solidFill>
          <a:ln w="12700">
            <a:solidFill>
              <a:srgbClr val="29B5E8"/>
            </a:solidFill>
            <a:prstDash val="solid"/>
          </a:ln>
        </p:spPr>
      </p:sp>
      <p:sp>
        <p:nvSpPr>
          <p:cNvPr id="41" name="Text 39"/>
          <p:cNvSpPr/>
          <p:nvPr/>
        </p:nvSpPr>
        <p:spPr>
          <a:xfrm>
            <a:off x="4594860" y="5486400"/>
            <a:ext cx="2971800" cy="777240"/>
          </a:xfrm>
          <a:prstGeom prst="rect">
            <a:avLst/>
          </a:prstGeom>
          <a:noFill/>
          <a:ln/>
        </p:spPr>
        <p:txBody>
          <a:bodyPr wrap="square" lIns="0" tIns="0" rIns="0" bIns="0" rtlCol="0" anchor="ctr"/>
          <a:lstStyle/>
          <a:p>
            <a:pPr marL="0" indent="0" algn="ctr">
              <a:buNone/>
            </a:pPr>
            <a:r>
              <a:rPr lang="en-US" sz="1200">
                <a:solidFill>
                  <a:srgbClr val="5C6F84"/>
                </a:solidFill>
              </a:rPr>
              <a:t>World-class engine that securely translates verbal nuances into rich, structured text assets.</a:t>
            </a:r>
            <a:endParaRPr lang="en-US" sz="1200"/>
          </a:p>
        </p:txBody>
      </p:sp>
      <p:sp>
        <p:nvSpPr>
          <p:cNvPr id="42" name="Shape 40"/>
          <p:cNvSpPr/>
          <p:nvPr/>
        </p:nvSpPr>
        <p:spPr>
          <a:xfrm>
            <a:off x="8115300" y="2788920"/>
            <a:ext cx="3611880" cy="3520440"/>
          </a:xfrm>
          <a:prstGeom prst="roundRect">
            <a:avLst>
              <a:gd name="adj" fmla="val 3117"/>
            </a:avLst>
          </a:prstGeom>
          <a:solidFill>
            <a:srgbClr val="FFFFFF"/>
          </a:solidFill>
          <a:ln w="12700">
            <a:solidFill>
              <a:srgbClr val="D9E2EC"/>
            </a:solidFill>
            <a:prstDash val="solid"/>
          </a:ln>
          <a:effectLst>
            <a:outerShdw blurRad="228600" dist="38100" dir="5400000" algn="bl" rotWithShape="0">
              <a:srgbClr val="0A2540">
                <a:alpha val="7000"/>
              </a:srgbClr>
            </a:outerShdw>
          </a:effectLst>
        </p:spPr>
      </p:sp>
      <p:sp>
        <p:nvSpPr>
          <p:cNvPr id="43" name="Shape 41"/>
          <p:cNvSpPr/>
          <p:nvPr/>
        </p:nvSpPr>
        <p:spPr>
          <a:xfrm>
            <a:off x="8115300" y="2788920"/>
            <a:ext cx="3611880" cy="91440"/>
          </a:xfrm>
          <a:prstGeom prst="rect">
            <a:avLst/>
          </a:prstGeom>
          <a:solidFill>
            <a:srgbClr val="29B5E8"/>
          </a:solidFill>
          <a:ln w="12700">
            <a:solidFill>
              <a:srgbClr val="29B5E8"/>
            </a:solidFill>
            <a:prstDash val="solid"/>
          </a:ln>
        </p:spPr>
      </p:sp>
      <p:sp>
        <p:nvSpPr>
          <p:cNvPr id="44" name="Text 42"/>
          <p:cNvSpPr/>
          <p:nvPr/>
        </p:nvSpPr>
        <p:spPr>
          <a:xfrm>
            <a:off x="8481060" y="3063240"/>
            <a:ext cx="2880360" cy="320040"/>
          </a:xfrm>
          <a:prstGeom prst="rect">
            <a:avLst/>
          </a:prstGeom>
          <a:noFill/>
          <a:ln/>
        </p:spPr>
        <p:txBody>
          <a:bodyPr wrap="square" lIns="0" tIns="0" rIns="0" bIns="0" rtlCol="0" anchor="ctr"/>
          <a:lstStyle/>
          <a:p>
            <a:pPr marL="0" indent="0">
              <a:buNone/>
            </a:pPr>
            <a:r>
              <a:rPr lang="en-US" sz="1000" b="1" kern="0" spc="400">
                <a:solidFill>
                  <a:srgbClr val="29B5E8"/>
                </a:solidFill>
              </a:rPr>
              <a:t>DATA CLOUD</a:t>
            </a:r>
            <a:endParaRPr lang="en-US" sz="1000"/>
          </a:p>
        </p:txBody>
      </p:sp>
      <p:sp>
        <p:nvSpPr>
          <p:cNvPr id="50" name="Text 48"/>
          <p:cNvSpPr/>
          <p:nvPr/>
        </p:nvSpPr>
        <p:spPr>
          <a:xfrm>
            <a:off x="8389620" y="4937760"/>
            <a:ext cx="3063240" cy="457200"/>
          </a:xfrm>
          <a:prstGeom prst="rect">
            <a:avLst/>
          </a:prstGeom>
          <a:noFill/>
          <a:ln/>
        </p:spPr>
        <p:txBody>
          <a:bodyPr wrap="square" lIns="0" tIns="0" rIns="0" bIns="0" rtlCol="0" anchor="ctr"/>
          <a:lstStyle/>
          <a:p>
            <a:pPr marL="0" indent="0" algn="ctr">
              <a:buNone/>
            </a:pPr>
            <a:r>
              <a:rPr lang="en-US" sz="2000" b="1">
                <a:solidFill>
                  <a:srgbClr val="0A2540"/>
                </a:solidFill>
              </a:rPr>
              <a:t>Snowflake</a:t>
            </a:r>
            <a:endParaRPr lang="en-US" sz="2000"/>
          </a:p>
        </p:txBody>
      </p:sp>
      <p:sp>
        <p:nvSpPr>
          <p:cNvPr id="51" name="Shape 49"/>
          <p:cNvSpPr/>
          <p:nvPr/>
        </p:nvSpPr>
        <p:spPr>
          <a:xfrm>
            <a:off x="9555480" y="5394960"/>
            <a:ext cx="731520" cy="36576"/>
          </a:xfrm>
          <a:prstGeom prst="rect">
            <a:avLst/>
          </a:prstGeom>
          <a:solidFill>
            <a:srgbClr val="29B5E8"/>
          </a:solidFill>
          <a:ln w="12700">
            <a:solidFill>
              <a:srgbClr val="29B5E8"/>
            </a:solidFill>
            <a:prstDash val="solid"/>
          </a:ln>
        </p:spPr>
      </p:sp>
      <p:sp>
        <p:nvSpPr>
          <p:cNvPr id="52" name="Text 50"/>
          <p:cNvSpPr/>
          <p:nvPr/>
        </p:nvSpPr>
        <p:spPr>
          <a:xfrm>
            <a:off x="8435340" y="5486400"/>
            <a:ext cx="2971800" cy="777240"/>
          </a:xfrm>
          <a:prstGeom prst="rect">
            <a:avLst/>
          </a:prstGeom>
          <a:noFill/>
          <a:ln/>
        </p:spPr>
        <p:txBody>
          <a:bodyPr wrap="square" lIns="0" tIns="0" rIns="0" bIns="0" rtlCol="0" anchor="ctr"/>
          <a:lstStyle/>
          <a:p>
            <a:pPr marL="0" indent="0" algn="ctr">
              <a:buNone/>
            </a:pPr>
            <a:r>
              <a:rPr lang="en-US" sz="1200">
                <a:solidFill>
                  <a:srgbClr val="5C6F84"/>
                </a:solidFill>
              </a:rPr>
              <a:t>Secure cloud foundation that maximizes data isolation, governance, and cloud efficiency.</a:t>
            </a:r>
            <a:endParaRPr lang="en-US" sz="1200"/>
          </a:p>
        </p:txBody>
      </p:sp>
      <p:pic>
        <p:nvPicPr>
          <p:cNvPr id="55" name="Picture 54" descr="A blue snowflake with a diamond&#10;&#10;AI-generated content may be incorrect.">
            <a:extLst>
              <a:ext uri="{FF2B5EF4-FFF2-40B4-BE49-F238E27FC236}">
                <a16:creationId xmlns:a16="http://schemas.microsoft.com/office/drawing/2014/main" id="{E13842A0-EF1E-C008-736C-F25D62C272ED}"/>
              </a:ext>
            </a:extLst>
          </p:cNvPr>
          <p:cNvPicPr>
            <a:picLocks noChangeAspect="1"/>
          </p:cNvPicPr>
          <p:nvPr/>
        </p:nvPicPr>
        <p:blipFill>
          <a:blip r:embed="rId3"/>
          <a:stretch>
            <a:fillRect/>
          </a:stretch>
        </p:blipFill>
        <p:spPr>
          <a:xfrm>
            <a:off x="9040479" y="3479633"/>
            <a:ext cx="1590675" cy="15430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54864"/>
          </a:xfrm>
          <a:prstGeom prst="rect">
            <a:avLst/>
          </a:prstGeom>
          <a:solidFill>
            <a:srgbClr val="29B5E8"/>
          </a:solidFill>
          <a:ln w="12700">
            <a:solidFill>
              <a:srgbClr val="29B5E8"/>
            </a:solidFill>
            <a:prstDash val="solid"/>
          </a:ln>
        </p:spPr>
      </p:sp>
      <p:sp>
        <p:nvSpPr>
          <p:cNvPr id="6" name="Shape 4"/>
          <p:cNvSpPr/>
          <p:nvPr/>
        </p:nvSpPr>
        <p:spPr>
          <a:xfrm>
            <a:off x="502920" y="6400800"/>
            <a:ext cx="11155680" cy="0"/>
          </a:xfrm>
          <a:prstGeom prst="line">
            <a:avLst/>
          </a:prstGeom>
          <a:noFill/>
          <a:ln w="12700">
            <a:solidFill>
              <a:srgbClr val="D9E2EC"/>
            </a:solidFill>
            <a:prstDash val="solid"/>
          </a:ln>
        </p:spPr>
        <p:txBody>
          <a:bodyPr/>
          <a:lstStyle/>
          <a:p>
            <a:endParaRPr lang="en-US"/>
          </a:p>
        </p:txBody>
      </p:sp>
      <p:sp>
        <p:nvSpPr>
          <p:cNvPr id="9" name="Text 7"/>
          <p:cNvSpPr/>
          <p:nvPr/>
        </p:nvSpPr>
        <p:spPr>
          <a:xfrm>
            <a:off x="502920" y="467627"/>
            <a:ext cx="7315200" cy="274320"/>
          </a:xfrm>
          <a:prstGeom prst="rect">
            <a:avLst/>
          </a:prstGeom>
          <a:noFill/>
          <a:ln/>
        </p:spPr>
        <p:txBody>
          <a:bodyPr wrap="square" lIns="0" tIns="0" rIns="0" bIns="0" rtlCol="0" anchor="ctr"/>
          <a:lstStyle/>
          <a:p>
            <a:r>
              <a:rPr lang="en-US" sz="1600" b="1" kern="0" spc="400">
                <a:solidFill>
                  <a:srgbClr val="29B5E8"/>
                </a:solidFill>
              </a:rPr>
              <a:t>04— THE INGESTION PHASE</a:t>
            </a:r>
            <a:endParaRPr lang="en-US" sz="1600">
              <a:ea typeface="Calibri"/>
              <a:cs typeface="Calibri"/>
            </a:endParaRPr>
          </a:p>
        </p:txBody>
      </p:sp>
      <p:sp>
        <p:nvSpPr>
          <p:cNvPr id="10" name="Text 8"/>
          <p:cNvSpPr/>
          <p:nvPr/>
        </p:nvSpPr>
        <p:spPr>
          <a:xfrm>
            <a:off x="502920" y="1143000"/>
            <a:ext cx="11155680" cy="777240"/>
          </a:xfrm>
          <a:prstGeom prst="rect">
            <a:avLst/>
          </a:prstGeom>
          <a:noFill/>
          <a:ln/>
        </p:spPr>
        <p:txBody>
          <a:bodyPr wrap="square" lIns="0" tIns="0" rIns="0" bIns="0" rtlCol="0" anchor="ctr"/>
          <a:lstStyle/>
          <a:p>
            <a:r>
              <a:rPr lang="en-US" sz="3200" b="1" dirty="0">
                <a:solidFill>
                  <a:srgbClr val="0A2540"/>
                </a:solidFill>
                <a:latin typeface="Calibri"/>
                <a:ea typeface="Calibri"/>
                <a:cs typeface="Calibri"/>
              </a:rPr>
              <a:t>The Transformation </a:t>
            </a:r>
            <a:r>
              <a:rPr lang="en-US" sz="3200" b="1">
                <a:solidFill>
                  <a:srgbClr val="0A2540"/>
                </a:solidFill>
                <a:latin typeface="Calibri"/>
                <a:ea typeface="Calibri"/>
                <a:cs typeface="Calibri"/>
              </a:rPr>
              <a:t>Engine</a:t>
            </a:r>
            <a:endParaRPr lang="en-US" sz="3200" b="1" dirty="0">
              <a:solidFill>
                <a:srgbClr val="0A2540"/>
              </a:solidFill>
              <a:latin typeface="Calibri"/>
              <a:ea typeface="Calibri"/>
              <a:cs typeface="Calibri"/>
            </a:endParaRPr>
          </a:p>
        </p:txBody>
      </p:sp>
      <p:sp>
        <p:nvSpPr>
          <p:cNvPr id="11" name="Text 9"/>
          <p:cNvSpPr/>
          <p:nvPr/>
        </p:nvSpPr>
        <p:spPr>
          <a:xfrm>
            <a:off x="502920" y="1874520"/>
            <a:ext cx="11155680" cy="457200"/>
          </a:xfrm>
          <a:prstGeom prst="rect">
            <a:avLst/>
          </a:prstGeom>
          <a:noFill/>
          <a:ln/>
        </p:spPr>
        <p:txBody>
          <a:bodyPr wrap="square" lIns="0" tIns="0" rIns="0" bIns="0" rtlCol="0" anchor="ctr"/>
          <a:lstStyle/>
          <a:p>
            <a:pPr marL="0" indent="0">
              <a:buNone/>
            </a:pPr>
            <a:r>
              <a:rPr lang="en-US" sz="1400" i="1">
                <a:solidFill>
                  <a:srgbClr val="5C6F84"/>
                </a:solidFill>
                <a:latin typeface="Calibri" pitchFamily="34" charset="0"/>
                <a:ea typeface="Calibri" pitchFamily="34" charset="-122"/>
                <a:cs typeface="Calibri" pitchFamily="34" charset="-120"/>
              </a:rPr>
              <a:t>From secure upload to instantly searchable asset in four steps</a:t>
            </a:r>
            <a:endParaRPr lang="en-US" sz="1400"/>
          </a:p>
        </p:txBody>
      </p:sp>
      <p:sp>
        <p:nvSpPr>
          <p:cNvPr id="12" name="Shape 10"/>
          <p:cNvSpPr/>
          <p:nvPr/>
        </p:nvSpPr>
        <p:spPr>
          <a:xfrm>
            <a:off x="482867" y="853440"/>
            <a:ext cx="914400" cy="36576"/>
          </a:xfrm>
          <a:prstGeom prst="rect">
            <a:avLst/>
          </a:prstGeom>
          <a:solidFill>
            <a:srgbClr val="29B5E8"/>
          </a:solidFill>
          <a:ln w="12700">
            <a:solidFill>
              <a:srgbClr val="29B5E8"/>
            </a:solidFill>
            <a:prstDash val="solid"/>
          </a:ln>
        </p:spPr>
      </p:sp>
      <p:sp>
        <p:nvSpPr>
          <p:cNvPr id="13" name="Shape 11"/>
          <p:cNvSpPr/>
          <p:nvPr/>
        </p:nvSpPr>
        <p:spPr>
          <a:xfrm>
            <a:off x="480060" y="2743200"/>
            <a:ext cx="2697480" cy="2926080"/>
          </a:xfrm>
          <a:prstGeom prst="roundRect">
            <a:avLst>
              <a:gd name="adj" fmla="val 3390"/>
            </a:avLst>
          </a:prstGeom>
          <a:solidFill>
            <a:srgbClr val="FAFCFD"/>
          </a:solidFill>
          <a:ln w="12700">
            <a:solidFill>
              <a:srgbClr val="D9E2EC"/>
            </a:solidFill>
            <a:prstDash val="solid"/>
          </a:ln>
          <a:effectLst>
            <a:outerShdw blurRad="177800" dist="25400" dir="5400000" algn="bl" rotWithShape="0">
              <a:srgbClr val="0A2540">
                <a:alpha val="6000"/>
              </a:srgbClr>
            </a:outerShdw>
          </a:effectLst>
        </p:spPr>
      </p:sp>
      <p:sp>
        <p:nvSpPr>
          <p:cNvPr id="14" name="Shape 12"/>
          <p:cNvSpPr/>
          <p:nvPr/>
        </p:nvSpPr>
        <p:spPr>
          <a:xfrm>
            <a:off x="480060" y="2743200"/>
            <a:ext cx="2697480" cy="73152"/>
          </a:xfrm>
          <a:prstGeom prst="rect">
            <a:avLst/>
          </a:prstGeom>
          <a:solidFill>
            <a:srgbClr val="29B5E8"/>
          </a:solidFill>
          <a:ln w="12700">
            <a:solidFill>
              <a:srgbClr val="29B5E8"/>
            </a:solidFill>
            <a:prstDash val="solid"/>
          </a:ln>
        </p:spPr>
        <p:txBody>
          <a:bodyPr/>
          <a:lstStyle/>
          <a:p>
            <a:endParaRPr lang="en-US"/>
          </a:p>
        </p:txBody>
      </p:sp>
      <p:sp>
        <p:nvSpPr>
          <p:cNvPr id="15" name="Shape 13"/>
          <p:cNvSpPr/>
          <p:nvPr/>
        </p:nvSpPr>
        <p:spPr>
          <a:xfrm>
            <a:off x="1463040" y="3063240"/>
            <a:ext cx="731520" cy="731520"/>
          </a:xfrm>
          <a:prstGeom prst="ellipse">
            <a:avLst/>
          </a:prstGeom>
          <a:solidFill>
            <a:srgbClr val="FFFFFF"/>
          </a:solidFill>
          <a:ln w="38100">
            <a:solidFill>
              <a:srgbClr val="29B5E8"/>
            </a:solidFill>
            <a:prstDash val="solid"/>
          </a:ln>
        </p:spPr>
        <p:txBody>
          <a:bodyPr/>
          <a:lstStyle/>
          <a:p>
            <a:endParaRPr lang="en-US"/>
          </a:p>
        </p:txBody>
      </p:sp>
      <p:sp>
        <p:nvSpPr>
          <p:cNvPr id="16" name="Text 14"/>
          <p:cNvSpPr/>
          <p:nvPr/>
        </p:nvSpPr>
        <p:spPr>
          <a:xfrm>
            <a:off x="1463040" y="3063240"/>
            <a:ext cx="731520" cy="731520"/>
          </a:xfrm>
          <a:prstGeom prst="rect">
            <a:avLst/>
          </a:prstGeom>
          <a:noFill/>
          <a:ln/>
        </p:spPr>
        <p:txBody>
          <a:bodyPr wrap="square" lIns="0" tIns="0" rIns="0" bIns="0" rtlCol="0" anchor="ctr"/>
          <a:lstStyle/>
          <a:p>
            <a:pPr marL="0" indent="0" algn="ctr">
              <a:buNone/>
            </a:pPr>
            <a:r>
              <a:rPr lang="en-US" sz="1600" b="1">
                <a:solidFill>
                  <a:srgbClr val="0056D2"/>
                </a:solidFill>
              </a:rPr>
              <a:t>01</a:t>
            </a:r>
            <a:endParaRPr lang="en-US" sz="1600"/>
          </a:p>
        </p:txBody>
      </p:sp>
      <p:sp>
        <p:nvSpPr>
          <p:cNvPr id="17" name="Text 15"/>
          <p:cNvSpPr/>
          <p:nvPr/>
        </p:nvSpPr>
        <p:spPr>
          <a:xfrm>
            <a:off x="480060" y="3977640"/>
            <a:ext cx="2697480" cy="731520"/>
          </a:xfrm>
          <a:prstGeom prst="rect">
            <a:avLst/>
          </a:prstGeom>
          <a:noFill/>
          <a:ln/>
        </p:spPr>
        <p:txBody>
          <a:bodyPr wrap="square" lIns="0" tIns="0" rIns="0" bIns="0" rtlCol="0" anchor="ctr"/>
          <a:lstStyle/>
          <a:p>
            <a:pPr marL="0" indent="0" algn="ctr">
              <a:buNone/>
            </a:pPr>
            <a:r>
              <a:rPr lang="en-US" sz="4400" b="1">
                <a:solidFill>
                  <a:srgbClr val="29B5E8"/>
                </a:solidFill>
              </a:rPr>
              <a:t>⬆</a:t>
            </a:r>
            <a:endParaRPr lang="en-US" sz="4400"/>
          </a:p>
        </p:txBody>
      </p:sp>
      <p:sp>
        <p:nvSpPr>
          <p:cNvPr id="18" name="Text 16"/>
          <p:cNvSpPr/>
          <p:nvPr/>
        </p:nvSpPr>
        <p:spPr>
          <a:xfrm>
            <a:off x="662940" y="4663440"/>
            <a:ext cx="2331720" cy="365760"/>
          </a:xfrm>
          <a:prstGeom prst="rect">
            <a:avLst/>
          </a:prstGeom>
          <a:noFill/>
          <a:ln/>
        </p:spPr>
        <p:txBody>
          <a:bodyPr wrap="square" lIns="0" tIns="0" rIns="0" bIns="0" rtlCol="0" anchor="ctr"/>
          <a:lstStyle/>
          <a:p>
            <a:pPr marL="0" indent="0" algn="ctr">
              <a:buNone/>
            </a:pPr>
            <a:r>
              <a:rPr lang="en-US" sz="1500" b="1">
                <a:solidFill>
                  <a:srgbClr val="0A2540"/>
                </a:solidFill>
              </a:rPr>
              <a:t>Secure Upload</a:t>
            </a:r>
            <a:endParaRPr lang="en-US" sz="1500"/>
          </a:p>
        </p:txBody>
      </p:sp>
      <p:sp>
        <p:nvSpPr>
          <p:cNvPr id="19" name="Text 17"/>
          <p:cNvSpPr/>
          <p:nvPr/>
        </p:nvSpPr>
        <p:spPr>
          <a:xfrm>
            <a:off x="662940" y="5029200"/>
            <a:ext cx="2331720" cy="594360"/>
          </a:xfrm>
          <a:prstGeom prst="rect">
            <a:avLst/>
          </a:prstGeom>
          <a:noFill/>
          <a:ln/>
        </p:spPr>
        <p:txBody>
          <a:bodyPr wrap="square" lIns="0" tIns="0" rIns="0" bIns="0" rtlCol="0" anchor="ctr"/>
          <a:lstStyle/>
          <a:p>
            <a:pPr marL="0" indent="0" algn="ctr">
              <a:buNone/>
            </a:pPr>
            <a:r>
              <a:rPr lang="en-US" sz="1000">
                <a:solidFill>
                  <a:srgbClr val="5C6F84"/>
                </a:solidFill>
              </a:rPr>
              <a:t>Upload an internal .mp4 video file directly through the web portal.</a:t>
            </a:r>
            <a:endParaRPr lang="en-US" sz="1000"/>
          </a:p>
        </p:txBody>
      </p:sp>
      <p:sp>
        <p:nvSpPr>
          <p:cNvPr id="20" name="Text 18"/>
          <p:cNvSpPr/>
          <p:nvPr/>
        </p:nvSpPr>
        <p:spPr>
          <a:xfrm>
            <a:off x="3182112" y="3977640"/>
            <a:ext cx="137160" cy="457200"/>
          </a:xfrm>
          <a:prstGeom prst="rect">
            <a:avLst/>
          </a:prstGeom>
          <a:noFill/>
          <a:ln/>
        </p:spPr>
        <p:txBody>
          <a:bodyPr wrap="square" lIns="0" tIns="0" rIns="0" bIns="0" rtlCol="0" anchor="ctr"/>
          <a:lstStyle/>
          <a:p>
            <a:pPr marL="0" indent="0" algn="ctr">
              <a:buNone/>
            </a:pPr>
            <a:r>
              <a:rPr lang="en-US" sz="1400" b="1">
                <a:solidFill>
                  <a:srgbClr val="29B5E8"/>
                </a:solidFill>
              </a:rPr>
              <a:t>▶</a:t>
            </a:r>
            <a:endParaRPr lang="en-US" sz="1400"/>
          </a:p>
        </p:txBody>
      </p:sp>
      <p:sp>
        <p:nvSpPr>
          <p:cNvPr id="21" name="Shape 19"/>
          <p:cNvSpPr/>
          <p:nvPr/>
        </p:nvSpPr>
        <p:spPr>
          <a:xfrm>
            <a:off x="3314700" y="2743200"/>
            <a:ext cx="2697480" cy="2926080"/>
          </a:xfrm>
          <a:prstGeom prst="roundRect">
            <a:avLst>
              <a:gd name="adj" fmla="val 3390"/>
            </a:avLst>
          </a:prstGeom>
          <a:solidFill>
            <a:srgbClr val="E6F6FC"/>
          </a:solidFill>
          <a:ln w="12700">
            <a:solidFill>
              <a:srgbClr val="D9E2EC"/>
            </a:solidFill>
            <a:prstDash val="solid"/>
          </a:ln>
          <a:effectLst>
            <a:outerShdw blurRad="177800" dist="25400" dir="5400000" algn="bl" rotWithShape="0">
              <a:srgbClr val="0A2540">
                <a:alpha val="6000"/>
              </a:srgbClr>
            </a:outerShdw>
          </a:effectLst>
        </p:spPr>
        <p:txBody>
          <a:bodyPr/>
          <a:lstStyle/>
          <a:p>
            <a:endParaRPr lang="en-US"/>
          </a:p>
        </p:txBody>
      </p:sp>
      <p:sp>
        <p:nvSpPr>
          <p:cNvPr id="22" name="Shape 20"/>
          <p:cNvSpPr/>
          <p:nvPr/>
        </p:nvSpPr>
        <p:spPr>
          <a:xfrm>
            <a:off x="3314700" y="2743200"/>
            <a:ext cx="2697480" cy="73152"/>
          </a:xfrm>
          <a:prstGeom prst="rect">
            <a:avLst/>
          </a:prstGeom>
          <a:solidFill>
            <a:srgbClr val="29B5E8"/>
          </a:solidFill>
          <a:ln w="12700">
            <a:solidFill>
              <a:srgbClr val="29B5E8"/>
            </a:solidFill>
            <a:prstDash val="solid"/>
          </a:ln>
        </p:spPr>
        <p:txBody>
          <a:bodyPr/>
          <a:lstStyle/>
          <a:p>
            <a:endParaRPr lang="en-US"/>
          </a:p>
        </p:txBody>
      </p:sp>
      <p:sp>
        <p:nvSpPr>
          <p:cNvPr id="23" name="Shape 21"/>
          <p:cNvSpPr/>
          <p:nvPr/>
        </p:nvSpPr>
        <p:spPr>
          <a:xfrm>
            <a:off x="4297680" y="3063240"/>
            <a:ext cx="731520" cy="731520"/>
          </a:xfrm>
          <a:prstGeom prst="ellipse">
            <a:avLst/>
          </a:prstGeom>
          <a:solidFill>
            <a:srgbClr val="FFFFFF"/>
          </a:solidFill>
          <a:ln w="38100">
            <a:solidFill>
              <a:srgbClr val="29B5E8"/>
            </a:solidFill>
            <a:prstDash val="solid"/>
          </a:ln>
        </p:spPr>
        <p:txBody>
          <a:bodyPr/>
          <a:lstStyle/>
          <a:p>
            <a:endParaRPr lang="en-US"/>
          </a:p>
        </p:txBody>
      </p:sp>
      <p:sp>
        <p:nvSpPr>
          <p:cNvPr id="24" name="Text 22"/>
          <p:cNvSpPr/>
          <p:nvPr/>
        </p:nvSpPr>
        <p:spPr>
          <a:xfrm>
            <a:off x="4297680" y="3063240"/>
            <a:ext cx="731520" cy="731520"/>
          </a:xfrm>
          <a:prstGeom prst="rect">
            <a:avLst/>
          </a:prstGeom>
          <a:noFill/>
          <a:ln/>
        </p:spPr>
        <p:txBody>
          <a:bodyPr wrap="square" lIns="0" tIns="0" rIns="0" bIns="0" rtlCol="0" anchor="ctr"/>
          <a:lstStyle/>
          <a:p>
            <a:pPr marL="0" indent="0" algn="ctr">
              <a:buNone/>
            </a:pPr>
            <a:r>
              <a:rPr lang="en-US" sz="1600" b="1">
                <a:solidFill>
                  <a:srgbClr val="0056D2"/>
                </a:solidFill>
              </a:rPr>
              <a:t>02</a:t>
            </a:r>
            <a:endParaRPr lang="en-US" sz="1600"/>
          </a:p>
        </p:txBody>
      </p:sp>
      <p:sp>
        <p:nvSpPr>
          <p:cNvPr id="25" name="Text 23"/>
          <p:cNvSpPr/>
          <p:nvPr/>
        </p:nvSpPr>
        <p:spPr>
          <a:xfrm>
            <a:off x="3314700" y="3977640"/>
            <a:ext cx="2697480" cy="731520"/>
          </a:xfrm>
          <a:prstGeom prst="rect">
            <a:avLst/>
          </a:prstGeom>
          <a:noFill/>
          <a:ln/>
        </p:spPr>
        <p:txBody>
          <a:bodyPr wrap="square" lIns="0" tIns="0" rIns="0" bIns="0" rtlCol="0" anchor="ctr"/>
          <a:lstStyle/>
          <a:p>
            <a:pPr marL="0" indent="0" algn="ctr">
              <a:buNone/>
            </a:pPr>
            <a:r>
              <a:rPr lang="en-US" sz="4400" b="1">
                <a:solidFill>
                  <a:srgbClr val="29B5E8"/>
                </a:solidFill>
              </a:rPr>
              <a:t>♪</a:t>
            </a:r>
            <a:endParaRPr lang="en-US" sz="4400"/>
          </a:p>
        </p:txBody>
      </p:sp>
      <p:sp>
        <p:nvSpPr>
          <p:cNvPr id="26" name="Text 24"/>
          <p:cNvSpPr/>
          <p:nvPr/>
        </p:nvSpPr>
        <p:spPr>
          <a:xfrm>
            <a:off x="3497580" y="4663440"/>
            <a:ext cx="2331720" cy="365760"/>
          </a:xfrm>
          <a:prstGeom prst="rect">
            <a:avLst/>
          </a:prstGeom>
          <a:noFill/>
          <a:ln/>
        </p:spPr>
        <p:txBody>
          <a:bodyPr wrap="square" lIns="0" tIns="0" rIns="0" bIns="0" rtlCol="0" anchor="ctr"/>
          <a:lstStyle/>
          <a:p>
            <a:pPr marL="0" indent="0" algn="ctr">
              <a:buNone/>
            </a:pPr>
            <a:r>
              <a:rPr lang="en-US" sz="1500" b="1">
                <a:solidFill>
                  <a:srgbClr val="0A2540"/>
                </a:solidFill>
              </a:rPr>
              <a:t>Audio Isolation</a:t>
            </a:r>
            <a:endParaRPr lang="en-US" sz="1500"/>
          </a:p>
        </p:txBody>
      </p:sp>
      <p:sp>
        <p:nvSpPr>
          <p:cNvPr id="27" name="Text 25"/>
          <p:cNvSpPr/>
          <p:nvPr/>
        </p:nvSpPr>
        <p:spPr>
          <a:xfrm>
            <a:off x="3497580" y="5029200"/>
            <a:ext cx="2331720" cy="594360"/>
          </a:xfrm>
          <a:prstGeom prst="rect">
            <a:avLst/>
          </a:prstGeom>
          <a:noFill/>
          <a:ln/>
        </p:spPr>
        <p:txBody>
          <a:bodyPr wrap="square" lIns="0" tIns="0" rIns="0" bIns="0" rtlCol="0" anchor="ctr"/>
          <a:lstStyle/>
          <a:p>
            <a:pPr marL="0" indent="0" algn="ctr">
              <a:buNone/>
            </a:pPr>
            <a:r>
              <a:rPr lang="en-US" sz="1000">
                <a:solidFill>
                  <a:srgbClr val="5C6F84"/>
                </a:solidFill>
              </a:rPr>
              <a:t>System securely writes the file and instantly isolates the audio track.</a:t>
            </a:r>
            <a:endParaRPr lang="en-US" sz="1000"/>
          </a:p>
        </p:txBody>
      </p:sp>
      <p:sp>
        <p:nvSpPr>
          <p:cNvPr id="28" name="Text 26"/>
          <p:cNvSpPr/>
          <p:nvPr/>
        </p:nvSpPr>
        <p:spPr>
          <a:xfrm>
            <a:off x="6016752" y="3977640"/>
            <a:ext cx="137160" cy="457200"/>
          </a:xfrm>
          <a:prstGeom prst="rect">
            <a:avLst/>
          </a:prstGeom>
          <a:noFill/>
          <a:ln/>
        </p:spPr>
        <p:txBody>
          <a:bodyPr wrap="square" lIns="0" tIns="0" rIns="0" bIns="0" rtlCol="0" anchor="ctr"/>
          <a:lstStyle/>
          <a:p>
            <a:pPr marL="0" indent="0" algn="ctr">
              <a:buNone/>
            </a:pPr>
            <a:r>
              <a:rPr lang="en-US" sz="1400" b="1">
                <a:solidFill>
                  <a:srgbClr val="29B5E8"/>
                </a:solidFill>
              </a:rPr>
              <a:t>▶</a:t>
            </a:r>
            <a:endParaRPr lang="en-US" sz="1400"/>
          </a:p>
        </p:txBody>
      </p:sp>
      <p:sp>
        <p:nvSpPr>
          <p:cNvPr id="29" name="Shape 27"/>
          <p:cNvSpPr/>
          <p:nvPr/>
        </p:nvSpPr>
        <p:spPr>
          <a:xfrm>
            <a:off x="6149340" y="2743200"/>
            <a:ext cx="2697480" cy="2926080"/>
          </a:xfrm>
          <a:prstGeom prst="roundRect">
            <a:avLst>
              <a:gd name="adj" fmla="val 3390"/>
            </a:avLst>
          </a:prstGeom>
          <a:solidFill>
            <a:srgbClr val="FAFCFD"/>
          </a:solidFill>
          <a:ln w="12700">
            <a:solidFill>
              <a:srgbClr val="D9E2EC"/>
            </a:solidFill>
            <a:prstDash val="solid"/>
          </a:ln>
          <a:effectLst>
            <a:outerShdw blurRad="177800" dist="25400" dir="5400000" algn="bl" rotWithShape="0">
              <a:srgbClr val="0A2540">
                <a:alpha val="6000"/>
              </a:srgbClr>
            </a:outerShdw>
          </a:effectLst>
        </p:spPr>
        <p:txBody>
          <a:bodyPr/>
          <a:lstStyle/>
          <a:p>
            <a:endParaRPr lang="en-US"/>
          </a:p>
        </p:txBody>
      </p:sp>
      <p:sp>
        <p:nvSpPr>
          <p:cNvPr id="30" name="Shape 28"/>
          <p:cNvSpPr/>
          <p:nvPr/>
        </p:nvSpPr>
        <p:spPr>
          <a:xfrm>
            <a:off x="6149340" y="2743200"/>
            <a:ext cx="2697480" cy="73152"/>
          </a:xfrm>
          <a:prstGeom prst="rect">
            <a:avLst/>
          </a:prstGeom>
          <a:solidFill>
            <a:srgbClr val="29B5E8"/>
          </a:solidFill>
          <a:ln w="12700">
            <a:solidFill>
              <a:srgbClr val="29B5E8"/>
            </a:solidFill>
            <a:prstDash val="solid"/>
          </a:ln>
        </p:spPr>
        <p:txBody>
          <a:bodyPr/>
          <a:lstStyle/>
          <a:p>
            <a:endParaRPr lang="en-US"/>
          </a:p>
        </p:txBody>
      </p:sp>
      <p:sp>
        <p:nvSpPr>
          <p:cNvPr id="31" name="Shape 29"/>
          <p:cNvSpPr/>
          <p:nvPr/>
        </p:nvSpPr>
        <p:spPr>
          <a:xfrm>
            <a:off x="7132320" y="3063240"/>
            <a:ext cx="731520" cy="731520"/>
          </a:xfrm>
          <a:prstGeom prst="ellipse">
            <a:avLst/>
          </a:prstGeom>
          <a:solidFill>
            <a:srgbClr val="FFFFFF"/>
          </a:solidFill>
          <a:ln w="38100">
            <a:solidFill>
              <a:srgbClr val="29B5E8"/>
            </a:solidFill>
            <a:prstDash val="solid"/>
          </a:ln>
        </p:spPr>
        <p:txBody>
          <a:bodyPr/>
          <a:lstStyle/>
          <a:p>
            <a:endParaRPr lang="en-US"/>
          </a:p>
        </p:txBody>
      </p:sp>
      <p:sp>
        <p:nvSpPr>
          <p:cNvPr id="32" name="Text 30"/>
          <p:cNvSpPr/>
          <p:nvPr/>
        </p:nvSpPr>
        <p:spPr>
          <a:xfrm>
            <a:off x="7132320" y="3063240"/>
            <a:ext cx="731520" cy="731520"/>
          </a:xfrm>
          <a:prstGeom prst="rect">
            <a:avLst/>
          </a:prstGeom>
          <a:noFill/>
          <a:ln/>
        </p:spPr>
        <p:txBody>
          <a:bodyPr wrap="square" lIns="0" tIns="0" rIns="0" bIns="0" rtlCol="0" anchor="ctr"/>
          <a:lstStyle/>
          <a:p>
            <a:pPr marL="0" indent="0" algn="ctr">
              <a:buNone/>
            </a:pPr>
            <a:r>
              <a:rPr lang="en-US" sz="1600" b="1">
                <a:solidFill>
                  <a:srgbClr val="0056D2"/>
                </a:solidFill>
              </a:rPr>
              <a:t>03</a:t>
            </a:r>
            <a:endParaRPr lang="en-US" sz="1600"/>
          </a:p>
        </p:txBody>
      </p:sp>
      <p:sp>
        <p:nvSpPr>
          <p:cNvPr id="33" name="Text 31"/>
          <p:cNvSpPr/>
          <p:nvPr/>
        </p:nvSpPr>
        <p:spPr>
          <a:xfrm>
            <a:off x="6149340" y="3977640"/>
            <a:ext cx="2697480" cy="731520"/>
          </a:xfrm>
          <a:prstGeom prst="rect">
            <a:avLst/>
          </a:prstGeom>
          <a:noFill/>
          <a:ln/>
        </p:spPr>
        <p:txBody>
          <a:bodyPr wrap="square" lIns="0" tIns="0" rIns="0" bIns="0" rtlCol="0" anchor="ctr"/>
          <a:lstStyle/>
          <a:p>
            <a:pPr marL="0" indent="0" algn="ctr">
              <a:buNone/>
            </a:pPr>
            <a:r>
              <a:rPr lang="en-US" sz="4400" b="1">
                <a:solidFill>
                  <a:srgbClr val="29B5E8"/>
                </a:solidFill>
              </a:rPr>
              <a:t>✦</a:t>
            </a:r>
            <a:endParaRPr lang="en-US" sz="4400"/>
          </a:p>
        </p:txBody>
      </p:sp>
      <p:sp>
        <p:nvSpPr>
          <p:cNvPr id="34" name="Text 32"/>
          <p:cNvSpPr/>
          <p:nvPr/>
        </p:nvSpPr>
        <p:spPr>
          <a:xfrm>
            <a:off x="6332220" y="4663440"/>
            <a:ext cx="2331720" cy="365760"/>
          </a:xfrm>
          <a:prstGeom prst="rect">
            <a:avLst/>
          </a:prstGeom>
          <a:noFill/>
          <a:ln/>
        </p:spPr>
        <p:txBody>
          <a:bodyPr wrap="square" lIns="0" tIns="0" rIns="0" bIns="0" rtlCol="0" anchor="ctr"/>
          <a:lstStyle/>
          <a:p>
            <a:pPr marL="0" indent="0" algn="ctr">
              <a:buNone/>
            </a:pPr>
            <a:r>
              <a:rPr lang="en-US" sz="1500" b="1">
                <a:solidFill>
                  <a:srgbClr val="0A2540"/>
                </a:solidFill>
              </a:rPr>
              <a:t>Transcription Mapping</a:t>
            </a:r>
            <a:endParaRPr lang="en-US" sz="1500"/>
          </a:p>
        </p:txBody>
      </p:sp>
      <p:sp>
        <p:nvSpPr>
          <p:cNvPr id="35" name="Text 33"/>
          <p:cNvSpPr/>
          <p:nvPr/>
        </p:nvSpPr>
        <p:spPr>
          <a:xfrm>
            <a:off x="6332220" y="5029200"/>
            <a:ext cx="2331720" cy="594360"/>
          </a:xfrm>
          <a:prstGeom prst="rect">
            <a:avLst/>
          </a:prstGeom>
          <a:noFill/>
          <a:ln/>
        </p:spPr>
        <p:txBody>
          <a:bodyPr wrap="square" lIns="0" tIns="0" rIns="0" bIns="0" rtlCol="0" anchor="ctr"/>
          <a:lstStyle/>
          <a:p>
            <a:pPr marL="0" indent="0" algn="ctr">
              <a:buNone/>
            </a:pPr>
            <a:r>
              <a:rPr lang="en-US" sz="1000">
                <a:solidFill>
                  <a:srgbClr val="5C6F84"/>
                </a:solidFill>
              </a:rPr>
              <a:t>Engines map exact timestamp coordinates for every word spoken.</a:t>
            </a:r>
            <a:endParaRPr lang="en-US" sz="1000"/>
          </a:p>
        </p:txBody>
      </p:sp>
      <p:sp>
        <p:nvSpPr>
          <p:cNvPr id="36" name="Text 34"/>
          <p:cNvSpPr/>
          <p:nvPr/>
        </p:nvSpPr>
        <p:spPr>
          <a:xfrm>
            <a:off x="8851392" y="3977640"/>
            <a:ext cx="137160" cy="457200"/>
          </a:xfrm>
          <a:prstGeom prst="rect">
            <a:avLst/>
          </a:prstGeom>
          <a:noFill/>
          <a:ln/>
        </p:spPr>
        <p:txBody>
          <a:bodyPr wrap="square" lIns="0" tIns="0" rIns="0" bIns="0" rtlCol="0" anchor="ctr"/>
          <a:lstStyle/>
          <a:p>
            <a:pPr marL="0" indent="0" algn="ctr">
              <a:buNone/>
            </a:pPr>
            <a:r>
              <a:rPr lang="en-US" sz="1400" b="1">
                <a:solidFill>
                  <a:srgbClr val="29B5E8"/>
                </a:solidFill>
              </a:rPr>
              <a:t>▶</a:t>
            </a:r>
            <a:endParaRPr lang="en-US" sz="1400"/>
          </a:p>
        </p:txBody>
      </p:sp>
      <p:sp>
        <p:nvSpPr>
          <p:cNvPr id="37" name="Shape 35"/>
          <p:cNvSpPr/>
          <p:nvPr/>
        </p:nvSpPr>
        <p:spPr>
          <a:xfrm>
            <a:off x="8983980" y="2743200"/>
            <a:ext cx="2697480" cy="2926080"/>
          </a:xfrm>
          <a:prstGeom prst="roundRect">
            <a:avLst>
              <a:gd name="adj" fmla="val 3390"/>
            </a:avLst>
          </a:prstGeom>
          <a:solidFill>
            <a:srgbClr val="E6F6FC"/>
          </a:solidFill>
          <a:ln w="12700">
            <a:solidFill>
              <a:srgbClr val="D9E2EC"/>
            </a:solidFill>
            <a:prstDash val="solid"/>
          </a:ln>
          <a:effectLst>
            <a:outerShdw blurRad="177800" dist="25400" dir="5400000" algn="bl" rotWithShape="0">
              <a:srgbClr val="0A2540">
                <a:alpha val="6000"/>
              </a:srgbClr>
            </a:outerShdw>
          </a:effectLst>
        </p:spPr>
      </p:sp>
      <p:sp>
        <p:nvSpPr>
          <p:cNvPr id="38" name="Shape 36"/>
          <p:cNvSpPr/>
          <p:nvPr/>
        </p:nvSpPr>
        <p:spPr>
          <a:xfrm>
            <a:off x="8983980" y="2743200"/>
            <a:ext cx="2697480" cy="73152"/>
          </a:xfrm>
          <a:prstGeom prst="rect">
            <a:avLst/>
          </a:prstGeom>
          <a:solidFill>
            <a:srgbClr val="29B5E8"/>
          </a:solidFill>
          <a:ln w="12700">
            <a:solidFill>
              <a:srgbClr val="29B5E8"/>
            </a:solidFill>
            <a:prstDash val="solid"/>
          </a:ln>
        </p:spPr>
      </p:sp>
      <p:sp>
        <p:nvSpPr>
          <p:cNvPr id="39" name="Shape 37"/>
          <p:cNvSpPr/>
          <p:nvPr/>
        </p:nvSpPr>
        <p:spPr>
          <a:xfrm>
            <a:off x="9966960" y="3063240"/>
            <a:ext cx="731520" cy="731520"/>
          </a:xfrm>
          <a:prstGeom prst="ellipse">
            <a:avLst/>
          </a:prstGeom>
          <a:solidFill>
            <a:srgbClr val="FFFFFF"/>
          </a:solidFill>
          <a:ln w="38100">
            <a:solidFill>
              <a:srgbClr val="29B5E8"/>
            </a:solidFill>
            <a:prstDash val="solid"/>
          </a:ln>
        </p:spPr>
      </p:sp>
      <p:sp>
        <p:nvSpPr>
          <p:cNvPr id="40" name="Text 38"/>
          <p:cNvSpPr/>
          <p:nvPr/>
        </p:nvSpPr>
        <p:spPr>
          <a:xfrm>
            <a:off x="9966960" y="3063240"/>
            <a:ext cx="731520" cy="731520"/>
          </a:xfrm>
          <a:prstGeom prst="rect">
            <a:avLst/>
          </a:prstGeom>
          <a:noFill/>
          <a:ln/>
        </p:spPr>
        <p:txBody>
          <a:bodyPr wrap="square" lIns="0" tIns="0" rIns="0" bIns="0" rtlCol="0" anchor="ctr"/>
          <a:lstStyle/>
          <a:p>
            <a:pPr marL="0" indent="0" algn="ctr">
              <a:buNone/>
            </a:pPr>
            <a:r>
              <a:rPr lang="en-US" sz="1600" b="1">
                <a:solidFill>
                  <a:srgbClr val="0056D2"/>
                </a:solidFill>
              </a:rPr>
              <a:t>04</a:t>
            </a:r>
            <a:endParaRPr lang="en-US" sz="1600"/>
          </a:p>
        </p:txBody>
      </p:sp>
      <p:sp>
        <p:nvSpPr>
          <p:cNvPr id="41" name="Text 39"/>
          <p:cNvSpPr/>
          <p:nvPr/>
        </p:nvSpPr>
        <p:spPr>
          <a:xfrm>
            <a:off x="8983980" y="3977640"/>
            <a:ext cx="2697480" cy="731520"/>
          </a:xfrm>
          <a:prstGeom prst="rect">
            <a:avLst/>
          </a:prstGeom>
          <a:noFill/>
          <a:ln/>
        </p:spPr>
        <p:txBody>
          <a:bodyPr wrap="square" lIns="0" tIns="0" rIns="0" bIns="0" rtlCol="0" anchor="ctr"/>
          <a:lstStyle/>
          <a:p>
            <a:pPr marL="0" indent="0" algn="ctr">
              <a:buNone/>
            </a:pPr>
            <a:r>
              <a:rPr lang="en-US" sz="4400" b="1">
                <a:solidFill>
                  <a:srgbClr val="29B5E8"/>
                </a:solidFill>
              </a:rPr>
              <a:t>[   ]</a:t>
            </a:r>
            <a:endParaRPr lang="en-US" sz="4400"/>
          </a:p>
        </p:txBody>
      </p:sp>
      <p:sp>
        <p:nvSpPr>
          <p:cNvPr id="42" name="Text 40"/>
          <p:cNvSpPr/>
          <p:nvPr/>
        </p:nvSpPr>
        <p:spPr>
          <a:xfrm>
            <a:off x="9166860" y="4663440"/>
            <a:ext cx="2331720" cy="365760"/>
          </a:xfrm>
          <a:prstGeom prst="rect">
            <a:avLst/>
          </a:prstGeom>
          <a:noFill/>
          <a:ln/>
        </p:spPr>
        <p:txBody>
          <a:bodyPr wrap="square" lIns="0" tIns="0" rIns="0" bIns="0" rtlCol="0" anchor="ctr"/>
          <a:lstStyle/>
          <a:p>
            <a:pPr algn="ctr"/>
            <a:r>
              <a:rPr lang="en-US" sz="1500" b="1">
                <a:solidFill>
                  <a:srgbClr val="0A2540"/>
                </a:solidFill>
                <a:ea typeface="Calibri"/>
                <a:cs typeface="Calibri"/>
              </a:rPr>
              <a:t>Contextual Encoding</a:t>
            </a:r>
            <a:endParaRPr lang="en-US" sz="1500" b="1" dirty="0">
              <a:solidFill>
                <a:srgbClr val="0A2540"/>
              </a:solidFill>
              <a:ea typeface="Calibri"/>
              <a:cs typeface="Calibri"/>
            </a:endParaRPr>
          </a:p>
        </p:txBody>
      </p:sp>
      <p:sp>
        <p:nvSpPr>
          <p:cNvPr id="43" name="Text 41"/>
          <p:cNvSpPr/>
          <p:nvPr/>
        </p:nvSpPr>
        <p:spPr>
          <a:xfrm>
            <a:off x="9166860" y="5029200"/>
            <a:ext cx="2331720" cy="594360"/>
          </a:xfrm>
          <a:prstGeom prst="rect">
            <a:avLst/>
          </a:prstGeom>
          <a:noFill/>
          <a:ln/>
        </p:spPr>
        <p:txBody>
          <a:bodyPr wrap="square" lIns="0" tIns="0" rIns="0" bIns="0" rtlCol="0" anchor="ctr"/>
          <a:lstStyle/>
          <a:p>
            <a:pPr algn="ctr"/>
            <a:r>
              <a:rPr lang="en-US" sz="1000" dirty="0">
                <a:solidFill>
                  <a:srgbClr val="5C6F84"/>
                </a:solidFill>
                <a:ea typeface="+mn-lt"/>
                <a:cs typeface="+mn-lt"/>
              </a:rPr>
              <a:t>Text data maps are instantly converted into </a:t>
            </a:r>
            <a:r>
              <a:rPr lang="en-US" sz="1000">
                <a:solidFill>
                  <a:srgbClr val="5C6F84"/>
                </a:solidFill>
                <a:ea typeface="+mn-lt"/>
                <a:cs typeface="+mn-lt"/>
              </a:rPr>
              <a:t>deep mathematical vector embeddings.</a:t>
            </a:r>
            <a:endParaRPr lang="en-US">
              <a:ea typeface="+mn-lt"/>
              <a:cs typeface="+mn-lt"/>
            </a:endParaRPr>
          </a:p>
        </p:txBody>
      </p:sp>
      <p:sp>
        <p:nvSpPr>
          <p:cNvPr id="44" name="Shape 42"/>
          <p:cNvSpPr/>
          <p:nvPr/>
        </p:nvSpPr>
        <p:spPr>
          <a:xfrm>
            <a:off x="4141670" y="5897880"/>
            <a:ext cx="4369468" cy="447174"/>
          </a:xfrm>
          <a:prstGeom prst="roundRect">
            <a:avLst>
              <a:gd name="adj" fmla="val 10000"/>
            </a:avLst>
          </a:prstGeom>
          <a:solidFill>
            <a:srgbClr val="E7F8F0"/>
          </a:solidFill>
          <a:ln w="12700">
            <a:solidFill>
              <a:srgbClr val="13B981"/>
            </a:solidFill>
            <a:prstDash val="solid"/>
          </a:ln>
        </p:spPr>
      </p:sp>
      <p:sp>
        <p:nvSpPr>
          <p:cNvPr id="45" name="Shape 43"/>
          <p:cNvSpPr/>
          <p:nvPr/>
        </p:nvSpPr>
        <p:spPr>
          <a:xfrm>
            <a:off x="4434840" y="6007608"/>
            <a:ext cx="228600" cy="228600"/>
          </a:xfrm>
          <a:prstGeom prst="ellipse">
            <a:avLst/>
          </a:prstGeom>
          <a:solidFill>
            <a:srgbClr val="13B981"/>
          </a:solidFill>
          <a:ln w="12700">
            <a:solidFill>
              <a:srgbClr val="13B981"/>
            </a:solidFill>
            <a:prstDash val="solid"/>
          </a:ln>
        </p:spPr>
      </p:sp>
      <p:sp>
        <p:nvSpPr>
          <p:cNvPr id="46" name="Text 44"/>
          <p:cNvSpPr/>
          <p:nvPr/>
        </p:nvSpPr>
        <p:spPr>
          <a:xfrm>
            <a:off x="4754880" y="5897880"/>
            <a:ext cx="3790749" cy="447174"/>
          </a:xfrm>
          <a:prstGeom prst="rect">
            <a:avLst/>
          </a:prstGeom>
          <a:noFill/>
          <a:ln/>
        </p:spPr>
        <p:txBody>
          <a:bodyPr wrap="square" lIns="0" tIns="0" rIns="0" bIns="0" rtlCol="0" anchor="ctr"/>
          <a:lstStyle/>
          <a:p>
            <a:pPr marL="0" indent="0">
              <a:buNone/>
            </a:pPr>
            <a:r>
              <a:rPr lang="en-US" sz="1100" b="1" kern="0" spc="300">
                <a:solidFill>
                  <a:srgbClr val="13B981"/>
                </a:solidFill>
              </a:rPr>
              <a:t>ASSET INDEXED — READY TO SEARCH</a:t>
            </a:r>
            <a:endParaRPr lang="en-US" sz="11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54864"/>
          </a:xfrm>
          <a:prstGeom prst="rect">
            <a:avLst/>
          </a:prstGeom>
          <a:solidFill>
            <a:srgbClr val="29B5E8"/>
          </a:solidFill>
          <a:ln w="12700">
            <a:solidFill>
              <a:srgbClr val="29B5E8"/>
            </a:solidFill>
            <a:prstDash val="solid"/>
          </a:ln>
        </p:spPr>
      </p:sp>
      <p:sp>
        <p:nvSpPr>
          <p:cNvPr id="6" name="Shape 4"/>
          <p:cNvSpPr/>
          <p:nvPr/>
        </p:nvSpPr>
        <p:spPr>
          <a:xfrm>
            <a:off x="502920" y="6400800"/>
            <a:ext cx="11155680" cy="0"/>
          </a:xfrm>
          <a:prstGeom prst="line">
            <a:avLst/>
          </a:prstGeom>
          <a:noFill/>
          <a:ln w="12700">
            <a:solidFill>
              <a:srgbClr val="D9E2EC"/>
            </a:solidFill>
            <a:prstDash val="solid"/>
          </a:ln>
        </p:spPr>
        <p:txBody>
          <a:bodyPr/>
          <a:lstStyle/>
          <a:p>
            <a:endParaRPr lang="en-US"/>
          </a:p>
        </p:txBody>
      </p:sp>
      <p:sp>
        <p:nvSpPr>
          <p:cNvPr id="9" name="Text 7"/>
          <p:cNvSpPr/>
          <p:nvPr/>
        </p:nvSpPr>
        <p:spPr>
          <a:xfrm>
            <a:off x="502920" y="377391"/>
            <a:ext cx="7315200" cy="274320"/>
          </a:xfrm>
          <a:prstGeom prst="rect">
            <a:avLst/>
          </a:prstGeom>
          <a:noFill/>
          <a:ln/>
        </p:spPr>
        <p:txBody>
          <a:bodyPr wrap="square" lIns="0" tIns="0" rIns="0" bIns="0" rtlCol="0" anchor="ctr"/>
          <a:lstStyle/>
          <a:p>
            <a:pPr marL="0" indent="0">
              <a:buNone/>
            </a:pPr>
            <a:r>
              <a:rPr lang="en-US" sz="1600" b="1" kern="0" spc="400">
                <a:solidFill>
                  <a:srgbClr val="29B5E8"/>
                </a:solidFill>
              </a:rPr>
              <a:t>05 — SNOWFLAKE</a:t>
            </a:r>
            <a:endParaRPr lang="en-US" sz="1600">
              <a:ea typeface="Calibri"/>
              <a:cs typeface="Calibri"/>
            </a:endParaRPr>
          </a:p>
        </p:txBody>
      </p:sp>
      <p:sp>
        <p:nvSpPr>
          <p:cNvPr id="10" name="Text 8"/>
          <p:cNvSpPr/>
          <p:nvPr/>
        </p:nvSpPr>
        <p:spPr>
          <a:xfrm>
            <a:off x="502920" y="1143000"/>
            <a:ext cx="11155680" cy="777240"/>
          </a:xfrm>
          <a:prstGeom prst="rect">
            <a:avLst/>
          </a:prstGeom>
          <a:noFill/>
          <a:ln/>
        </p:spPr>
        <p:txBody>
          <a:bodyPr wrap="square" lIns="0" tIns="0" rIns="0" bIns="0" rtlCol="0" anchor="ctr"/>
          <a:lstStyle/>
          <a:p>
            <a:pPr marL="0" indent="0">
              <a:buNone/>
            </a:pPr>
            <a:r>
              <a:rPr lang="en-US" sz="3200" b="1">
                <a:solidFill>
                  <a:srgbClr val="0A2540"/>
                </a:solidFill>
                <a:latin typeface="Calibri"/>
                <a:ea typeface="Calibri"/>
                <a:cs typeface="Calibri"/>
              </a:rPr>
              <a:t>The Snowflake Advantage</a:t>
            </a:r>
            <a:endParaRPr lang="en-US" sz="3200">
              <a:latin typeface="Calibri"/>
              <a:ea typeface="Calibri"/>
              <a:cs typeface="Calibri"/>
            </a:endParaRPr>
          </a:p>
        </p:txBody>
      </p:sp>
      <p:sp>
        <p:nvSpPr>
          <p:cNvPr id="11" name="Text 9"/>
          <p:cNvSpPr/>
          <p:nvPr/>
        </p:nvSpPr>
        <p:spPr>
          <a:xfrm>
            <a:off x="502920" y="1874520"/>
            <a:ext cx="11155680" cy="457200"/>
          </a:xfrm>
          <a:prstGeom prst="rect">
            <a:avLst/>
          </a:prstGeom>
          <a:noFill/>
          <a:ln/>
        </p:spPr>
        <p:txBody>
          <a:bodyPr wrap="square" lIns="0" tIns="0" rIns="0" bIns="0" rtlCol="0" anchor="ctr"/>
          <a:lstStyle/>
          <a:p>
            <a:r>
              <a:rPr lang="en-US" sz="1400" i="1" dirty="0">
                <a:solidFill>
                  <a:srgbClr val="5C6F84"/>
                </a:solidFill>
                <a:ea typeface="+mn-lt"/>
                <a:cs typeface="+mn-lt"/>
              </a:rPr>
              <a:t>Snowflake is a cloud-based data platform that stores, organizes, and analyzes huge amounts of data.</a:t>
            </a:r>
            <a:endParaRPr lang="en-US" i="1" dirty="0">
              <a:ea typeface="Calibri"/>
              <a:cs typeface="Calibri"/>
            </a:endParaRPr>
          </a:p>
        </p:txBody>
      </p:sp>
      <p:sp>
        <p:nvSpPr>
          <p:cNvPr id="12" name="Shape 10"/>
          <p:cNvSpPr/>
          <p:nvPr/>
        </p:nvSpPr>
        <p:spPr>
          <a:xfrm>
            <a:off x="502920" y="823361"/>
            <a:ext cx="914400" cy="36576"/>
          </a:xfrm>
          <a:prstGeom prst="rect">
            <a:avLst/>
          </a:prstGeom>
          <a:solidFill>
            <a:srgbClr val="29B5E8"/>
          </a:solidFill>
          <a:ln w="12700">
            <a:solidFill>
              <a:srgbClr val="29B5E8"/>
            </a:solidFill>
            <a:prstDash val="solid"/>
          </a:ln>
        </p:spPr>
      </p:sp>
      <p:sp>
        <p:nvSpPr>
          <p:cNvPr id="31" name="Text 29"/>
          <p:cNvSpPr/>
          <p:nvPr/>
        </p:nvSpPr>
        <p:spPr>
          <a:xfrm>
            <a:off x="3154680" y="6309360"/>
            <a:ext cx="1554480" cy="274320"/>
          </a:xfrm>
          <a:prstGeom prst="rect">
            <a:avLst/>
          </a:prstGeom>
          <a:noFill/>
          <a:ln/>
        </p:spPr>
        <p:txBody>
          <a:bodyPr wrap="square" lIns="0" tIns="0" rIns="0" bIns="0" rtlCol="0" anchor="ctr"/>
          <a:lstStyle/>
          <a:p>
            <a:pPr marL="0" indent="0" algn="ctr">
              <a:buNone/>
            </a:pPr>
            <a:endParaRPr lang="en-US" sz="1000" b="1" dirty="0">
              <a:solidFill>
                <a:srgbClr val="0A2540"/>
              </a:solidFill>
              <a:ea typeface="Calibri"/>
              <a:cs typeface="Calibri"/>
            </a:endParaRPr>
          </a:p>
        </p:txBody>
      </p:sp>
      <p:sp>
        <p:nvSpPr>
          <p:cNvPr id="40" name="Shape 38"/>
          <p:cNvSpPr/>
          <p:nvPr/>
        </p:nvSpPr>
        <p:spPr>
          <a:xfrm>
            <a:off x="7772400" y="2743200"/>
            <a:ext cx="3886200" cy="1097280"/>
          </a:xfrm>
          <a:prstGeom prst="rect">
            <a:avLst/>
          </a:prstGeom>
          <a:solidFill>
            <a:srgbClr val="FAFCFD"/>
          </a:solidFill>
          <a:ln w="12700">
            <a:solidFill>
              <a:srgbClr val="D9E2EC"/>
            </a:solidFill>
            <a:prstDash val="solid"/>
          </a:ln>
        </p:spPr>
      </p:sp>
      <p:sp>
        <p:nvSpPr>
          <p:cNvPr id="41" name="Shape 39"/>
          <p:cNvSpPr/>
          <p:nvPr/>
        </p:nvSpPr>
        <p:spPr>
          <a:xfrm>
            <a:off x="7772400" y="2743200"/>
            <a:ext cx="73152" cy="1097280"/>
          </a:xfrm>
          <a:prstGeom prst="rect">
            <a:avLst/>
          </a:prstGeom>
          <a:solidFill>
            <a:srgbClr val="29B5E8"/>
          </a:solidFill>
          <a:ln w="12700">
            <a:solidFill>
              <a:srgbClr val="29B5E8"/>
            </a:solidFill>
            <a:prstDash val="solid"/>
          </a:ln>
        </p:spPr>
      </p:sp>
      <p:sp>
        <p:nvSpPr>
          <p:cNvPr id="42" name="Text 40"/>
          <p:cNvSpPr/>
          <p:nvPr/>
        </p:nvSpPr>
        <p:spPr>
          <a:xfrm>
            <a:off x="8001000" y="2852928"/>
            <a:ext cx="3520440" cy="365760"/>
          </a:xfrm>
          <a:prstGeom prst="rect">
            <a:avLst/>
          </a:prstGeom>
          <a:noFill/>
          <a:ln/>
        </p:spPr>
        <p:txBody>
          <a:bodyPr wrap="square" lIns="0" tIns="0" rIns="0" bIns="0" rtlCol="0" anchor="ctr"/>
          <a:lstStyle/>
          <a:p>
            <a:r>
              <a:rPr lang="en-US" sz="1400" b="1">
                <a:solidFill>
                  <a:srgbClr val="0A2540"/>
                </a:solidFill>
                <a:ea typeface="Calibri"/>
                <a:cs typeface="Calibri"/>
              </a:rPr>
              <a:t>Native Vector Storage</a:t>
            </a:r>
          </a:p>
        </p:txBody>
      </p:sp>
      <p:sp>
        <p:nvSpPr>
          <p:cNvPr id="43" name="Text 41"/>
          <p:cNvSpPr/>
          <p:nvPr/>
        </p:nvSpPr>
        <p:spPr>
          <a:xfrm>
            <a:off x="8001000" y="3218688"/>
            <a:ext cx="3520440" cy="594360"/>
          </a:xfrm>
          <a:prstGeom prst="rect">
            <a:avLst/>
          </a:prstGeom>
          <a:noFill/>
          <a:ln/>
        </p:spPr>
        <p:txBody>
          <a:bodyPr wrap="square" lIns="0" tIns="0" rIns="0" bIns="0" rtlCol="0" anchor="ctr"/>
          <a:lstStyle/>
          <a:p>
            <a:r>
              <a:rPr lang="en-US" sz="1100">
                <a:solidFill>
                  <a:srgbClr val="5C6F84"/>
                </a:solidFill>
                <a:ea typeface="Calibri"/>
                <a:cs typeface="Calibri"/>
              </a:rPr>
              <a:t>Snowflake</a:t>
            </a:r>
            <a:r>
              <a:rPr lang="en-US" sz="1100">
                <a:solidFill>
                  <a:srgbClr val="5C6F84"/>
                </a:solidFill>
                <a:ea typeface="+mn-lt"/>
                <a:cs typeface="+mn-lt"/>
              </a:rPr>
              <a:t> has a built-in, dedicated data type specifically designed to hold AI vector embeddings</a:t>
            </a:r>
            <a:endParaRPr lang="en-US" sz="1100">
              <a:solidFill>
                <a:srgbClr val="5C6F84"/>
              </a:solidFill>
              <a:ea typeface="Calibri"/>
              <a:cs typeface="Calibri"/>
            </a:endParaRPr>
          </a:p>
          <a:p>
            <a:endParaRPr lang="en-US" sz="1100">
              <a:solidFill>
                <a:srgbClr val="5C6F84"/>
              </a:solidFill>
              <a:ea typeface="Calibri"/>
              <a:cs typeface="Calibri"/>
            </a:endParaRPr>
          </a:p>
        </p:txBody>
      </p:sp>
      <p:sp>
        <p:nvSpPr>
          <p:cNvPr id="44" name="Shape 42"/>
          <p:cNvSpPr/>
          <p:nvPr/>
        </p:nvSpPr>
        <p:spPr>
          <a:xfrm>
            <a:off x="7772400" y="3931920"/>
            <a:ext cx="3886200" cy="1097280"/>
          </a:xfrm>
          <a:prstGeom prst="rect">
            <a:avLst/>
          </a:prstGeom>
          <a:solidFill>
            <a:srgbClr val="FAFCFD"/>
          </a:solidFill>
          <a:ln w="12700">
            <a:solidFill>
              <a:srgbClr val="D9E2EC"/>
            </a:solidFill>
            <a:prstDash val="solid"/>
          </a:ln>
        </p:spPr>
      </p:sp>
      <p:sp>
        <p:nvSpPr>
          <p:cNvPr id="45" name="Shape 43"/>
          <p:cNvSpPr/>
          <p:nvPr/>
        </p:nvSpPr>
        <p:spPr>
          <a:xfrm>
            <a:off x="7772400" y="3931920"/>
            <a:ext cx="73152" cy="1097280"/>
          </a:xfrm>
          <a:prstGeom prst="rect">
            <a:avLst/>
          </a:prstGeom>
          <a:solidFill>
            <a:srgbClr val="29B5E8"/>
          </a:solidFill>
          <a:ln w="12700">
            <a:solidFill>
              <a:srgbClr val="29B5E8"/>
            </a:solidFill>
            <a:prstDash val="solid"/>
          </a:ln>
        </p:spPr>
      </p:sp>
      <p:sp>
        <p:nvSpPr>
          <p:cNvPr id="46" name="Text 44"/>
          <p:cNvSpPr/>
          <p:nvPr/>
        </p:nvSpPr>
        <p:spPr>
          <a:xfrm>
            <a:off x="8001000" y="4041648"/>
            <a:ext cx="3520440" cy="365760"/>
          </a:xfrm>
          <a:prstGeom prst="rect">
            <a:avLst/>
          </a:prstGeom>
          <a:noFill/>
          <a:ln/>
        </p:spPr>
        <p:txBody>
          <a:bodyPr wrap="square" lIns="0" tIns="0" rIns="0" bIns="0" rtlCol="0" anchor="ctr"/>
          <a:lstStyle/>
          <a:p>
            <a:pPr marL="0" indent="0">
              <a:buNone/>
            </a:pPr>
            <a:r>
              <a:rPr lang="en-US" sz="1400" b="1">
                <a:solidFill>
                  <a:srgbClr val="0A2540"/>
                </a:solidFill>
              </a:rPr>
              <a:t>Cortex AI Capabilities</a:t>
            </a:r>
            <a:endParaRPr lang="en-US" sz="1400"/>
          </a:p>
        </p:txBody>
      </p:sp>
      <p:sp>
        <p:nvSpPr>
          <p:cNvPr id="47" name="Text 45"/>
          <p:cNvSpPr/>
          <p:nvPr/>
        </p:nvSpPr>
        <p:spPr>
          <a:xfrm>
            <a:off x="8001000" y="4317171"/>
            <a:ext cx="3520440" cy="594360"/>
          </a:xfrm>
          <a:prstGeom prst="rect">
            <a:avLst/>
          </a:prstGeom>
          <a:noFill/>
          <a:ln/>
        </p:spPr>
        <p:txBody>
          <a:bodyPr wrap="square" lIns="0" tIns="0" rIns="0" bIns="0" rtlCol="0" anchor="ctr"/>
          <a:lstStyle/>
          <a:p>
            <a:r>
              <a:rPr lang="en-US" sz="1100">
                <a:solidFill>
                  <a:srgbClr val="5C6F84"/>
                </a:solidFill>
                <a:ea typeface="+mn-lt"/>
                <a:cs typeface="+mn-lt"/>
              </a:rPr>
              <a:t>Granular sentence-level transcription mapping phrase to exact video timecodes.</a:t>
            </a:r>
            <a:endParaRPr lang="en-US"/>
          </a:p>
        </p:txBody>
      </p:sp>
      <p:sp>
        <p:nvSpPr>
          <p:cNvPr id="48" name="Shape 46"/>
          <p:cNvSpPr/>
          <p:nvPr/>
        </p:nvSpPr>
        <p:spPr>
          <a:xfrm>
            <a:off x="7772400" y="5120640"/>
            <a:ext cx="3886200" cy="1097280"/>
          </a:xfrm>
          <a:prstGeom prst="rect">
            <a:avLst/>
          </a:prstGeom>
          <a:solidFill>
            <a:srgbClr val="FAFCFD"/>
          </a:solidFill>
          <a:ln w="12700">
            <a:solidFill>
              <a:srgbClr val="D9E2EC"/>
            </a:solidFill>
            <a:prstDash val="solid"/>
          </a:ln>
        </p:spPr>
      </p:sp>
      <p:sp>
        <p:nvSpPr>
          <p:cNvPr id="49" name="Shape 47"/>
          <p:cNvSpPr/>
          <p:nvPr/>
        </p:nvSpPr>
        <p:spPr>
          <a:xfrm>
            <a:off x="7772400" y="5120640"/>
            <a:ext cx="73152" cy="1097280"/>
          </a:xfrm>
          <a:prstGeom prst="rect">
            <a:avLst/>
          </a:prstGeom>
          <a:solidFill>
            <a:srgbClr val="29B5E8"/>
          </a:solidFill>
          <a:ln w="12700">
            <a:solidFill>
              <a:srgbClr val="29B5E8"/>
            </a:solidFill>
            <a:prstDash val="solid"/>
          </a:ln>
        </p:spPr>
      </p:sp>
      <p:sp>
        <p:nvSpPr>
          <p:cNvPr id="50" name="Text 48"/>
          <p:cNvSpPr/>
          <p:nvPr/>
        </p:nvSpPr>
        <p:spPr>
          <a:xfrm>
            <a:off x="8001000" y="5230368"/>
            <a:ext cx="3520440" cy="365760"/>
          </a:xfrm>
          <a:prstGeom prst="rect">
            <a:avLst/>
          </a:prstGeom>
          <a:noFill/>
          <a:ln/>
        </p:spPr>
        <p:txBody>
          <a:bodyPr wrap="square" lIns="0" tIns="0" rIns="0" bIns="0" rtlCol="0" anchor="ctr"/>
          <a:lstStyle/>
          <a:p>
            <a:r>
              <a:rPr lang="en-US" sz="1400" b="1">
                <a:solidFill>
                  <a:srgbClr val="0A2540"/>
                </a:solidFill>
                <a:ea typeface="+mn-lt"/>
                <a:cs typeface="+mn-lt"/>
              </a:rPr>
              <a:t>Similarity Calculations</a:t>
            </a:r>
            <a:endParaRPr lang="en-US" b="1">
              <a:ea typeface="Calibri"/>
              <a:cs typeface="Calibri"/>
            </a:endParaRPr>
          </a:p>
        </p:txBody>
      </p:sp>
      <p:sp>
        <p:nvSpPr>
          <p:cNvPr id="51" name="Text 49"/>
          <p:cNvSpPr/>
          <p:nvPr/>
        </p:nvSpPr>
        <p:spPr>
          <a:xfrm>
            <a:off x="8001000" y="5596128"/>
            <a:ext cx="3520440" cy="594360"/>
          </a:xfrm>
          <a:prstGeom prst="rect">
            <a:avLst/>
          </a:prstGeom>
          <a:noFill/>
          <a:ln/>
        </p:spPr>
        <p:txBody>
          <a:bodyPr wrap="square" lIns="0" tIns="0" rIns="0" bIns="0" rtlCol="0" anchor="ctr"/>
          <a:lstStyle/>
          <a:p>
            <a:r>
              <a:rPr lang="en-US" sz="1100">
                <a:solidFill>
                  <a:srgbClr val="5C6F84"/>
                </a:solidFill>
                <a:ea typeface="+mn-lt"/>
                <a:cs typeface="+mn-lt"/>
              </a:rPr>
              <a:t>Snowflake calculates how closely a user's search query matches the video timeline mathematically using built-in functions like Cosine Similarity, directly via standard queries.</a:t>
            </a:r>
            <a:endParaRPr lang="en-US"/>
          </a:p>
          <a:p>
            <a:pPr marL="0" indent="0">
              <a:buNone/>
            </a:pPr>
            <a:endParaRPr lang="en-US" sz="1100">
              <a:solidFill>
                <a:srgbClr val="5C6F84"/>
              </a:solidFill>
              <a:ea typeface="Calibri"/>
              <a:cs typeface="Calibri"/>
            </a:endParaRPr>
          </a:p>
        </p:txBody>
      </p:sp>
      <p:pic>
        <p:nvPicPr>
          <p:cNvPr id="52" name="Picture 51">
            <a:extLst>
              <a:ext uri="{FF2B5EF4-FFF2-40B4-BE49-F238E27FC236}">
                <a16:creationId xmlns:a16="http://schemas.microsoft.com/office/drawing/2014/main" id="{7D077242-0A3D-550E-054C-72D025EC2B6B}"/>
              </a:ext>
            </a:extLst>
          </p:cNvPr>
          <p:cNvPicPr>
            <a:picLocks noChangeAspect="1"/>
          </p:cNvPicPr>
          <p:nvPr/>
        </p:nvPicPr>
        <p:blipFill>
          <a:blip r:embed="rId3"/>
          <a:stretch>
            <a:fillRect/>
          </a:stretch>
        </p:blipFill>
        <p:spPr>
          <a:xfrm>
            <a:off x="703346" y="2420854"/>
            <a:ext cx="6915150" cy="36004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emantic Retrieval Architecture">
    <p:bg>
      <p:bgPr>
        <a:solidFill>
          <a:srgbClr val="FFFFFF"/>
        </a:solidFill>
        <a:effectLst/>
      </p:bgPr>
    </p:bg>
    <p:spTree>
      <p:nvGrpSpPr>
        <p:cNvPr id="1" name=""/>
        <p:cNvGrpSpPr/>
        <p:nvPr/>
      </p:nvGrpSpPr>
      <p:grpSpPr>
        <a:xfrm>
          <a:off x="0" y="0"/>
          <a:ext cx="0" cy="0"/>
          <a:chOff x="0" y="0"/>
          <a:chExt cx="0" cy="0"/>
        </a:xfrm>
      </p:grpSpPr>
      <p:sp>
        <p:nvSpPr>
          <p:cNvPr id="2" name="TopBar"/>
          <p:cNvSpPr/>
          <p:nvPr/>
        </p:nvSpPr>
        <p:spPr>
          <a:xfrm>
            <a:off x="0" y="0"/>
            <a:ext cx="12192000" cy="54864"/>
          </a:xfrm>
          <a:prstGeom prst="rect">
            <a:avLst/>
          </a:prstGeom>
          <a:solidFill>
            <a:srgbClr val="29B5E8"/>
          </a:solidFill>
          <a:ln>
            <a:noFill/>
          </a:ln>
        </p:spPr>
        <p:txBody>
          <a:bodyPr/>
          <a:lstStyle/>
          <a:p>
            <a:endParaRPr lang="en-US"/>
          </a:p>
        </p:txBody>
      </p:sp>
      <p:sp>
        <p:nvSpPr>
          <p:cNvPr id="3" name="Canvas"/>
          <p:cNvSpPr/>
          <p:nvPr/>
        </p:nvSpPr>
        <p:spPr>
          <a:xfrm>
            <a:off x="0" y="2000263"/>
            <a:ext cx="12192000" cy="4100000"/>
          </a:xfrm>
          <a:prstGeom prst="rect">
            <a:avLst/>
          </a:prstGeom>
          <a:solidFill>
            <a:srgbClr val="F4F7F9"/>
          </a:solidFill>
          <a:ln>
            <a:noFill/>
          </a:ln>
        </p:spPr>
        <p:txBody>
          <a:bodyPr/>
          <a:lstStyle/>
          <a:p>
            <a:endParaRPr lang="en-US"/>
          </a:p>
        </p:txBody>
      </p:sp>
      <p:sp>
        <p:nvSpPr>
          <p:cNvPr id="5" name="Title"/>
          <p:cNvSpPr txBox="1"/>
          <p:nvPr/>
        </p:nvSpPr>
        <p:spPr>
          <a:xfrm>
            <a:off x="399474" y="1010421"/>
            <a:ext cx="11000000" cy="700000"/>
          </a:xfrm>
          <a:prstGeom prst="rect">
            <a:avLst/>
          </a:prstGeom>
          <a:noFill/>
        </p:spPr>
        <p:txBody>
          <a:bodyPr wrap="square" lIns="91440" tIns="45720" rIns="91440" bIns="45720" rtlCol="0" anchor="t"/>
          <a:lstStyle/>
          <a:p>
            <a:pPr algn="l"/>
            <a:r>
              <a:rPr lang="en-US" sz="3600" b="1">
                <a:solidFill>
                  <a:srgbClr val="0B1F33"/>
                </a:solidFill>
                <a:latin typeface="Calibri"/>
              </a:rPr>
              <a:t>The Semantic Retrieval Flow</a:t>
            </a:r>
          </a:p>
        </p:txBody>
      </p:sp>
      <p:sp>
        <p:nvSpPr>
          <p:cNvPr id="10" name="Card1"/>
          <p:cNvSpPr/>
          <p:nvPr/>
        </p:nvSpPr>
        <p:spPr>
          <a:xfrm>
            <a:off x="500000" y="2250000"/>
            <a:ext cx="2700000" cy="3400000"/>
          </a:xfrm>
          <a:prstGeom prst="roundRect">
            <a:avLst>
              <a:gd name="adj" fmla="val 6000"/>
            </a:avLst>
          </a:prstGeom>
          <a:solidFill>
            <a:srgbClr val="FFFFFF"/>
          </a:solidFill>
          <a:ln w="9525">
            <a:solidFill>
              <a:srgbClr val="E3E9EF"/>
            </a:solidFill>
          </a:ln>
          <a:effectLst>
            <a:outerShdw blurRad="40000" dist="20000" dir="5400000" algn="t" rotWithShape="0">
              <a:srgbClr val="0056D2">
                <a:alpha val="8000"/>
              </a:srgbClr>
            </a:outerShdw>
          </a:effectLst>
        </p:spPr>
        <p:txBody>
          <a:bodyPr/>
          <a:lstStyle/>
          <a:p>
            <a:endParaRPr lang="en-US"/>
          </a:p>
        </p:txBody>
      </p:sp>
      <p:sp>
        <p:nvSpPr>
          <p:cNvPr id="11" name="Card1Top"/>
          <p:cNvSpPr/>
          <p:nvPr/>
        </p:nvSpPr>
        <p:spPr>
          <a:xfrm>
            <a:off x="500000" y="2250000"/>
            <a:ext cx="2700000" cy="120000"/>
          </a:xfrm>
          <a:prstGeom prst="rect">
            <a:avLst/>
          </a:prstGeom>
          <a:solidFill>
            <a:srgbClr val="29B5E8"/>
          </a:solidFill>
          <a:ln>
            <a:noFill/>
          </a:ln>
        </p:spPr>
        <p:txBody>
          <a:bodyPr/>
          <a:lstStyle/>
          <a:p>
            <a:endParaRPr lang="en-US"/>
          </a:p>
        </p:txBody>
      </p:sp>
      <p:sp>
        <p:nvSpPr>
          <p:cNvPr id="13" name="Step1Label"/>
          <p:cNvSpPr txBox="1"/>
          <p:nvPr/>
        </p:nvSpPr>
        <p:spPr>
          <a:xfrm>
            <a:off x="700000" y="3430605"/>
            <a:ext cx="2300000" cy="280000"/>
          </a:xfrm>
          <a:prstGeom prst="rect">
            <a:avLst/>
          </a:prstGeom>
          <a:noFill/>
        </p:spPr>
        <p:txBody>
          <a:bodyPr wrap="square" rtlCol="0" anchor="t"/>
          <a:lstStyle/>
          <a:p>
            <a:pPr algn="l"/>
            <a:r>
              <a:rPr lang="en-US" sz="900" b="1" spc="300">
                <a:solidFill>
                  <a:srgbClr val="29B5E8"/>
                </a:solidFill>
                <a:latin typeface="Calibri"/>
              </a:rPr>
              <a:t>STEP 1 — QUERY INPUT</a:t>
            </a:r>
          </a:p>
        </p:txBody>
      </p:sp>
      <p:sp>
        <p:nvSpPr>
          <p:cNvPr id="14" name="Step1Header"/>
          <p:cNvSpPr txBox="1"/>
          <p:nvPr/>
        </p:nvSpPr>
        <p:spPr>
          <a:xfrm>
            <a:off x="659895" y="3720658"/>
            <a:ext cx="2340105" cy="399210"/>
          </a:xfrm>
          <a:prstGeom prst="rect">
            <a:avLst/>
          </a:prstGeom>
          <a:noFill/>
        </p:spPr>
        <p:txBody>
          <a:bodyPr wrap="square" rtlCol="0" anchor="t"/>
          <a:lstStyle/>
          <a:p>
            <a:pPr algn="l"/>
            <a:r>
              <a:rPr lang="en-US" sz="1800" b="1">
                <a:solidFill>
                  <a:srgbClr val="0B1F33"/>
                </a:solidFill>
                <a:latin typeface="Calibri"/>
              </a:rPr>
              <a:t>User Intent Capture</a:t>
            </a:r>
          </a:p>
        </p:txBody>
      </p:sp>
      <p:sp>
        <p:nvSpPr>
          <p:cNvPr id="15" name="Step1Desc"/>
          <p:cNvSpPr txBox="1"/>
          <p:nvPr/>
        </p:nvSpPr>
        <p:spPr>
          <a:xfrm>
            <a:off x="700000" y="4250000"/>
            <a:ext cx="2300000" cy="1300000"/>
          </a:xfrm>
          <a:prstGeom prst="rect">
            <a:avLst/>
          </a:prstGeom>
          <a:noFill/>
        </p:spPr>
        <p:txBody>
          <a:bodyPr wrap="square" rtlCol="0" anchor="t"/>
          <a:lstStyle/>
          <a:p>
            <a:pPr algn="l"/>
            <a:r>
              <a:rPr lang="en-US" sz="1100">
                <a:solidFill>
                  <a:srgbClr val="495764"/>
                </a:solidFill>
                <a:latin typeface="Calibri"/>
              </a:rPr>
              <a:t>The user enters a natural language scenario description or conversational topic directly into the portal's search bar.</a:t>
            </a:r>
          </a:p>
        </p:txBody>
      </p:sp>
      <p:sp>
        <p:nvSpPr>
          <p:cNvPr id="16" name="Arrow1"/>
          <p:cNvSpPr/>
          <p:nvPr/>
        </p:nvSpPr>
        <p:spPr>
          <a:xfrm>
            <a:off x="3240000" y="3850000"/>
            <a:ext cx="280000" cy="200000"/>
          </a:xfrm>
          <a:prstGeom prst="rightArrow">
            <a:avLst/>
          </a:prstGeom>
          <a:solidFill>
            <a:srgbClr val="0056D2"/>
          </a:solidFill>
          <a:ln>
            <a:noFill/>
          </a:ln>
        </p:spPr>
        <p:txBody>
          <a:bodyPr/>
          <a:lstStyle/>
          <a:p>
            <a:endParaRPr lang="en-US"/>
          </a:p>
        </p:txBody>
      </p:sp>
      <p:sp>
        <p:nvSpPr>
          <p:cNvPr id="20" name="Card2"/>
          <p:cNvSpPr/>
          <p:nvPr/>
        </p:nvSpPr>
        <p:spPr>
          <a:xfrm>
            <a:off x="3560000" y="2250000"/>
            <a:ext cx="2700000" cy="3400000"/>
          </a:xfrm>
          <a:prstGeom prst="roundRect">
            <a:avLst>
              <a:gd name="adj" fmla="val 6000"/>
            </a:avLst>
          </a:prstGeom>
          <a:solidFill>
            <a:srgbClr val="FFFFFF"/>
          </a:solidFill>
          <a:ln w="9525">
            <a:solidFill>
              <a:srgbClr val="E3E9EF"/>
            </a:solidFill>
          </a:ln>
          <a:effectLst>
            <a:outerShdw blurRad="40000" dist="20000" dir="5400000" algn="t" rotWithShape="0">
              <a:srgbClr val="0056D2">
                <a:alpha val="8000"/>
              </a:srgbClr>
            </a:outerShdw>
          </a:effectLst>
        </p:spPr>
        <p:txBody>
          <a:bodyPr/>
          <a:lstStyle/>
          <a:p>
            <a:endParaRPr lang="en-US"/>
          </a:p>
        </p:txBody>
      </p:sp>
      <p:sp>
        <p:nvSpPr>
          <p:cNvPr id="21" name="Card2Top"/>
          <p:cNvSpPr/>
          <p:nvPr/>
        </p:nvSpPr>
        <p:spPr>
          <a:xfrm>
            <a:off x="3560000" y="2250000"/>
            <a:ext cx="2700000" cy="120000"/>
          </a:xfrm>
          <a:prstGeom prst="rect">
            <a:avLst/>
          </a:prstGeom>
          <a:solidFill>
            <a:srgbClr val="0056D2"/>
          </a:solidFill>
          <a:ln>
            <a:noFill/>
          </a:ln>
        </p:spPr>
        <p:txBody>
          <a:bodyPr/>
          <a:lstStyle/>
          <a:p>
            <a:endParaRPr lang="en-US"/>
          </a:p>
        </p:txBody>
      </p:sp>
      <p:sp>
        <p:nvSpPr>
          <p:cNvPr id="23" name="Step2Label"/>
          <p:cNvSpPr txBox="1"/>
          <p:nvPr/>
        </p:nvSpPr>
        <p:spPr>
          <a:xfrm>
            <a:off x="3760000" y="3430605"/>
            <a:ext cx="2300000" cy="280000"/>
          </a:xfrm>
          <a:prstGeom prst="rect">
            <a:avLst/>
          </a:prstGeom>
          <a:noFill/>
        </p:spPr>
        <p:txBody>
          <a:bodyPr wrap="square" rtlCol="0" anchor="t"/>
          <a:lstStyle/>
          <a:p>
            <a:pPr algn="l"/>
            <a:r>
              <a:rPr lang="en-US" sz="900" b="1" spc="300">
                <a:solidFill>
                  <a:srgbClr val="0056D2"/>
                </a:solidFill>
                <a:latin typeface="Calibri"/>
              </a:rPr>
              <a:t>STEP 2 — VECTOR CONVERSION</a:t>
            </a:r>
          </a:p>
        </p:txBody>
      </p:sp>
      <p:sp>
        <p:nvSpPr>
          <p:cNvPr id="24" name="Step2Header"/>
          <p:cNvSpPr txBox="1"/>
          <p:nvPr/>
        </p:nvSpPr>
        <p:spPr>
          <a:xfrm>
            <a:off x="3780053" y="3730683"/>
            <a:ext cx="2320052" cy="389185"/>
          </a:xfrm>
          <a:prstGeom prst="rect">
            <a:avLst/>
          </a:prstGeom>
          <a:noFill/>
        </p:spPr>
        <p:txBody>
          <a:bodyPr wrap="square" lIns="91440" tIns="45720" rIns="91440" bIns="45720" rtlCol="0" anchor="t"/>
          <a:lstStyle/>
          <a:p>
            <a:r>
              <a:rPr lang="en-US" b="1">
                <a:solidFill>
                  <a:srgbClr val="0B1F33"/>
                </a:solidFill>
                <a:latin typeface="Calibri"/>
                <a:ea typeface="Calibri"/>
                <a:cs typeface="Calibri"/>
              </a:rPr>
              <a:t>Vector Embedding</a:t>
            </a:r>
            <a:endParaRPr lang="en-US" sz="1800" b="1" dirty="0">
              <a:solidFill>
                <a:srgbClr val="0B1F33"/>
              </a:solidFill>
              <a:latin typeface="Calibri"/>
              <a:ea typeface="Calibri"/>
              <a:cs typeface="Calibri"/>
            </a:endParaRPr>
          </a:p>
        </p:txBody>
      </p:sp>
      <p:sp>
        <p:nvSpPr>
          <p:cNvPr id="25" name="Step2Desc"/>
          <p:cNvSpPr txBox="1"/>
          <p:nvPr/>
        </p:nvSpPr>
        <p:spPr>
          <a:xfrm>
            <a:off x="3760000" y="4250000"/>
            <a:ext cx="2300000" cy="1300000"/>
          </a:xfrm>
          <a:prstGeom prst="rect">
            <a:avLst/>
          </a:prstGeom>
          <a:noFill/>
        </p:spPr>
        <p:txBody>
          <a:bodyPr wrap="square" lIns="91440" tIns="45720" rIns="91440" bIns="45720" rtlCol="0" anchor="t"/>
          <a:lstStyle/>
          <a:p>
            <a:r>
              <a:rPr lang="en-US" sz="1100">
                <a:solidFill>
                  <a:srgbClr val="495764"/>
                </a:solidFill>
                <a:latin typeface="Calibri"/>
              </a:rPr>
              <a:t>The local embedding model processes the text input in real time, instantly translating the query into a high-dimensional vector.</a:t>
            </a:r>
          </a:p>
        </p:txBody>
      </p:sp>
      <p:sp>
        <p:nvSpPr>
          <p:cNvPr id="26" name="Arrow2"/>
          <p:cNvSpPr/>
          <p:nvPr/>
        </p:nvSpPr>
        <p:spPr>
          <a:xfrm>
            <a:off x="6300000" y="3850000"/>
            <a:ext cx="280000" cy="200000"/>
          </a:xfrm>
          <a:prstGeom prst="rightArrow">
            <a:avLst/>
          </a:prstGeom>
          <a:solidFill>
            <a:srgbClr val="29B5E8"/>
          </a:solidFill>
          <a:ln>
            <a:noFill/>
          </a:ln>
        </p:spPr>
        <p:txBody>
          <a:bodyPr/>
          <a:lstStyle/>
          <a:p>
            <a:endParaRPr lang="en-US"/>
          </a:p>
        </p:txBody>
      </p:sp>
      <p:sp>
        <p:nvSpPr>
          <p:cNvPr id="30" name="Card3"/>
          <p:cNvSpPr/>
          <p:nvPr/>
        </p:nvSpPr>
        <p:spPr>
          <a:xfrm>
            <a:off x="6620000" y="2250000"/>
            <a:ext cx="2700000" cy="3400000"/>
          </a:xfrm>
          <a:prstGeom prst="roundRect">
            <a:avLst>
              <a:gd name="adj" fmla="val 6000"/>
            </a:avLst>
          </a:prstGeom>
          <a:solidFill>
            <a:srgbClr val="FFFFFF"/>
          </a:solidFill>
          <a:ln w="9525">
            <a:solidFill>
              <a:srgbClr val="E3E9EF"/>
            </a:solidFill>
          </a:ln>
          <a:effectLst>
            <a:outerShdw blurRad="40000" dist="20000" dir="5400000" algn="t" rotWithShape="0">
              <a:srgbClr val="0056D2">
                <a:alpha val="8000"/>
              </a:srgbClr>
            </a:outerShdw>
          </a:effectLst>
        </p:spPr>
        <p:txBody>
          <a:bodyPr/>
          <a:lstStyle/>
          <a:p>
            <a:endParaRPr lang="en-US"/>
          </a:p>
        </p:txBody>
      </p:sp>
      <p:sp>
        <p:nvSpPr>
          <p:cNvPr id="31" name="Card3Top"/>
          <p:cNvSpPr/>
          <p:nvPr/>
        </p:nvSpPr>
        <p:spPr>
          <a:xfrm>
            <a:off x="6620000" y="2250000"/>
            <a:ext cx="2700000" cy="120000"/>
          </a:xfrm>
          <a:prstGeom prst="rect">
            <a:avLst/>
          </a:prstGeom>
          <a:solidFill>
            <a:srgbClr val="29B5E8"/>
          </a:solidFill>
          <a:ln>
            <a:noFill/>
          </a:ln>
        </p:spPr>
        <p:txBody>
          <a:bodyPr/>
          <a:lstStyle/>
          <a:p>
            <a:endParaRPr lang="en-US"/>
          </a:p>
        </p:txBody>
      </p:sp>
      <p:sp>
        <p:nvSpPr>
          <p:cNvPr id="33" name="Step3Label"/>
          <p:cNvSpPr txBox="1"/>
          <p:nvPr/>
        </p:nvSpPr>
        <p:spPr>
          <a:xfrm>
            <a:off x="6820000" y="3430605"/>
            <a:ext cx="2300000" cy="280000"/>
          </a:xfrm>
          <a:prstGeom prst="rect">
            <a:avLst/>
          </a:prstGeom>
          <a:noFill/>
        </p:spPr>
        <p:txBody>
          <a:bodyPr wrap="square" rtlCol="0" anchor="t"/>
          <a:lstStyle/>
          <a:p>
            <a:pPr algn="l"/>
            <a:r>
              <a:rPr lang="en-US" sz="900" b="1" spc="300">
                <a:solidFill>
                  <a:srgbClr val="29B5E8"/>
                </a:solidFill>
                <a:latin typeface="Calibri"/>
              </a:rPr>
              <a:t>STEP 3 — SIMILARITY MATCHING</a:t>
            </a:r>
          </a:p>
        </p:txBody>
      </p:sp>
      <p:sp>
        <p:nvSpPr>
          <p:cNvPr id="34" name="Step3Header"/>
          <p:cNvSpPr txBox="1"/>
          <p:nvPr/>
        </p:nvSpPr>
        <p:spPr>
          <a:xfrm>
            <a:off x="6820000" y="3740711"/>
            <a:ext cx="2300000" cy="399210"/>
          </a:xfrm>
          <a:prstGeom prst="rect">
            <a:avLst/>
          </a:prstGeom>
          <a:noFill/>
        </p:spPr>
        <p:txBody>
          <a:bodyPr wrap="square" rtlCol="0" anchor="t"/>
          <a:lstStyle/>
          <a:p>
            <a:pPr algn="l"/>
            <a:r>
              <a:rPr lang="en-US" sz="1800" b="1">
                <a:solidFill>
                  <a:srgbClr val="0B1F33"/>
                </a:solidFill>
                <a:latin typeface="Calibri"/>
              </a:rPr>
              <a:t>Vector Math Analysis</a:t>
            </a:r>
          </a:p>
        </p:txBody>
      </p:sp>
      <p:sp>
        <p:nvSpPr>
          <p:cNvPr id="35" name="Step3Desc"/>
          <p:cNvSpPr txBox="1"/>
          <p:nvPr/>
        </p:nvSpPr>
        <p:spPr>
          <a:xfrm>
            <a:off x="6820000" y="4250000"/>
            <a:ext cx="2300000" cy="1300000"/>
          </a:xfrm>
          <a:prstGeom prst="rect">
            <a:avLst/>
          </a:prstGeom>
          <a:noFill/>
        </p:spPr>
        <p:txBody>
          <a:bodyPr wrap="square" rtlCol="0" anchor="t"/>
          <a:lstStyle/>
          <a:p>
            <a:pPr algn="l"/>
            <a:r>
              <a:rPr lang="en-US" sz="1100">
                <a:solidFill>
                  <a:srgbClr val="495764"/>
                </a:solidFill>
                <a:latin typeface="Calibri"/>
              </a:rPr>
              <a:t>The engine executes ultra-fast vector cosine similarity calculations against the stored video transcript indexes inside the database.</a:t>
            </a:r>
          </a:p>
        </p:txBody>
      </p:sp>
      <p:sp>
        <p:nvSpPr>
          <p:cNvPr id="36" name="Arrow3"/>
          <p:cNvSpPr/>
          <p:nvPr/>
        </p:nvSpPr>
        <p:spPr>
          <a:xfrm>
            <a:off x="9360000" y="3850000"/>
            <a:ext cx="280000" cy="200000"/>
          </a:xfrm>
          <a:prstGeom prst="rightArrow">
            <a:avLst/>
          </a:prstGeom>
          <a:solidFill>
            <a:srgbClr val="0056D2"/>
          </a:solidFill>
          <a:ln>
            <a:noFill/>
          </a:ln>
        </p:spPr>
        <p:txBody>
          <a:bodyPr/>
          <a:lstStyle/>
          <a:p>
            <a:endParaRPr lang="en-US"/>
          </a:p>
        </p:txBody>
      </p:sp>
      <p:sp>
        <p:nvSpPr>
          <p:cNvPr id="40" name="Card4"/>
          <p:cNvSpPr/>
          <p:nvPr/>
        </p:nvSpPr>
        <p:spPr>
          <a:xfrm>
            <a:off x="9639895" y="2300131"/>
            <a:ext cx="2433105" cy="3349869"/>
          </a:xfrm>
          <a:prstGeom prst="roundRect">
            <a:avLst>
              <a:gd name="adj" fmla="val 6000"/>
            </a:avLst>
          </a:prstGeom>
          <a:solidFill>
            <a:srgbClr val="FFFFFF"/>
          </a:solidFill>
          <a:ln w="9525">
            <a:solidFill>
              <a:srgbClr val="E3E9EF"/>
            </a:solidFill>
          </a:ln>
          <a:effectLst>
            <a:outerShdw blurRad="40000" dist="20000" dir="5400000" algn="t" rotWithShape="0">
              <a:srgbClr val="0056D2">
                <a:alpha val="8000"/>
              </a:srgbClr>
            </a:outerShdw>
          </a:effectLst>
        </p:spPr>
        <p:txBody>
          <a:bodyPr/>
          <a:lstStyle/>
          <a:p>
            <a:endParaRPr lang="en-US"/>
          </a:p>
        </p:txBody>
      </p:sp>
      <p:sp>
        <p:nvSpPr>
          <p:cNvPr id="43" name="Step4Label"/>
          <p:cNvSpPr txBox="1"/>
          <p:nvPr/>
        </p:nvSpPr>
        <p:spPr>
          <a:xfrm>
            <a:off x="9920105" y="3450658"/>
            <a:ext cx="1870446" cy="229869"/>
          </a:xfrm>
          <a:prstGeom prst="rect">
            <a:avLst/>
          </a:prstGeom>
          <a:noFill/>
        </p:spPr>
        <p:txBody>
          <a:bodyPr wrap="square" rtlCol="0" anchor="t"/>
          <a:lstStyle/>
          <a:p>
            <a:pPr algn="l"/>
            <a:r>
              <a:rPr lang="en-US" sz="900" b="1" spc="300">
                <a:solidFill>
                  <a:srgbClr val="0056D2"/>
                </a:solidFill>
                <a:latin typeface="Calibri"/>
              </a:rPr>
              <a:t>STEP 4 — PLAYBACK</a:t>
            </a:r>
          </a:p>
        </p:txBody>
      </p:sp>
      <p:sp>
        <p:nvSpPr>
          <p:cNvPr id="44" name="Step4Header"/>
          <p:cNvSpPr txBox="1"/>
          <p:nvPr/>
        </p:nvSpPr>
        <p:spPr>
          <a:xfrm>
            <a:off x="9900053" y="3650474"/>
            <a:ext cx="2080999" cy="609763"/>
          </a:xfrm>
          <a:prstGeom prst="rect">
            <a:avLst/>
          </a:prstGeom>
          <a:noFill/>
        </p:spPr>
        <p:txBody>
          <a:bodyPr wrap="square" lIns="91440" tIns="45720" rIns="91440" bIns="45720" rtlCol="0" anchor="t"/>
          <a:lstStyle/>
          <a:p>
            <a:r>
              <a:rPr lang="en-US" b="1">
                <a:solidFill>
                  <a:srgbClr val="0B1F33"/>
                </a:solidFill>
                <a:latin typeface="Calibri"/>
              </a:rPr>
              <a:t>Timeline Cursor Alignment</a:t>
            </a:r>
            <a:endParaRPr lang="en-US" sz="1800" b="1">
              <a:solidFill>
                <a:srgbClr val="0B1F33"/>
              </a:solidFill>
              <a:latin typeface="Calibri"/>
            </a:endParaRPr>
          </a:p>
        </p:txBody>
      </p:sp>
      <p:sp>
        <p:nvSpPr>
          <p:cNvPr id="45" name="Step4Desc"/>
          <p:cNvSpPr txBox="1"/>
          <p:nvPr/>
        </p:nvSpPr>
        <p:spPr>
          <a:xfrm>
            <a:off x="9880000" y="4260027"/>
            <a:ext cx="2101052" cy="1360157"/>
          </a:xfrm>
          <a:prstGeom prst="rect">
            <a:avLst/>
          </a:prstGeom>
          <a:noFill/>
        </p:spPr>
        <p:txBody>
          <a:bodyPr wrap="square" lIns="91440" tIns="45720" rIns="91440" bIns="45720" rtlCol="0" anchor="t"/>
          <a:lstStyle/>
          <a:p>
            <a:r>
              <a:rPr lang="en-US" sz="1100" dirty="0">
                <a:solidFill>
                  <a:srgbClr val="495764"/>
                </a:solidFill>
                <a:ea typeface="+mn-lt"/>
                <a:cs typeface="+mn-lt"/>
              </a:rPr>
              <a:t>The engine then returns those precise coordinates back to the UI, allowing the media player to instantly snap its </a:t>
            </a:r>
            <a:r>
              <a:rPr lang="en-US" sz="1100">
                <a:solidFill>
                  <a:srgbClr val="495764"/>
                </a:solidFill>
                <a:ea typeface="+mn-lt"/>
                <a:cs typeface="+mn-lt"/>
              </a:rPr>
              <a:t>play head</a:t>
            </a:r>
            <a:r>
              <a:rPr lang="en-US" sz="1100" dirty="0">
                <a:solidFill>
                  <a:srgbClr val="495764"/>
                </a:solidFill>
                <a:ea typeface="+mn-lt"/>
                <a:cs typeface="+mn-lt"/>
              </a:rPr>
              <a:t> right to the exact second the discussed scenario occurred</a:t>
            </a:r>
            <a:endParaRPr lang="en-US" dirty="0">
              <a:ea typeface="+mn-lt"/>
              <a:cs typeface="+mn-lt"/>
            </a:endParaRPr>
          </a:p>
        </p:txBody>
      </p:sp>
      <p:sp>
        <p:nvSpPr>
          <p:cNvPr id="8" name="Text 7">
            <a:extLst>
              <a:ext uri="{FF2B5EF4-FFF2-40B4-BE49-F238E27FC236}">
                <a16:creationId xmlns:a16="http://schemas.microsoft.com/office/drawing/2014/main" id="{FA1B9C17-E70B-DEF8-7699-CB9BCA76786E}"/>
              </a:ext>
            </a:extLst>
          </p:cNvPr>
          <p:cNvSpPr/>
          <p:nvPr/>
        </p:nvSpPr>
        <p:spPr>
          <a:xfrm>
            <a:off x="502920" y="397443"/>
            <a:ext cx="7315200" cy="274320"/>
          </a:xfrm>
          <a:prstGeom prst="rect">
            <a:avLst/>
          </a:prstGeom>
          <a:noFill/>
          <a:ln/>
        </p:spPr>
        <p:txBody>
          <a:bodyPr wrap="square" lIns="0" tIns="0" rIns="0" bIns="0" rtlCol="0" anchor="ctr"/>
          <a:lstStyle/>
          <a:p>
            <a:r>
              <a:rPr lang="en-US" sz="1600" b="1" kern="0" spc="400">
                <a:solidFill>
                  <a:srgbClr val="29B5E8"/>
                </a:solidFill>
              </a:rPr>
              <a:t>06 — THE QUERY PHASE</a:t>
            </a:r>
            <a:endParaRPr lang="en-US" sz="1600">
              <a:ea typeface="Calibri"/>
              <a:cs typeface="Calibri"/>
            </a:endParaRPr>
          </a:p>
        </p:txBody>
      </p:sp>
      <p:sp>
        <p:nvSpPr>
          <p:cNvPr id="17" name="Shape 10">
            <a:extLst>
              <a:ext uri="{FF2B5EF4-FFF2-40B4-BE49-F238E27FC236}">
                <a16:creationId xmlns:a16="http://schemas.microsoft.com/office/drawing/2014/main" id="{11861AD6-62EB-3CAB-A295-6D23A2E4C3D7}"/>
              </a:ext>
            </a:extLst>
          </p:cNvPr>
          <p:cNvSpPr/>
          <p:nvPr/>
        </p:nvSpPr>
        <p:spPr>
          <a:xfrm>
            <a:off x="502920" y="813335"/>
            <a:ext cx="914400" cy="36576"/>
          </a:xfrm>
          <a:prstGeom prst="rect">
            <a:avLst/>
          </a:prstGeom>
          <a:solidFill>
            <a:srgbClr val="29B5E8"/>
          </a:solidFill>
          <a:ln w="12700">
            <a:solidFill>
              <a:srgbClr val="29B5E8"/>
            </a:solidFill>
            <a:prstDash val="solid"/>
          </a:ln>
        </p:spPr>
      </p:sp>
      <p:sp>
        <p:nvSpPr>
          <p:cNvPr id="28" name="Shape 4">
            <a:extLst>
              <a:ext uri="{FF2B5EF4-FFF2-40B4-BE49-F238E27FC236}">
                <a16:creationId xmlns:a16="http://schemas.microsoft.com/office/drawing/2014/main" id="{E3099B03-4C83-3F21-1D71-837CDF5B9B3C}"/>
              </a:ext>
            </a:extLst>
          </p:cNvPr>
          <p:cNvSpPr/>
          <p:nvPr/>
        </p:nvSpPr>
        <p:spPr>
          <a:xfrm>
            <a:off x="502920" y="6400800"/>
            <a:ext cx="11155680" cy="0"/>
          </a:xfrm>
          <a:prstGeom prst="line">
            <a:avLst/>
          </a:prstGeom>
          <a:noFill/>
          <a:ln w="12700">
            <a:solidFill>
              <a:srgbClr val="D9E2EC"/>
            </a:solidFill>
            <a:prstDash val="solid"/>
          </a:ln>
        </p:spPr>
        <p:txBody>
          <a:bodyPr/>
          <a:lstStyle/>
          <a:p>
            <a:endParaRPr lang="en-US"/>
          </a:p>
        </p:txBody>
      </p:sp>
      <p:sp>
        <p:nvSpPr>
          <p:cNvPr id="49" name="Shape 21">
            <a:extLst>
              <a:ext uri="{FF2B5EF4-FFF2-40B4-BE49-F238E27FC236}">
                <a16:creationId xmlns:a16="http://schemas.microsoft.com/office/drawing/2014/main" id="{E5E6EB97-885D-823D-E9C7-732AF764C186}"/>
              </a:ext>
            </a:extLst>
          </p:cNvPr>
          <p:cNvSpPr/>
          <p:nvPr/>
        </p:nvSpPr>
        <p:spPr>
          <a:xfrm>
            <a:off x="4538312" y="2481714"/>
            <a:ext cx="731520" cy="731520"/>
          </a:xfrm>
          <a:prstGeom prst="ellipse">
            <a:avLst/>
          </a:prstGeom>
          <a:solidFill>
            <a:srgbClr val="FFFFFF"/>
          </a:solidFill>
          <a:ln w="38100">
            <a:solidFill>
              <a:srgbClr val="29B5E8"/>
            </a:solidFill>
            <a:prstDash val="solid"/>
          </a:ln>
        </p:spPr>
        <p:txBody>
          <a:bodyPr/>
          <a:lstStyle/>
          <a:p>
            <a:endParaRPr lang="en-US"/>
          </a:p>
        </p:txBody>
      </p:sp>
      <p:sp>
        <p:nvSpPr>
          <p:cNvPr id="52" name="Shape 29">
            <a:extLst>
              <a:ext uri="{FF2B5EF4-FFF2-40B4-BE49-F238E27FC236}">
                <a16:creationId xmlns:a16="http://schemas.microsoft.com/office/drawing/2014/main" id="{271C1296-13EE-C858-900F-261B0E6E3B0C}"/>
              </a:ext>
            </a:extLst>
          </p:cNvPr>
          <p:cNvSpPr/>
          <p:nvPr/>
        </p:nvSpPr>
        <p:spPr>
          <a:xfrm>
            <a:off x="7603557" y="2461661"/>
            <a:ext cx="731520" cy="731520"/>
          </a:xfrm>
          <a:prstGeom prst="ellipse">
            <a:avLst/>
          </a:prstGeom>
          <a:solidFill>
            <a:srgbClr val="FFFFFF"/>
          </a:solidFill>
          <a:ln w="38100">
            <a:solidFill>
              <a:srgbClr val="29B5E8"/>
            </a:solidFill>
            <a:prstDash val="solid"/>
          </a:ln>
        </p:spPr>
        <p:txBody>
          <a:bodyPr/>
          <a:lstStyle/>
          <a:p>
            <a:endParaRPr lang="en-US"/>
          </a:p>
        </p:txBody>
      </p:sp>
      <p:sp>
        <p:nvSpPr>
          <p:cNvPr id="55" name="Shape 21">
            <a:extLst>
              <a:ext uri="{FF2B5EF4-FFF2-40B4-BE49-F238E27FC236}">
                <a16:creationId xmlns:a16="http://schemas.microsoft.com/office/drawing/2014/main" id="{BDD3A2CD-12A9-3E2B-935D-70AB2E21687F}"/>
              </a:ext>
            </a:extLst>
          </p:cNvPr>
          <p:cNvSpPr/>
          <p:nvPr/>
        </p:nvSpPr>
        <p:spPr>
          <a:xfrm>
            <a:off x="1480285" y="2461661"/>
            <a:ext cx="731520" cy="731520"/>
          </a:xfrm>
          <a:prstGeom prst="ellipse">
            <a:avLst/>
          </a:prstGeom>
          <a:solidFill>
            <a:srgbClr val="FFFFFF"/>
          </a:solidFill>
          <a:ln w="38100">
            <a:solidFill>
              <a:srgbClr val="29B5E8"/>
            </a:solidFill>
            <a:prstDash val="solid"/>
          </a:ln>
        </p:spPr>
        <p:txBody>
          <a:bodyPr/>
          <a:lstStyle/>
          <a:p>
            <a:endParaRPr lang="en-US"/>
          </a:p>
        </p:txBody>
      </p:sp>
      <p:sp>
        <p:nvSpPr>
          <p:cNvPr id="47" name="Text 14">
            <a:extLst>
              <a:ext uri="{FF2B5EF4-FFF2-40B4-BE49-F238E27FC236}">
                <a16:creationId xmlns:a16="http://schemas.microsoft.com/office/drawing/2014/main" id="{5BC25DD7-AAA4-00FC-5117-5C52F0778008}"/>
              </a:ext>
            </a:extLst>
          </p:cNvPr>
          <p:cNvSpPr/>
          <p:nvPr/>
        </p:nvSpPr>
        <p:spPr>
          <a:xfrm>
            <a:off x="1483093" y="2461661"/>
            <a:ext cx="731520" cy="731520"/>
          </a:xfrm>
          <a:prstGeom prst="rect">
            <a:avLst/>
          </a:prstGeom>
          <a:noFill/>
          <a:ln/>
        </p:spPr>
        <p:txBody>
          <a:bodyPr wrap="square" lIns="0" tIns="0" rIns="0" bIns="0" rtlCol="0" anchor="ctr"/>
          <a:lstStyle/>
          <a:p>
            <a:pPr marL="0" indent="0" algn="ctr">
              <a:buNone/>
            </a:pPr>
            <a:r>
              <a:rPr lang="en-US" sz="1600" b="1">
                <a:solidFill>
                  <a:srgbClr val="0056D2"/>
                </a:solidFill>
              </a:rPr>
              <a:t>01</a:t>
            </a:r>
            <a:endParaRPr lang="en-US" sz="1600"/>
          </a:p>
        </p:txBody>
      </p:sp>
      <p:sp>
        <p:nvSpPr>
          <p:cNvPr id="56" name="TextBox 55">
            <a:extLst>
              <a:ext uri="{FF2B5EF4-FFF2-40B4-BE49-F238E27FC236}">
                <a16:creationId xmlns:a16="http://schemas.microsoft.com/office/drawing/2014/main" id="{6382A1F7-7554-B2BC-B898-04E59F8295F0}"/>
              </a:ext>
            </a:extLst>
          </p:cNvPr>
          <p:cNvSpPr txBox="1"/>
          <p:nvPr/>
        </p:nvSpPr>
        <p:spPr>
          <a:xfrm>
            <a:off x="4712369" y="2677025"/>
            <a:ext cx="561474"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i="0" u="none" strike="noStrike" baseline="0">
                <a:solidFill>
                  <a:srgbClr val="0056D2"/>
                </a:solidFill>
                <a:latin typeface="Calibri"/>
              </a:rPr>
              <a:t>02</a:t>
            </a:r>
            <a:r>
              <a:rPr sz="1600" b="0" i="0">
                <a:solidFill>
                  <a:srgbClr val="000000"/>
                </a:solidFill>
                <a:latin typeface="Calibri"/>
                <a:ea typeface="Calibri"/>
                <a:cs typeface="Calibri"/>
              </a:rPr>
              <a:t>​</a:t>
            </a:r>
            <a:endParaRPr lang="en-US"/>
          </a:p>
          <a:p>
            <a:pPr algn="ctr"/>
            <a:endParaRPr lang="en-US"/>
          </a:p>
        </p:txBody>
      </p:sp>
      <p:sp>
        <p:nvSpPr>
          <p:cNvPr id="57" name="Shape 29">
            <a:extLst>
              <a:ext uri="{FF2B5EF4-FFF2-40B4-BE49-F238E27FC236}">
                <a16:creationId xmlns:a16="http://schemas.microsoft.com/office/drawing/2014/main" id="{96C6827F-D709-75C0-772B-A4667E86BE2C}"/>
              </a:ext>
            </a:extLst>
          </p:cNvPr>
          <p:cNvSpPr/>
          <p:nvPr/>
        </p:nvSpPr>
        <p:spPr>
          <a:xfrm>
            <a:off x="10451031" y="2481714"/>
            <a:ext cx="731520" cy="731520"/>
          </a:xfrm>
          <a:prstGeom prst="ellipse">
            <a:avLst/>
          </a:prstGeom>
          <a:solidFill>
            <a:srgbClr val="FFFFFF"/>
          </a:solidFill>
          <a:ln w="38100">
            <a:solidFill>
              <a:srgbClr val="29B5E8"/>
            </a:solidFill>
            <a:prstDash val="solid"/>
          </a:ln>
        </p:spPr>
        <p:txBody>
          <a:bodyPr/>
          <a:lstStyle/>
          <a:p>
            <a:endParaRPr lang="en-US"/>
          </a:p>
        </p:txBody>
      </p:sp>
      <p:sp>
        <p:nvSpPr>
          <p:cNvPr id="54" name="Text 38">
            <a:extLst>
              <a:ext uri="{FF2B5EF4-FFF2-40B4-BE49-F238E27FC236}">
                <a16:creationId xmlns:a16="http://schemas.microsoft.com/office/drawing/2014/main" id="{4730097E-3AE5-EA7C-AB56-FF334A412159}"/>
              </a:ext>
            </a:extLst>
          </p:cNvPr>
          <p:cNvSpPr/>
          <p:nvPr/>
        </p:nvSpPr>
        <p:spPr>
          <a:xfrm>
            <a:off x="10448223" y="2481714"/>
            <a:ext cx="731520" cy="731520"/>
          </a:xfrm>
          <a:prstGeom prst="rect">
            <a:avLst/>
          </a:prstGeom>
          <a:noFill/>
          <a:ln/>
        </p:spPr>
        <p:txBody>
          <a:bodyPr wrap="square" lIns="0" tIns="0" rIns="0" bIns="0" rtlCol="0" anchor="ctr"/>
          <a:lstStyle/>
          <a:p>
            <a:pPr marL="0" indent="0" algn="ctr">
              <a:buNone/>
            </a:pPr>
            <a:r>
              <a:rPr lang="en-US" sz="1600" b="1">
                <a:solidFill>
                  <a:schemeClr val="accent1"/>
                </a:solidFill>
              </a:rPr>
              <a:t>04</a:t>
            </a:r>
            <a:endParaRPr lang="en-US">
              <a:solidFill>
                <a:schemeClr val="accent1"/>
              </a:solidFill>
            </a:endParaRPr>
          </a:p>
        </p:txBody>
      </p:sp>
      <p:sp>
        <p:nvSpPr>
          <p:cNvPr id="58" name="TextBox 57">
            <a:extLst>
              <a:ext uri="{FF2B5EF4-FFF2-40B4-BE49-F238E27FC236}">
                <a16:creationId xmlns:a16="http://schemas.microsoft.com/office/drawing/2014/main" id="{0271D601-00A1-E0E8-B50A-4FAA6A43AC56}"/>
              </a:ext>
            </a:extLst>
          </p:cNvPr>
          <p:cNvSpPr txBox="1"/>
          <p:nvPr/>
        </p:nvSpPr>
        <p:spPr>
          <a:xfrm>
            <a:off x="7780421" y="2677025"/>
            <a:ext cx="551448"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i="0" u="none" strike="noStrike" baseline="0">
                <a:solidFill>
                  <a:srgbClr val="0056D2"/>
                </a:solidFill>
                <a:latin typeface="Calibri"/>
              </a:rPr>
              <a:t>03</a:t>
            </a:r>
            <a:endParaRPr lang="en-US"/>
          </a:p>
          <a:p>
            <a:pPr algn="ctr"/>
            <a:endParaRPr lang="en-US"/>
          </a:p>
        </p:txBody>
      </p:sp>
      <p:sp>
        <p:nvSpPr>
          <p:cNvPr id="59" name="Card2Top">
            <a:extLst>
              <a:ext uri="{FF2B5EF4-FFF2-40B4-BE49-F238E27FC236}">
                <a16:creationId xmlns:a16="http://schemas.microsoft.com/office/drawing/2014/main" id="{6B587942-12BC-2C78-38F2-1F41AA319F5F}"/>
              </a:ext>
            </a:extLst>
          </p:cNvPr>
          <p:cNvSpPr/>
          <p:nvPr/>
        </p:nvSpPr>
        <p:spPr>
          <a:xfrm>
            <a:off x="9635946" y="2290104"/>
            <a:ext cx="2449344" cy="89922"/>
          </a:xfrm>
          <a:prstGeom prst="rect">
            <a:avLst/>
          </a:prstGeom>
          <a:solidFill>
            <a:srgbClr val="0056D2"/>
          </a:solidFill>
          <a:ln>
            <a:noFill/>
          </a:ln>
        </p:spPr>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Applications">
    <p:bg>
      <p:bgPr>
        <a:solidFill>
          <a:srgbClr val="FFFFFF"/>
        </a:solidFill>
        <a:effectLst/>
      </p:bgPr>
    </p:bg>
    <p:spTree>
      <p:nvGrpSpPr>
        <p:cNvPr id="1" name=""/>
        <p:cNvGrpSpPr/>
        <p:nvPr/>
      </p:nvGrpSpPr>
      <p:grpSpPr>
        <a:xfrm>
          <a:off x="0" y="0"/>
          <a:ext cx="0" cy="0"/>
          <a:chOff x="0" y="0"/>
          <a:chExt cx="0" cy="0"/>
        </a:xfrm>
      </p:grpSpPr>
      <p:sp>
        <p:nvSpPr>
          <p:cNvPr id="2" name="TopBar"/>
          <p:cNvSpPr/>
          <p:nvPr/>
        </p:nvSpPr>
        <p:spPr>
          <a:xfrm>
            <a:off x="0" y="0"/>
            <a:ext cx="12192000" cy="54864"/>
          </a:xfrm>
          <a:prstGeom prst="rect">
            <a:avLst/>
          </a:prstGeom>
          <a:solidFill>
            <a:srgbClr val="29B5E8"/>
          </a:solidFill>
          <a:ln>
            <a:noFill/>
          </a:ln>
        </p:spPr>
      </p:sp>
      <p:sp>
        <p:nvSpPr>
          <p:cNvPr id="3" name="Canvas"/>
          <p:cNvSpPr/>
          <p:nvPr/>
        </p:nvSpPr>
        <p:spPr>
          <a:xfrm>
            <a:off x="0" y="2360000"/>
            <a:ext cx="12192000" cy="4080000"/>
          </a:xfrm>
          <a:prstGeom prst="rect">
            <a:avLst/>
          </a:prstGeom>
          <a:solidFill>
            <a:srgbClr val="F4F7F9"/>
          </a:solidFill>
          <a:ln>
            <a:noFill/>
          </a:ln>
        </p:spPr>
      </p:sp>
      <p:sp>
        <p:nvSpPr>
          <p:cNvPr id="4" name="Divider"/>
          <p:cNvSpPr/>
          <p:nvPr/>
        </p:nvSpPr>
        <p:spPr>
          <a:xfrm>
            <a:off x="502920" y="6600000"/>
            <a:ext cx="11186160" cy="0"/>
          </a:xfrm>
          <a:prstGeom prst="line">
            <a:avLst/>
          </a:prstGeom>
          <a:ln w="12700">
            <a:solidFill>
              <a:srgbClr val="D9E2EC"/>
            </a:solidFill>
          </a:ln>
        </p:spPr>
      </p:sp>
      <p:sp>
        <p:nvSpPr>
          <p:cNvPr id="6" name="EyebrowAccent"/>
          <p:cNvSpPr/>
          <p:nvPr/>
        </p:nvSpPr>
        <p:spPr>
          <a:xfrm>
            <a:off x="502920" y="953703"/>
            <a:ext cx="914400" cy="36576"/>
          </a:xfrm>
          <a:prstGeom prst="rect">
            <a:avLst/>
          </a:prstGeom>
          <a:solidFill>
            <a:srgbClr val="29B5E8"/>
          </a:solidFill>
          <a:ln>
            <a:noFill/>
          </a:ln>
        </p:spPr>
      </p:sp>
      <p:sp>
        <p:nvSpPr>
          <p:cNvPr id="7" name="Eyebrow"/>
          <p:cNvSpPr/>
          <p:nvPr/>
        </p:nvSpPr>
        <p:spPr>
          <a:xfrm>
            <a:off x="502920" y="497706"/>
            <a:ext cx="8000000" cy="274320"/>
          </a:xfrm>
          <a:prstGeom prst="rect">
            <a:avLst/>
          </a:prstGeom>
          <a:noFill/>
          <a:ln>
            <a:noFill/>
          </a:ln>
        </p:spPr>
        <p:txBody>
          <a:bodyPr wrap="square" lIns="0" tIns="0" rIns="0" bIns="0" rtlCol="0" anchor="ctr"/>
          <a:lstStyle/>
          <a:p>
            <a:pPr marL="0" indent="0">
              <a:buNone/>
            </a:pPr>
            <a:r>
              <a:rPr lang="en-US" sz="1600" b="1" kern="0" spc="400">
                <a:solidFill>
                  <a:srgbClr val="29B5E8"/>
                </a:solidFill>
              </a:rPr>
              <a:t>07 — APPLICATIONS</a:t>
            </a:r>
            <a:endParaRPr lang="en-US" sz="1600" b="1" kern="0" spc="400">
              <a:solidFill>
                <a:srgbClr val="29B5E8"/>
              </a:solidFill>
              <a:ea typeface="Calibri"/>
              <a:cs typeface="Calibri"/>
            </a:endParaRPr>
          </a:p>
        </p:txBody>
      </p:sp>
      <p:sp>
        <p:nvSpPr>
          <p:cNvPr id="8" name="Title"/>
          <p:cNvSpPr/>
          <p:nvPr/>
        </p:nvSpPr>
        <p:spPr>
          <a:xfrm>
            <a:off x="502920" y="1143000"/>
            <a:ext cx="11186160" cy="600000"/>
          </a:xfrm>
          <a:prstGeom prst="rect">
            <a:avLst/>
          </a:prstGeom>
          <a:noFill/>
          <a:ln>
            <a:noFill/>
          </a:ln>
        </p:spPr>
        <p:txBody>
          <a:bodyPr wrap="square" lIns="0" tIns="0" rIns="0" bIns="0" rtlCol="0" anchor="ctr"/>
          <a:lstStyle/>
          <a:p>
            <a:r>
              <a:rPr lang="en-US" sz="3200" b="1">
                <a:solidFill>
                  <a:srgbClr val="0A2540"/>
                </a:solidFill>
                <a:latin typeface="Calibri"/>
              </a:rPr>
              <a:t>Potential Applications</a:t>
            </a:r>
          </a:p>
        </p:txBody>
      </p:sp>
      <p:sp>
        <p:nvSpPr>
          <p:cNvPr id="9" name="Subtitle"/>
          <p:cNvSpPr/>
          <p:nvPr/>
        </p:nvSpPr>
        <p:spPr>
          <a:xfrm>
            <a:off x="502920" y="1820000"/>
            <a:ext cx="11186160" cy="400000"/>
          </a:xfrm>
          <a:prstGeom prst="rect">
            <a:avLst/>
          </a:prstGeom>
          <a:noFill/>
          <a:ln>
            <a:noFill/>
          </a:ln>
        </p:spPr>
        <p:txBody>
          <a:bodyPr wrap="square" lIns="0" tIns="0" rIns="0" bIns="0" rtlCol="0" anchor="ctr"/>
          <a:lstStyle/>
          <a:p>
            <a:r>
              <a:rPr lang="en-US" sz="1400" i="1">
                <a:solidFill>
                  <a:srgbClr val="5C6F84"/>
                </a:solidFill>
                <a:latin typeface="Calibri"/>
              </a:rPr>
              <a:t>High-stakes industries where this solution turns raw video into precision intelligence</a:t>
            </a:r>
          </a:p>
        </p:txBody>
      </p:sp>
      <p:sp>
        <p:nvSpPr>
          <p:cNvPr id="20" name="Card1"/>
          <p:cNvSpPr/>
          <p:nvPr/>
        </p:nvSpPr>
        <p:spPr>
          <a:xfrm>
            <a:off x="502920" y="2540000"/>
            <a:ext cx="3589360" cy="3700000"/>
          </a:xfrm>
          <a:prstGeom prst="roundRect">
            <a:avLst>
              <a:gd name="adj" fmla="val 4000"/>
            </a:avLst>
          </a:prstGeom>
          <a:solidFill>
            <a:srgbClr val="FFFFFF"/>
          </a:solidFill>
          <a:ln w="12700">
            <a:solidFill>
              <a:srgbClr val="D9E2EC"/>
            </a:solidFill>
          </a:ln>
          <a:effectLst>
            <a:outerShdw blurRad="177800" dist="25400" dir="5400000" algn="bl" rotWithShape="0">
              <a:srgbClr val="0A2540">
                <a:alpha val="6000"/>
              </a:srgbClr>
            </a:outerShdw>
          </a:effectLst>
        </p:spPr>
      </p:sp>
      <p:sp>
        <p:nvSpPr>
          <p:cNvPr id="21" name="Card1Top"/>
          <p:cNvSpPr/>
          <p:nvPr/>
        </p:nvSpPr>
        <p:spPr>
          <a:xfrm>
            <a:off x="502920" y="2540000"/>
            <a:ext cx="3589360" cy="80000"/>
          </a:xfrm>
          <a:prstGeom prst="rect">
            <a:avLst/>
          </a:prstGeom>
          <a:solidFill>
            <a:srgbClr val="0056D2"/>
          </a:solidFill>
          <a:ln>
            <a:noFill/>
          </a:ln>
        </p:spPr>
      </p:sp>
      <p:sp>
        <p:nvSpPr>
          <p:cNvPr id="22" name="Card1Icon"/>
          <p:cNvSpPr/>
          <p:nvPr/>
        </p:nvSpPr>
        <p:spPr>
          <a:xfrm>
            <a:off x="800000" y="2780000"/>
            <a:ext cx="560000" cy="560000"/>
          </a:xfrm>
          <a:prstGeom prst="ellipse">
            <a:avLst/>
          </a:prstGeom>
          <a:solidFill>
            <a:srgbClr val="E6F6FC"/>
          </a:solidFill>
          <a:ln w="12700">
            <a:solidFill>
              <a:srgbClr val="29B5E8"/>
            </a:solidFill>
          </a:ln>
        </p:spPr>
        <p:txBody>
          <a:bodyPr wrap="square" lIns="0" tIns="0" rIns="0" bIns="0" rtlCol="0" anchor="ctr"/>
          <a:lstStyle/>
          <a:p>
            <a:pPr algn="ctr"/>
            <a:r>
              <a:rPr lang="en-US" sz="2000" b="1">
                <a:solidFill>
                  <a:srgbClr val="0056D2"/>
                </a:solidFill>
              </a:rPr>
              <a:t> ▶</a:t>
            </a:r>
          </a:p>
        </p:txBody>
      </p:sp>
      <p:sp>
        <p:nvSpPr>
          <p:cNvPr id="23" name="Card1Cat"/>
          <p:cNvSpPr/>
          <p:nvPr/>
        </p:nvSpPr>
        <p:spPr>
          <a:xfrm>
            <a:off x="800000" y="3400000"/>
            <a:ext cx="3000000" cy="240000"/>
          </a:xfrm>
          <a:prstGeom prst="rect">
            <a:avLst/>
          </a:prstGeom>
          <a:noFill/>
          <a:ln>
            <a:noFill/>
          </a:ln>
        </p:spPr>
        <p:txBody>
          <a:bodyPr wrap="square" lIns="0" tIns="0" rIns="0" bIns="0" rtlCol="0" anchor="t"/>
          <a:lstStyle/>
          <a:p>
            <a:pPr marL="0" indent="0">
              <a:buNone/>
            </a:pPr>
            <a:r>
              <a:rPr lang="en-US" sz="1000" b="1" kern="0" spc="400">
                <a:solidFill>
                  <a:srgbClr val="29B5E8"/>
                </a:solidFill>
              </a:rPr>
              <a:t>01 — CREATIVE INDUSTRIES</a:t>
            </a:r>
          </a:p>
        </p:txBody>
      </p:sp>
      <p:sp>
        <p:nvSpPr>
          <p:cNvPr id="24" name="Card1Header"/>
          <p:cNvSpPr/>
          <p:nvPr/>
        </p:nvSpPr>
        <p:spPr>
          <a:xfrm>
            <a:off x="800000" y="3650000"/>
            <a:ext cx="3000000" cy="380000"/>
          </a:xfrm>
          <a:prstGeom prst="rect">
            <a:avLst/>
          </a:prstGeom>
          <a:noFill/>
          <a:ln>
            <a:noFill/>
          </a:ln>
        </p:spPr>
        <p:txBody>
          <a:bodyPr wrap="square" lIns="0" tIns="0" rIns="0" bIns="0" rtlCol="0" anchor="ctr"/>
          <a:lstStyle/>
          <a:p>
            <a:pPr marL="0" indent="0">
              <a:buNone/>
            </a:pPr>
            <a:r>
              <a:rPr lang="en-US" sz="1800" b="1">
                <a:solidFill>
                  <a:srgbClr val="0A2540"/>
                </a:solidFill>
              </a:rPr>
              <a:t>Media &amp; Entertainment</a:t>
            </a:r>
          </a:p>
        </p:txBody>
      </p:sp>
      <p:sp>
        <p:nvSpPr>
          <p:cNvPr id="25" name="C1Div"/>
          <p:cNvSpPr/>
          <p:nvPr/>
        </p:nvSpPr>
        <p:spPr>
          <a:xfrm>
            <a:off x="800000" y="4150000"/>
            <a:ext cx="2992280" cy="0"/>
          </a:xfrm>
          <a:prstGeom prst="line">
            <a:avLst/>
          </a:prstGeom>
          <a:ln w="6350">
            <a:solidFill>
              <a:srgbClr val="E6EDF3"/>
            </a:solidFill>
          </a:ln>
        </p:spPr>
      </p:sp>
      <p:sp>
        <p:nvSpPr>
          <p:cNvPr id="26" name="C1P1L"/>
          <p:cNvSpPr/>
          <p:nvPr/>
        </p:nvSpPr>
        <p:spPr>
          <a:xfrm>
            <a:off x="800000" y="4250000"/>
            <a:ext cx="2992280" cy="280000"/>
          </a:xfrm>
          <a:prstGeom prst="rect">
            <a:avLst/>
          </a:prstGeom>
          <a:noFill/>
          <a:ln>
            <a:noFill/>
          </a:ln>
        </p:spPr>
        <p:txBody>
          <a:bodyPr wrap="square" lIns="0" tIns="0" rIns="0" bIns="0" rtlCol="0" anchor="t"/>
          <a:lstStyle/>
          <a:p>
            <a:pPr marL="0" indent="0">
              <a:buNone/>
            </a:pPr>
            <a:r>
              <a:rPr lang="en-US" sz="1200" b="1">
                <a:solidFill>
                  <a:srgbClr val="0056D2"/>
                </a:solidFill>
              </a:rPr>
              <a:t>Cinematic Scene Retrieval</a:t>
            </a:r>
          </a:p>
        </p:txBody>
      </p:sp>
      <p:sp>
        <p:nvSpPr>
          <p:cNvPr id="27" name="C1P1B"/>
          <p:cNvSpPr/>
          <p:nvPr/>
        </p:nvSpPr>
        <p:spPr>
          <a:xfrm>
            <a:off x="800000" y="4540000"/>
            <a:ext cx="2992280" cy="640000"/>
          </a:xfrm>
          <a:prstGeom prst="rect">
            <a:avLst/>
          </a:prstGeom>
          <a:noFill/>
          <a:ln>
            <a:noFill/>
          </a:ln>
        </p:spPr>
        <p:txBody>
          <a:bodyPr wrap="square" lIns="0" tIns="0" rIns="0" bIns="0" rtlCol="0" anchor="t"/>
          <a:lstStyle/>
          <a:p>
            <a:pPr marL="0" indent="0">
              <a:lnSpc>
                <a:spcPct val="120000"/>
              </a:lnSpc>
              <a:buNone/>
            </a:pPr>
            <a:r>
              <a:rPr lang="en-US" sz="1050">
                <a:solidFill>
                  <a:srgbClr val="5C6F84"/>
                </a:solidFill>
              </a:rPr>
              <a:t>Describe a scene in natural language and jump to the exact frame.</a:t>
            </a:r>
          </a:p>
        </p:txBody>
      </p:sp>
      <p:sp>
        <p:nvSpPr>
          <p:cNvPr id="28" name="C1P2L"/>
          <p:cNvSpPr/>
          <p:nvPr/>
        </p:nvSpPr>
        <p:spPr>
          <a:xfrm>
            <a:off x="800000" y="5250000"/>
            <a:ext cx="2992280" cy="280000"/>
          </a:xfrm>
          <a:prstGeom prst="rect">
            <a:avLst/>
          </a:prstGeom>
          <a:noFill/>
          <a:ln>
            <a:noFill/>
          </a:ln>
        </p:spPr>
        <p:txBody>
          <a:bodyPr wrap="square" lIns="0" tIns="0" rIns="0" bIns="0" rtlCol="0" anchor="t"/>
          <a:lstStyle/>
          <a:p>
            <a:pPr marL="0" indent="0">
              <a:buNone/>
            </a:pPr>
            <a:r>
              <a:rPr lang="en-US" sz="1200" b="1">
                <a:solidFill>
                  <a:srgbClr val="0056D2"/>
                </a:solidFill>
              </a:rPr>
              <a:t>End the “Dailies” Bottleneck</a:t>
            </a:r>
          </a:p>
        </p:txBody>
      </p:sp>
      <p:sp>
        <p:nvSpPr>
          <p:cNvPr id="29" name="C1P2B"/>
          <p:cNvSpPr/>
          <p:nvPr/>
        </p:nvSpPr>
        <p:spPr>
          <a:xfrm>
            <a:off x="800000" y="5540000"/>
            <a:ext cx="2992280" cy="660000"/>
          </a:xfrm>
          <a:prstGeom prst="rect">
            <a:avLst/>
          </a:prstGeom>
          <a:noFill/>
          <a:ln>
            <a:noFill/>
          </a:ln>
        </p:spPr>
        <p:txBody>
          <a:bodyPr wrap="square" lIns="0" tIns="0" rIns="0" bIns="0" rtlCol="0" anchor="t"/>
          <a:lstStyle/>
          <a:p>
            <a:pPr marL="0" indent="0">
              <a:lnSpc>
                <a:spcPct val="120000"/>
              </a:lnSpc>
              <a:buNone/>
            </a:pPr>
            <a:r>
              <a:rPr lang="en-US" sz="1050">
                <a:solidFill>
                  <a:srgbClr val="5C6F84"/>
                </a:solidFill>
              </a:rPr>
              <a:t>Skip raw b-roll and surface creative concepts or emotional beats in seconds.</a:t>
            </a:r>
          </a:p>
        </p:txBody>
      </p:sp>
      <p:sp>
        <p:nvSpPr>
          <p:cNvPr id="40" name="Card2"/>
          <p:cNvSpPr/>
          <p:nvPr/>
        </p:nvSpPr>
        <p:spPr>
          <a:xfrm>
            <a:off x="4301320" y="2540000"/>
            <a:ext cx="3589360" cy="3700000"/>
          </a:xfrm>
          <a:prstGeom prst="roundRect">
            <a:avLst>
              <a:gd name="adj" fmla="val 4000"/>
            </a:avLst>
          </a:prstGeom>
          <a:solidFill>
            <a:srgbClr val="FFFFFF"/>
          </a:solidFill>
          <a:ln w="12700">
            <a:solidFill>
              <a:srgbClr val="D9E2EC"/>
            </a:solidFill>
          </a:ln>
          <a:effectLst>
            <a:outerShdw blurRad="177800" dist="25400" dir="5400000" algn="bl" rotWithShape="0">
              <a:srgbClr val="0A2540">
                <a:alpha val="6000"/>
              </a:srgbClr>
            </a:outerShdw>
          </a:effectLst>
        </p:spPr>
      </p:sp>
      <p:sp>
        <p:nvSpPr>
          <p:cNvPr id="41" name="Card2Top"/>
          <p:cNvSpPr/>
          <p:nvPr/>
        </p:nvSpPr>
        <p:spPr>
          <a:xfrm>
            <a:off x="4301320" y="2540000"/>
            <a:ext cx="3589360" cy="80000"/>
          </a:xfrm>
          <a:prstGeom prst="rect">
            <a:avLst/>
          </a:prstGeom>
          <a:solidFill>
            <a:srgbClr val="29B5E8"/>
          </a:solidFill>
          <a:ln>
            <a:noFill/>
          </a:ln>
        </p:spPr>
      </p:sp>
      <p:sp>
        <p:nvSpPr>
          <p:cNvPr id="42" name="Card2Icon"/>
          <p:cNvSpPr/>
          <p:nvPr/>
        </p:nvSpPr>
        <p:spPr>
          <a:xfrm>
            <a:off x="4598400" y="2780000"/>
            <a:ext cx="560000" cy="560000"/>
          </a:xfrm>
          <a:prstGeom prst="ellipse">
            <a:avLst/>
          </a:prstGeom>
          <a:solidFill>
            <a:srgbClr val="E6F6FC"/>
          </a:solidFill>
          <a:ln w="12700">
            <a:solidFill>
              <a:srgbClr val="29B5E8"/>
            </a:solidFill>
          </a:ln>
        </p:spPr>
        <p:txBody>
          <a:bodyPr wrap="square" lIns="0" tIns="0" rIns="0" bIns="0" rtlCol="0" anchor="ctr"/>
          <a:lstStyle/>
          <a:p>
            <a:pPr marL="0" indent="0" algn="ctr">
              <a:buNone/>
            </a:pPr>
            <a:r>
              <a:rPr lang="en-US" sz="2000" b="1">
                <a:solidFill>
                  <a:srgbClr val="0056D2"/>
                </a:solidFill>
              </a:rPr>
              <a:t>📖</a:t>
            </a:r>
          </a:p>
        </p:txBody>
      </p:sp>
      <p:sp>
        <p:nvSpPr>
          <p:cNvPr id="43" name="Card2Cat"/>
          <p:cNvSpPr/>
          <p:nvPr/>
        </p:nvSpPr>
        <p:spPr>
          <a:xfrm>
            <a:off x="4598400" y="3400000"/>
            <a:ext cx="3000000" cy="240000"/>
          </a:xfrm>
          <a:prstGeom prst="rect">
            <a:avLst/>
          </a:prstGeom>
          <a:noFill/>
          <a:ln>
            <a:noFill/>
          </a:ln>
        </p:spPr>
        <p:txBody>
          <a:bodyPr wrap="square" lIns="0" tIns="0" rIns="0" bIns="0" rtlCol="0" anchor="t"/>
          <a:lstStyle/>
          <a:p>
            <a:pPr marL="0" indent="0">
              <a:buNone/>
            </a:pPr>
            <a:r>
              <a:rPr lang="en-US" sz="1000" b="1" kern="0" spc="400">
                <a:solidFill>
                  <a:srgbClr val="29B5E8"/>
                </a:solidFill>
              </a:rPr>
              <a:t>02 — ENTERPRISE</a:t>
            </a:r>
          </a:p>
        </p:txBody>
      </p:sp>
      <p:sp>
        <p:nvSpPr>
          <p:cNvPr id="44" name="Card2Header"/>
          <p:cNvSpPr/>
          <p:nvPr/>
        </p:nvSpPr>
        <p:spPr>
          <a:xfrm>
            <a:off x="4598400" y="3650000"/>
            <a:ext cx="3000000" cy="380000"/>
          </a:xfrm>
          <a:prstGeom prst="rect">
            <a:avLst/>
          </a:prstGeom>
          <a:noFill/>
          <a:ln>
            <a:noFill/>
          </a:ln>
        </p:spPr>
        <p:txBody>
          <a:bodyPr wrap="square" lIns="0" tIns="0" rIns="0" bIns="0" rtlCol="0" anchor="ctr"/>
          <a:lstStyle/>
          <a:p>
            <a:pPr marL="0" indent="0">
              <a:buNone/>
            </a:pPr>
            <a:r>
              <a:rPr lang="en-US" sz="1800" b="1">
                <a:solidFill>
                  <a:srgbClr val="0A2540"/>
                </a:solidFill>
              </a:rPr>
              <a:t>Knowledge &amp; Compliance</a:t>
            </a:r>
          </a:p>
        </p:txBody>
      </p:sp>
      <p:sp>
        <p:nvSpPr>
          <p:cNvPr id="45" name="C2Div"/>
          <p:cNvSpPr/>
          <p:nvPr/>
        </p:nvSpPr>
        <p:spPr>
          <a:xfrm>
            <a:off x="4598400" y="4150000"/>
            <a:ext cx="2992280" cy="0"/>
          </a:xfrm>
          <a:prstGeom prst="line">
            <a:avLst/>
          </a:prstGeom>
          <a:ln w="6350">
            <a:solidFill>
              <a:srgbClr val="E6EDF3"/>
            </a:solidFill>
          </a:ln>
        </p:spPr>
      </p:sp>
      <p:sp>
        <p:nvSpPr>
          <p:cNvPr id="46" name="C2P1L"/>
          <p:cNvSpPr/>
          <p:nvPr/>
        </p:nvSpPr>
        <p:spPr>
          <a:xfrm>
            <a:off x="4598400" y="4250000"/>
            <a:ext cx="2992280" cy="280000"/>
          </a:xfrm>
          <a:prstGeom prst="rect">
            <a:avLst/>
          </a:prstGeom>
          <a:noFill/>
          <a:ln>
            <a:noFill/>
          </a:ln>
        </p:spPr>
        <p:txBody>
          <a:bodyPr wrap="square" lIns="0" tIns="0" rIns="0" bIns="0" rtlCol="0" anchor="t"/>
          <a:lstStyle/>
          <a:p>
            <a:pPr marL="0" indent="0">
              <a:buNone/>
            </a:pPr>
            <a:r>
              <a:rPr lang="en-US" sz="1200" b="1">
                <a:solidFill>
                  <a:srgbClr val="0056D2"/>
                </a:solidFill>
              </a:rPr>
              <a:t>Enterprise Onboarding</a:t>
            </a:r>
          </a:p>
        </p:txBody>
      </p:sp>
      <p:sp>
        <p:nvSpPr>
          <p:cNvPr id="47" name="C2P1B"/>
          <p:cNvSpPr/>
          <p:nvPr/>
        </p:nvSpPr>
        <p:spPr>
          <a:xfrm>
            <a:off x="4598400" y="4540000"/>
            <a:ext cx="2992280" cy="640000"/>
          </a:xfrm>
          <a:prstGeom prst="rect">
            <a:avLst/>
          </a:prstGeom>
          <a:noFill/>
          <a:ln>
            <a:noFill/>
          </a:ln>
        </p:spPr>
        <p:txBody>
          <a:bodyPr wrap="square" lIns="0" tIns="0" rIns="0" bIns="0" rtlCol="0" anchor="t"/>
          <a:lstStyle/>
          <a:p>
            <a:pPr marL="0" indent="0">
              <a:lnSpc>
                <a:spcPct val="120000"/>
              </a:lnSpc>
              <a:buNone/>
            </a:pPr>
            <a:r>
              <a:rPr lang="en-US" sz="1050">
                <a:solidFill>
                  <a:srgbClr val="5C6F84"/>
                </a:solidFill>
              </a:rPr>
              <a:t>Turn bootcamps and code walkthroughs into searchable learning modules.</a:t>
            </a:r>
          </a:p>
        </p:txBody>
      </p:sp>
      <p:sp>
        <p:nvSpPr>
          <p:cNvPr id="48" name="C2P2L"/>
          <p:cNvSpPr/>
          <p:nvPr/>
        </p:nvSpPr>
        <p:spPr>
          <a:xfrm>
            <a:off x="4598400" y="5250000"/>
            <a:ext cx="2992280" cy="280000"/>
          </a:xfrm>
          <a:prstGeom prst="rect">
            <a:avLst/>
          </a:prstGeom>
          <a:noFill/>
          <a:ln>
            <a:noFill/>
          </a:ln>
        </p:spPr>
        <p:txBody>
          <a:bodyPr wrap="square" lIns="0" tIns="0" rIns="0" bIns="0" rtlCol="0" anchor="t"/>
          <a:lstStyle/>
          <a:p>
            <a:pPr marL="0" indent="0">
              <a:buNone/>
            </a:pPr>
            <a:r>
              <a:rPr lang="en-US" sz="1200" b="1">
                <a:solidFill>
                  <a:srgbClr val="0056D2"/>
                </a:solidFill>
              </a:rPr>
              <a:t>QA &amp; Customer Success</a:t>
            </a:r>
          </a:p>
        </p:txBody>
      </p:sp>
      <p:sp>
        <p:nvSpPr>
          <p:cNvPr id="49" name="C2P2B"/>
          <p:cNvSpPr/>
          <p:nvPr/>
        </p:nvSpPr>
        <p:spPr>
          <a:xfrm>
            <a:off x="4598400" y="5540000"/>
            <a:ext cx="2992280" cy="660000"/>
          </a:xfrm>
          <a:prstGeom prst="rect">
            <a:avLst/>
          </a:prstGeom>
          <a:noFill/>
          <a:ln>
            <a:noFill/>
          </a:ln>
        </p:spPr>
        <p:txBody>
          <a:bodyPr wrap="square" lIns="0" tIns="0" rIns="0" bIns="0" rtlCol="0" anchor="t"/>
          <a:lstStyle/>
          <a:p>
            <a:pPr marL="0" indent="0">
              <a:lnSpc>
                <a:spcPct val="120000"/>
              </a:lnSpc>
              <a:buNone/>
            </a:pPr>
            <a:r>
              <a:rPr lang="en-US" sz="1050">
                <a:solidFill>
                  <a:srgbClr val="5C6F84"/>
                </a:solidFill>
              </a:rPr>
              <a:t>Index client calls and screen-shares to verify agreements and audit performance.</a:t>
            </a:r>
          </a:p>
        </p:txBody>
      </p:sp>
      <p:sp>
        <p:nvSpPr>
          <p:cNvPr id="60" name="Card3"/>
          <p:cNvSpPr/>
          <p:nvPr/>
        </p:nvSpPr>
        <p:spPr>
          <a:xfrm>
            <a:off x="8099720" y="2540000"/>
            <a:ext cx="3589360" cy="3700000"/>
          </a:xfrm>
          <a:prstGeom prst="roundRect">
            <a:avLst>
              <a:gd name="adj" fmla="val 4000"/>
            </a:avLst>
          </a:prstGeom>
          <a:solidFill>
            <a:srgbClr val="FFFFFF"/>
          </a:solidFill>
          <a:ln w="12700">
            <a:solidFill>
              <a:srgbClr val="D9E2EC"/>
            </a:solidFill>
          </a:ln>
          <a:effectLst>
            <a:outerShdw blurRad="177800" dist="25400" dir="5400000" algn="bl" rotWithShape="0">
              <a:srgbClr val="0A2540">
                <a:alpha val="6000"/>
              </a:srgbClr>
            </a:outerShdw>
          </a:effectLst>
        </p:spPr>
      </p:sp>
      <p:sp>
        <p:nvSpPr>
          <p:cNvPr id="61" name="Card3Top"/>
          <p:cNvSpPr/>
          <p:nvPr/>
        </p:nvSpPr>
        <p:spPr>
          <a:xfrm>
            <a:off x="8099720" y="2540000"/>
            <a:ext cx="3589360" cy="80000"/>
          </a:xfrm>
          <a:prstGeom prst="rect">
            <a:avLst/>
          </a:prstGeom>
          <a:solidFill>
            <a:srgbClr val="0056D2"/>
          </a:solidFill>
          <a:ln>
            <a:noFill/>
          </a:ln>
        </p:spPr>
      </p:sp>
      <p:sp>
        <p:nvSpPr>
          <p:cNvPr id="62" name="Card3Icon"/>
          <p:cNvSpPr/>
          <p:nvPr/>
        </p:nvSpPr>
        <p:spPr>
          <a:xfrm>
            <a:off x="8396800" y="2780000"/>
            <a:ext cx="560000" cy="560000"/>
          </a:xfrm>
          <a:prstGeom prst="ellipse">
            <a:avLst/>
          </a:prstGeom>
          <a:solidFill>
            <a:srgbClr val="E6F6FC"/>
          </a:solidFill>
          <a:ln w="12700">
            <a:solidFill>
              <a:srgbClr val="29B5E8"/>
            </a:solidFill>
          </a:ln>
        </p:spPr>
        <p:txBody>
          <a:bodyPr wrap="square" lIns="0" tIns="0" rIns="0" bIns="0" rtlCol="0" anchor="ctr"/>
          <a:lstStyle/>
          <a:p>
            <a:pPr marL="0" indent="0" algn="ctr">
              <a:buNone/>
            </a:pPr>
            <a:r>
              <a:rPr lang="en-US" sz="2000" b="1">
                <a:solidFill>
                  <a:srgbClr val="0056D2"/>
                </a:solidFill>
              </a:rPr>
              <a:t>🛡</a:t>
            </a:r>
          </a:p>
        </p:txBody>
      </p:sp>
      <p:sp>
        <p:nvSpPr>
          <p:cNvPr id="63" name="Card3Cat"/>
          <p:cNvSpPr/>
          <p:nvPr/>
        </p:nvSpPr>
        <p:spPr>
          <a:xfrm>
            <a:off x="8396800" y="3400000"/>
            <a:ext cx="3000000" cy="240000"/>
          </a:xfrm>
          <a:prstGeom prst="rect">
            <a:avLst/>
          </a:prstGeom>
          <a:noFill/>
          <a:ln>
            <a:noFill/>
          </a:ln>
        </p:spPr>
        <p:txBody>
          <a:bodyPr wrap="square" lIns="0" tIns="0" rIns="0" bIns="0" rtlCol="0" anchor="t"/>
          <a:lstStyle/>
          <a:p>
            <a:pPr marL="0" indent="0">
              <a:buNone/>
            </a:pPr>
            <a:r>
              <a:rPr lang="en-US" sz="1000" b="1" kern="0" spc="400">
                <a:solidFill>
                  <a:srgbClr val="29B5E8"/>
                </a:solidFill>
              </a:rPr>
              <a:t>03 — MISSION CRITICAL</a:t>
            </a:r>
          </a:p>
        </p:txBody>
      </p:sp>
      <p:sp>
        <p:nvSpPr>
          <p:cNvPr id="64" name="Card3Header"/>
          <p:cNvSpPr/>
          <p:nvPr/>
        </p:nvSpPr>
        <p:spPr>
          <a:xfrm>
            <a:off x="8396800" y="3650000"/>
            <a:ext cx="3000000" cy="380000"/>
          </a:xfrm>
          <a:prstGeom prst="rect">
            <a:avLst/>
          </a:prstGeom>
          <a:noFill/>
          <a:ln>
            <a:noFill/>
          </a:ln>
        </p:spPr>
        <p:txBody>
          <a:bodyPr wrap="square" lIns="0" tIns="0" rIns="0" bIns="0" rtlCol="0" anchor="ctr"/>
          <a:lstStyle/>
          <a:p>
            <a:pPr marL="0" indent="0">
              <a:buNone/>
            </a:pPr>
            <a:r>
              <a:rPr lang="en-US" sz="1800" b="1">
                <a:solidFill>
                  <a:srgbClr val="0A2540"/>
                </a:solidFill>
              </a:rPr>
              <a:t>Security &amp; Operations</a:t>
            </a:r>
          </a:p>
        </p:txBody>
      </p:sp>
      <p:sp>
        <p:nvSpPr>
          <p:cNvPr id="65" name="C3Div"/>
          <p:cNvSpPr/>
          <p:nvPr/>
        </p:nvSpPr>
        <p:spPr>
          <a:xfrm>
            <a:off x="8396800" y="4150000"/>
            <a:ext cx="2992280" cy="0"/>
          </a:xfrm>
          <a:prstGeom prst="line">
            <a:avLst/>
          </a:prstGeom>
          <a:ln w="6350">
            <a:solidFill>
              <a:srgbClr val="E6EDF3"/>
            </a:solidFill>
          </a:ln>
        </p:spPr>
      </p:sp>
      <p:sp>
        <p:nvSpPr>
          <p:cNvPr id="66" name="C3P1L"/>
          <p:cNvSpPr/>
          <p:nvPr/>
        </p:nvSpPr>
        <p:spPr>
          <a:xfrm>
            <a:off x="8396800" y="4250000"/>
            <a:ext cx="2992280" cy="280000"/>
          </a:xfrm>
          <a:prstGeom prst="rect">
            <a:avLst/>
          </a:prstGeom>
          <a:noFill/>
          <a:ln>
            <a:noFill/>
          </a:ln>
        </p:spPr>
        <p:txBody>
          <a:bodyPr wrap="square" lIns="0" tIns="0" rIns="0" bIns="0" rtlCol="0" anchor="t"/>
          <a:lstStyle/>
          <a:p>
            <a:pPr marL="0" indent="0">
              <a:buNone/>
            </a:pPr>
            <a:r>
              <a:rPr lang="en-US" sz="1200" b="1">
                <a:solidFill>
                  <a:srgbClr val="0056D2"/>
                </a:solidFill>
              </a:rPr>
              <a:t>Security Video Intelligence</a:t>
            </a:r>
          </a:p>
        </p:txBody>
      </p:sp>
      <p:sp>
        <p:nvSpPr>
          <p:cNvPr id="67" name="C3P1B"/>
          <p:cNvSpPr/>
          <p:nvPr/>
        </p:nvSpPr>
        <p:spPr>
          <a:xfrm>
            <a:off x="8396800" y="4540000"/>
            <a:ext cx="2992280" cy="640000"/>
          </a:xfrm>
          <a:prstGeom prst="rect">
            <a:avLst/>
          </a:prstGeom>
          <a:noFill/>
          <a:ln>
            <a:noFill/>
          </a:ln>
        </p:spPr>
        <p:txBody>
          <a:bodyPr wrap="square" lIns="0" tIns="0" rIns="0" bIns="0" rtlCol="0" anchor="t"/>
          <a:lstStyle/>
          <a:p>
            <a:pPr marL="0" indent="0">
              <a:lnSpc>
                <a:spcPct val="120000"/>
              </a:lnSpc>
              <a:buNone/>
            </a:pPr>
            <a:r>
              <a:rPr lang="en-US" sz="1050">
                <a:solidFill>
                  <a:srgbClr val="5C6F84"/>
                </a:solidFill>
              </a:rPr>
              <a:t>Locate anomalies in hours of surveillance footage with natural language.</a:t>
            </a:r>
          </a:p>
        </p:txBody>
      </p:sp>
      <p:sp>
        <p:nvSpPr>
          <p:cNvPr id="68" name="C3P2L"/>
          <p:cNvSpPr/>
          <p:nvPr/>
        </p:nvSpPr>
        <p:spPr>
          <a:xfrm>
            <a:off x="8396800" y="5250000"/>
            <a:ext cx="2992280" cy="280000"/>
          </a:xfrm>
          <a:prstGeom prst="rect">
            <a:avLst/>
          </a:prstGeom>
          <a:noFill/>
          <a:ln>
            <a:noFill/>
          </a:ln>
        </p:spPr>
        <p:txBody>
          <a:bodyPr wrap="square" lIns="0" tIns="0" rIns="0" bIns="0" rtlCol="0" anchor="t"/>
          <a:lstStyle/>
          <a:p>
            <a:pPr marL="0" indent="0">
              <a:buNone/>
            </a:pPr>
            <a:r>
              <a:rPr lang="en-US" sz="1200" b="1">
                <a:solidFill>
                  <a:srgbClr val="0056D2"/>
                </a:solidFill>
              </a:rPr>
              <a:t>Critical Communications</a:t>
            </a:r>
          </a:p>
        </p:txBody>
      </p:sp>
      <p:sp>
        <p:nvSpPr>
          <p:cNvPr id="69" name="C3P2B"/>
          <p:cNvSpPr/>
          <p:nvPr/>
        </p:nvSpPr>
        <p:spPr>
          <a:xfrm>
            <a:off x="8396800" y="5540000"/>
            <a:ext cx="2992280" cy="660000"/>
          </a:xfrm>
          <a:prstGeom prst="rect">
            <a:avLst/>
          </a:prstGeom>
          <a:noFill/>
          <a:ln>
            <a:noFill/>
          </a:ln>
        </p:spPr>
        <p:txBody>
          <a:bodyPr wrap="square" lIns="0" tIns="0" rIns="0" bIns="0" rtlCol="0" anchor="t"/>
          <a:lstStyle/>
          <a:p>
            <a:pPr marL="0" indent="0">
              <a:lnSpc>
                <a:spcPct val="120000"/>
              </a:lnSpc>
              <a:buNone/>
            </a:pPr>
            <a:r>
              <a:rPr lang="en-US" sz="1050">
                <a:solidFill>
                  <a:srgbClr val="5C6F84"/>
                </a:solidFill>
              </a:rPr>
              <a:t>Search radio, dispatch, and command-center channels for spoken alerts.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opBar"/>
          <p:cNvSpPr/>
          <p:nvPr/>
        </p:nvSpPr>
        <p:spPr>
          <a:xfrm>
            <a:off x="0" y="0"/>
            <a:ext cx="12161520" cy="54864"/>
          </a:xfrm>
          <a:prstGeom prst="rect">
            <a:avLst/>
          </a:prstGeom>
          <a:solidFill>
            <a:srgbClr val="29B5E8"/>
          </a:solidFill>
          <a:ln>
            <a:noFill/>
          </a:ln>
        </p:spPr>
      </p:sp>
      <p:sp>
        <p:nvSpPr>
          <p:cNvPr id="3" name="Canvas"/>
          <p:cNvSpPr/>
          <p:nvPr/>
        </p:nvSpPr>
        <p:spPr>
          <a:xfrm>
            <a:off x="0" y="2360000"/>
            <a:ext cx="12192000" cy="4080000"/>
          </a:xfrm>
          <a:prstGeom prst="rect">
            <a:avLst/>
          </a:prstGeom>
          <a:solidFill>
            <a:srgbClr val="F4F7F9"/>
          </a:solidFill>
          <a:ln>
            <a:noFill/>
          </a:ln>
        </p:spPr>
      </p:sp>
      <p:sp>
        <p:nvSpPr>
          <p:cNvPr id="4" name="Divider"/>
          <p:cNvSpPr/>
          <p:nvPr/>
        </p:nvSpPr>
        <p:spPr>
          <a:xfrm>
            <a:off x="502920" y="6600000"/>
            <a:ext cx="11186160" cy="0"/>
          </a:xfrm>
          <a:prstGeom prst="line">
            <a:avLst/>
          </a:prstGeom>
          <a:ln w="12700">
            <a:solidFill>
              <a:srgbClr val="D9E2EC"/>
            </a:solidFill>
          </a:ln>
        </p:spPr>
      </p:sp>
      <p:sp>
        <p:nvSpPr>
          <p:cNvPr id="6" name="EyebrowAccent"/>
          <p:cNvSpPr/>
          <p:nvPr/>
        </p:nvSpPr>
        <p:spPr>
          <a:xfrm>
            <a:off x="502920" y="953703"/>
            <a:ext cx="914400" cy="36576"/>
          </a:xfrm>
          <a:prstGeom prst="rect">
            <a:avLst/>
          </a:prstGeom>
          <a:solidFill>
            <a:srgbClr val="29B5E8"/>
          </a:solidFill>
          <a:ln>
            <a:noFill/>
          </a:ln>
        </p:spPr>
        <p:txBody>
          <a:bodyPr/>
          <a:lstStyle/>
          <a:p>
            <a:endParaRPr lang="en-US"/>
          </a:p>
        </p:txBody>
      </p:sp>
      <p:sp>
        <p:nvSpPr>
          <p:cNvPr id="7" name="Eyebrow"/>
          <p:cNvSpPr/>
          <p:nvPr/>
        </p:nvSpPr>
        <p:spPr>
          <a:xfrm>
            <a:off x="502920" y="497706"/>
            <a:ext cx="8000000" cy="274320"/>
          </a:xfrm>
          <a:prstGeom prst="rect">
            <a:avLst/>
          </a:prstGeom>
          <a:noFill/>
          <a:ln>
            <a:noFill/>
          </a:ln>
        </p:spPr>
        <p:txBody>
          <a:bodyPr wrap="square" lIns="0" tIns="0" rIns="0" bIns="0" rtlCol="0" anchor="ctr"/>
          <a:lstStyle/>
          <a:p>
            <a:r>
              <a:rPr lang="en-US" sz="1600" b="1" kern="0" spc="400">
                <a:solidFill>
                  <a:srgbClr val="29B5E8"/>
                </a:solidFill>
              </a:rPr>
              <a:t>07 — FUTURE SCOPE</a:t>
            </a:r>
            <a:endParaRPr lang="en-US" sz="1600" b="1" kern="0" spc="400">
              <a:solidFill>
                <a:srgbClr val="29B5E8"/>
              </a:solidFill>
              <a:ea typeface="Calibri"/>
              <a:cs typeface="Calibri"/>
            </a:endParaRPr>
          </a:p>
        </p:txBody>
      </p:sp>
      <p:sp>
        <p:nvSpPr>
          <p:cNvPr id="8" name="Title"/>
          <p:cNvSpPr/>
          <p:nvPr/>
        </p:nvSpPr>
        <p:spPr>
          <a:xfrm>
            <a:off x="502920" y="1143000"/>
            <a:ext cx="11186160" cy="600000"/>
          </a:xfrm>
          <a:prstGeom prst="rect">
            <a:avLst/>
          </a:prstGeom>
          <a:noFill/>
          <a:ln>
            <a:noFill/>
          </a:ln>
        </p:spPr>
        <p:txBody>
          <a:bodyPr wrap="square" lIns="0" tIns="0" rIns="0" bIns="0" rtlCol="0" anchor="ctr"/>
          <a:lstStyle/>
          <a:p>
            <a:pPr marL="0" indent="0">
              <a:buNone/>
            </a:pPr>
            <a:r>
              <a:rPr lang="en-US" sz="3200" b="1">
                <a:solidFill>
                  <a:srgbClr val="0A2540"/>
                </a:solidFill>
                <a:latin typeface="Calibri"/>
              </a:rPr>
              <a:t>Future Scope</a:t>
            </a:r>
          </a:p>
        </p:txBody>
      </p:sp>
      <p:sp>
        <p:nvSpPr>
          <p:cNvPr id="9" name="Subtitle"/>
          <p:cNvSpPr/>
          <p:nvPr/>
        </p:nvSpPr>
        <p:spPr>
          <a:xfrm>
            <a:off x="502920" y="1820000"/>
            <a:ext cx="11186160" cy="400000"/>
          </a:xfrm>
          <a:prstGeom prst="rect">
            <a:avLst/>
          </a:prstGeom>
          <a:noFill/>
          <a:ln>
            <a:noFill/>
          </a:ln>
        </p:spPr>
        <p:txBody>
          <a:bodyPr wrap="square" lIns="0" tIns="0" rIns="0" bIns="0" rtlCol="0" anchor="ctr"/>
          <a:lstStyle/>
          <a:p>
            <a:pPr marL="0" indent="0">
              <a:buNone/>
            </a:pPr>
            <a:r>
              <a:rPr lang="en-US" sz="1400" i="1">
                <a:solidFill>
                  <a:srgbClr val="5C6F84"/>
                </a:solidFill>
                <a:latin typeface="Calibri"/>
              </a:rPr>
              <a:t>Two high-impact enhancements to deepen infrastructure and maximize user value</a:t>
            </a:r>
          </a:p>
        </p:txBody>
      </p:sp>
      <p:sp>
        <p:nvSpPr>
          <p:cNvPr id="20" name="Card1"/>
          <p:cNvSpPr/>
          <p:nvPr/>
        </p:nvSpPr>
        <p:spPr>
          <a:xfrm>
            <a:off x="502920" y="2540000"/>
            <a:ext cx="5417820" cy="3700000"/>
          </a:xfrm>
          <a:prstGeom prst="roundRect">
            <a:avLst>
              <a:gd name="adj" fmla="val 4000"/>
            </a:avLst>
          </a:prstGeom>
          <a:solidFill>
            <a:srgbClr val="FFFFFF"/>
          </a:solidFill>
          <a:ln w="12700">
            <a:solidFill>
              <a:srgbClr val="D9E2EC"/>
            </a:solidFill>
          </a:ln>
          <a:effectLst>
            <a:outerShdw blurRad="177800" dist="25400" dir="5400000" algn="bl" rotWithShape="0">
              <a:srgbClr val="0A2540">
                <a:alpha val="6000"/>
              </a:srgbClr>
            </a:outerShdw>
          </a:effectLst>
        </p:spPr>
        <p:txBody>
          <a:bodyPr/>
          <a:lstStyle/>
          <a:p>
            <a:endParaRPr lang="en-US"/>
          </a:p>
        </p:txBody>
      </p:sp>
      <p:sp>
        <p:nvSpPr>
          <p:cNvPr id="21" name="Card1Accent"/>
          <p:cNvSpPr/>
          <p:nvPr/>
        </p:nvSpPr>
        <p:spPr>
          <a:xfrm>
            <a:off x="502920" y="2540000"/>
            <a:ext cx="5417820" cy="80000"/>
          </a:xfrm>
          <a:prstGeom prst="rect">
            <a:avLst/>
          </a:prstGeom>
          <a:solidFill>
            <a:srgbClr val="0056D2"/>
          </a:solidFill>
          <a:ln>
            <a:noFill/>
          </a:ln>
        </p:spPr>
        <p:txBody>
          <a:bodyPr/>
          <a:lstStyle/>
          <a:p>
            <a:endParaRPr lang="en-US"/>
          </a:p>
        </p:txBody>
      </p:sp>
      <p:sp>
        <p:nvSpPr>
          <p:cNvPr id="22" name="Card1Icon"/>
          <p:cNvSpPr/>
          <p:nvPr/>
        </p:nvSpPr>
        <p:spPr>
          <a:xfrm>
            <a:off x="800000" y="2820000"/>
            <a:ext cx="560000" cy="560000"/>
          </a:xfrm>
          <a:prstGeom prst="ellipse">
            <a:avLst/>
          </a:prstGeom>
          <a:solidFill>
            <a:srgbClr val="E6F6FC"/>
          </a:solidFill>
          <a:ln w="12700">
            <a:solidFill>
              <a:srgbClr val="29B5E8"/>
            </a:solidFill>
          </a:ln>
        </p:spPr>
        <p:txBody>
          <a:bodyPr wrap="square" lIns="0" tIns="0" rIns="0" bIns="0" rtlCol="0" anchor="ctr"/>
          <a:lstStyle/>
          <a:p>
            <a:pPr marL="0" indent="0" algn="ctr">
              <a:buNone/>
            </a:pPr>
            <a:r>
              <a:rPr lang="en-US" sz="2000" b="1">
                <a:solidFill>
                  <a:srgbClr val="0056D2"/>
                </a:solidFill>
              </a:rPr>
              <a:t>☁</a:t>
            </a:r>
          </a:p>
        </p:txBody>
      </p:sp>
      <p:sp>
        <p:nvSpPr>
          <p:cNvPr id="23" name="Card1Cat"/>
          <p:cNvSpPr/>
          <p:nvPr/>
        </p:nvSpPr>
        <p:spPr>
          <a:xfrm>
            <a:off x="1500000" y="2820000"/>
            <a:ext cx="3800000" cy="240000"/>
          </a:xfrm>
          <a:prstGeom prst="rect">
            <a:avLst/>
          </a:prstGeom>
          <a:noFill/>
          <a:ln>
            <a:noFill/>
          </a:ln>
        </p:spPr>
        <p:txBody>
          <a:bodyPr wrap="square" lIns="0" tIns="0" rIns="0" bIns="0" rtlCol="0" anchor="b"/>
          <a:lstStyle/>
          <a:p>
            <a:pPr marL="0" indent="0">
              <a:buNone/>
            </a:pPr>
            <a:r>
              <a:rPr lang="en-US" sz="1000" b="1" kern="0" spc="400">
                <a:solidFill>
                  <a:srgbClr val="29B5E8"/>
                </a:solidFill>
              </a:rPr>
              <a:t>01 — NATIVE CLOUD INGESTION</a:t>
            </a:r>
          </a:p>
        </p:txBody>
      </p:sp>
      <p:sp>
        <p:nvSpPr>
          <p:cNvPr id="24" name="Card1Header"/>
          <p:cNvSpPr/>
          <p:nvPr/>
        </p:nvSpPr>
        <p:spPr>
          <a:xfrm>
            <a:off x="1500000" y="3060000"/>
            <a:ext cx="3800000" cy="380000"/>
          </a:xfrm>
          <a:prstGeom prst="rect">
            <a:avLst/>
          </a:prstGeom>
          <a:noFill/>
          <a:ln>
            <a:noFill/>
          </a:ln>
        </p:spPr>
        <p:txBody>
          <a:bodyPr wrap="square" lIns="0" tIns="0" rIns="0" bIns="0" rtlCol="0" anchor="ctr"/>
          <a:lstStyle/>
          <a:p>
            <a:pPr marL="0" indent="0">
              <a:buNone/>
            </a:pPr>
            <a:r>
              <a:rPr lang="en-US" sz="2000" b="1">
                <a:solidFill>
                  <a:srgbClr val="0A2540"/>
                </a:solidFill>
              </a:rPr>
              <a:t>Upgraded Snowflake Infrastructure</a:t>
            </a:r>
          </a:p>
        </p:txBody>
      </p:sp>
      <p:sp>
        <p:nvSpPr>
          <p:cNvPr id="25" name="Card1Div"/>
          <p:cNvSpPr/>
          <p:nvPr/>
        </p:nvSpPr>
        <p:spPr>
          <a:xfrm>
            <a:off x="800000" y="3580000"/>
            <a:ext cx="4820740" cy="0"/>
          </a:xfrm>
          <a:prstGeom prst="line">
            <a:avLst/>
          </a:prstGeom>
          <a:ln w="6350">
            <a:solidFill>
              <a:srgbClr val="E6EDF3"/>
            </a:solidFill>
          </a:ln>
        </p:spPr>
        <p:txBody>
          <a:bodyPr/>
          <a:lstStyle/>
          <a:p>
            <a:endParaRPr lang="en-US"/>
          </a:p>
        </p:txBody>
      </p:sp>
      <p:sp>
        <p:nvSpPr>
          <p:cNvPr id="26" name="Card1P1Label"/>
          <p:cNvSpPr/>
          <p:nvPr/>
        </p:nvSpPr>
        <p:spPr>
          <a:xfrm>
            <a:off x="800000" y="3700000"/>
            <a:ext cx="4820740" cy="280000"/>
          </a:xfrm>
          <a:prstGeom prst="rect">
            <a:avLst/>
          </a:prstGeom>
          <a:noFill/>
          <a:ln>
            <a:noFill/>
          </a:ln>
        </p:spPr>
        <p:txBody>
          <a:bodyPr wrap="square" lIns="0" tIns="0" rIns="0" bIns="0" rtlCol="0" anchor="t"/>
          <a:lstStyle/>
          <a:p>
            <a:pPr marL="0" indent="0">
              <a:buNone/>
            </a:pPr>
            <a:r>
              <a:rPr lang="en-US" sz="1300" b="1">
                <a:solidFill>
                  <a:srgbClr val="0056D2"/>
                </a:solidFill>
              </a:rPr>
              <a:t>Native AI Audio Transcription</a:t>
            </a:r>
          </a:p>
        </p:txBody>
      </p:sp>
      <p:sp>
        <p:nvSpPr>
          <p:cNvPr id="27" name="Card1P1Body"/>
          <p:cNvSpPr/>
          <p:nvPr/>
        </p:nvSpPr>
        <p:spPr>
          <a:xfrm>
            <a:off x="800000" y="3990000"/>
            <a:ext cx="4820740" cy="620000"/>
          </a:xfrm>
          <a:prstGeom prst="rect">
            <a:avLst/>
          </a:prstGeom>
          <a:noFill/>
          <a:ln>
            <a:noFill/>
          </a:ln>
        </p:spPr>
        <p:txBody>
          <a:bodyPr wrap="square" lIns="0" tIns="0" rIns="0" bIns="0" rtlCol="0" anchor="t"/>
          <a:lstStyle/>
          <a:p>
            <a:pPr marL="0" indent="0">
              <a:lnSpc>
                <a:spcPct val="120000"/>
              </a:lnSpc>
              <a:buNone/>
            </a:pPr>
            <a:r>
              <a:rPr lang="en-US" sz="1150">
                <a:solidFill>
                  <a:srgbClr val="5C6F84"/>
                </a:solidFill>
              </a:rPr>
              <a:t>Migrate transcription directly into the data cloud using Snowflake’s native Cortex </a:t>
            </a:r>
            <a:r>
              <a:rPr lang="en-US" sz="1150" b="1">
                <a:solidFill>
                  <a:srgbClr val="0A2540"/>
                </a:solidFill>
                <a:latin typeface="Consolas"/>
              </a:rPr>
              <a:t>AI_TRANSCRIBE</a:t>
            </a:r>
            <a:r>
              <a:rPr lang="en-US" sz="1150">
                <a:solidFill>
                  <a:srgbClr val="5C6F84"/>
                </a:solidFill>
              </a:rPr>
              <a:t>.</a:t>
            </a:r>
          </a:p>
        </p:txBody>
      </p:sp>
      <p:sp>
        <p:nvSpPr>
          <p:cNvPr id="28" name="Card1P2Label"/>
          <p:cNvSpPr/>
          <p:nvPr/>
        </p:nvSpPr>
        <p:spPr>
          <a:xfrm>
            <a:off x="800000" y="4720000"/>
            <a:ext cx="4820740" cy="280000"/>
          </a:xfrm>
          <a:prstGeom prst="rect">
            <a:avLst/>
          </a:prstGeom>
          <a:noFill/>
          <a:ln>
            <a:noFill/>
          </a:ln>
        </p:spPr>
        <p:txBody>
          <a:bodyPr wrap="square" lIns="0" tIns="0" rIns="0" bIns="0" rtlCol="0" anchor="t"/>
          <a:lstStyle/>
          <a:p>
            <a:pPr marL="0" indent="0">
              <a:buNone/>
            </a:pPr>
            <a:r>
              <a:rPr lang="en-US" sz="1300" b="1">
                <a:solidFill>
                  <a:srgbClr val="0056D2"/>
                </a:solidFill>
              </a:rPr>
              <a:t>Perimeter Security</a:t>
            </a:r>
          </a:p>
        </p:txBody>
      </p:sp>
      <p:sp>
        <p:nvSpPr>
          <p:cNvPr id="29" name="Card1P2Body"/>
          <p:cNvSpPr/>
          <p:nvPr/>
        </p:nvSpPr>
        <p:spPr>
          <a:xfrm>
            <a:off x="800000" y="5010000"/>
            <a:ext cx="4820740" cy="1100000"/>
          </a:xfrm>
          <a:prstGeom prst="rect">
            <a:avLst/>
          </a:prstGeom>
          <a:noFill/>
          <a:ln>
            <a:noFill/>
          </a:ln>
        </p:spPr>
        <p:txBody>
          <a:bodyPr wrap="square" lIns="0" tIns="0" rIns="0" bIns="0" rtlCol="0" anchor="t"/>
          <a:lstStyle/>
          <a:p>
            <a:pPr marL="0" indent="0">
              <a:lnSpc>
                <a:spcPct val="120000"/>
              </a:lnSpc>
              <a:buNone/>
            </a:pPr>
            <a:r>
              <a:rPr lang="en-US" sz="1150">
                <a:solidFill>
                  <a:srgbClr val="5C6F84"/>
                </a:solidFill>
              </a:rPr>
              <a:t>Eliminates external extraction servers, executing the entire media lifecycle inside a secure, singular data vault.</a:t>
            </a:r>
          </a:p>
        </p:txBody>
      </p:sp>
      <p:sp>
        <p:nvSpPr>
          <p:cNvPr id="40" name="Card2"/>
          <p:cNvSpPr/>
          <p:nvPr/>
        </p:nvSpPr>
        <p:spPr>
          <a:xfrm>
            <a:off x="6271260" y="2540000"/>
            <a:ext cx="5417820" cy="3700000"/>
          </a:xfrm>
          <a:prstGeom prst="roundRect">
            <a:avLst>
              <a:gd name="adj" fmla="val 4000"/>
            </a:avLst>
          </a:prstGeom>
          <a:solidFill>
            <a:srgbClr val="FFFFFF"/>
          </a:solidFill>
          <a:ln w="12700">
            <a:solidFill>
              <a:srgbClr val="D9E2EC"/>
            </a:solidFill>
          </a:ln>
          <a:effectLst>
            <a:outerShdw blurRad="177800" dist="25400" dir="5400000" algn="bl" rotWithShape="0">
              <a:srgbClr val="0A2540">
                <a:alpha val="6000"/>
              </a:srgbClr>
            </a:outerShdw>
          </a:effectLst>
        </p:spPr>
        <p:txBody>
          <a:bodyPr/>
          <a:lstStyle/>
          <a:p>
            <a:endParaRPr lang="en-US"/>
          </a:p>
        </p:txBody>
      </p:sp>
      <p:sp>
        <p:nvSpPr>
          <p:cNvPr id="41" name="Card2Accent"/>
          <p:cNvSpPr/>
          <p:nvPr/>
        </p:nvSpPr>
        <p:spPr>
          <a:xfrm>
            <a:off x="6271260" y="2540000"/>
            <a:ext cx="5417820" cy="80000"/>
          </a:xfrm>
          <a:prstGeom prst="rect">
            <a:avLst/>
          </a:prstGeom>
          <a:solidFill>
            <a:srgbClr val="29B5E8"/>
          </a:solidFill>
          <a:ln>
            <a:noFill/>
          </a:ln>
        </p:spPr>
        <p:txBody>
          <a:bodyPr/>
          <a:lstStyle/>
          <a:p>
            <a:endParaRPr lang="en-US"/>
          </a:p>
        </p:txBody>
      </p:sp>
      <p:sp>
        <p:nvSpPr>
          <p:cNvPr id="42" name="Card2Icon"/>
          <p:cNvSpPr/>
          <p:nvPr/>
        </p:nvSpPr>
        <p:spPr>
          <a:xfrm>
            <a:off x="6568340" y="2820000"/>
            <a:ext cx="560000" cy="560000"/>
          </a:xfrm>
          <a:prstGeom prst="ellipse">
            <a:avLst/>
          </a:prstGeom>
          <a:solidFill>
            <a:srgbClr val="E6F6FC"/>
          </a:solidFill>
          <a:ln w="12700">
            <a:solidFill>
              <a:srgbClr val="29B5E8"/>
            </a:solidFill>
          </a:ln>
        </p:spPr>
        <p:txBody>
          <a:bodyPr wrap="square" lIns="0" tIns="0" rIns="0" bIns="0" rtlCol="0" anchor="ctr"/>
          <a:lstStyle/>
          <a:p>
            <a:pPr marL="0" indent="0" algn="ctr">
              <a:buNone/>
            </a:pPr>
            <a:r>
              <a:rPr lang="en-US" sz="2000" b="1">
                <a:solidFill>
                  <a:srgbClr val="0056D2"/>
                </a:solidFill>
              </a:rPr>
              <a:t>✨</a:t>
            </a:r>
          </a:p>
        </p:txBody>
      </p:sp>
      <p:sp>
        <p:nvSpPr>
          <p:cNvPr id="43" name="Card2Cat"/>
          <p:cNvSpPr/>
          <p:nvPr/>
        </p:nvSpPr>
        <p:spPr>
          <a:xfrm>
            <a:off x="7268340" y="2820000"/>
            <a:ext cx="3800000" cy="240000"/>
          </a:xfrm>
          <a:prstGeom prst="rect">
            <a:avLst/>
          </a:prstGeom>
          <a:noFill/>
          <a:ln>
            <a:noFill/>
          </a:ln>
        </p:spPr>
        <p:txBody>
          <a:bodyPr wrap="square" lIns="0" tIns="0" rIns="0" bIns="0" rtlCol="0" anchor="b"/>
          <a:lstStyle/>
          <a:p>
            <a:pPr marL="0" indent="0">
              <a:buNone/>
            </a:pPr>
            <a:r>
              <a:rPr lang="en-US" sz="1000" b="1" kern="0" spc="400">
                <a:solidFill>
                  <a:srgbClr val="29B5E8"/>
                </a:solidFill>
              </a:rPr>
              <a:t>02 — AI SUMMARIZATION LAYER</a:t>
            </a:r>
          </a:p>
        </p:txBody>
      </p:sp>
      <p:sp>
        <p:nvSpPr>
          <p:cNvPr id="44" name="Card2Header"/>
          <p:cNvSpPr/>
          <p:nvPr/>
        </p:nvSpPr>
        <p:spPr>
          <a:xfrm>
            <a:off x="7268340" y="3060000"/>
            <a:ext cx="3800000" cy="380000"/>
          </a:xfrm>
          <a:prstGeom prst="rect">
            <a:avLst/>
          </a:prstGeom>
          <a:noFill/>
          <a:ln>
            <a:noFill/>
          </a:ln>
        </p:spPr>
        <p:txBody>
          <a:bodyPr wrap="square" lIns="0" tIns="0" rIns="0" bIns="0" rtlCol="0" anchor="ctr"/>
          <a:lstStyle/>
          <a:p>
            <a:pPr marL="0" indent="0">
              <a:buNone/>
            </a:pPr>
            <a:r>
              <a:rPr lang="en-US" sz="2000" b="1">
                <a:solidFill>
                  <a:srgbClr val="0A2540"/>
                </a:solidFill>
              </a:rPr>
              <a:t>Generative Media Intelligence</a:t>
            </a:r>
          </a:p>
        </p:txBody>
      </p:sp>
      <p:sp>
        <p:nvSpPr>
          <p:cNvPr id="45" name="Card2Div"/>
          <p:cNvSpPr/>
          <p:nvPr/>
        </p:nvSpPr>
        <p:spPr>
          <a:xfrm>
            <a:off x="6568340" y="3580000"/>
            <a:ext cx="4820740" cy="0"/>
          </a:xfrm>
          <a:prstGeom prst="line">
            <a:avLst/>
          </a:prstGeom>
          <a:ln w="6350">
            <a:solidFill>
              <a:srgbClr val="E6EDF3"/>
            </a:solidFill>
          </a:ln>
        </p:spPr>
        <p:txBody>
          <a:bodyPr/>
          <a:lstStyle/>
          <a:p>
            <a:endParaRPr lang="en-US"/>
          </a:p>
        </p:txBody>
      </p:sp>
      <p:sp>
        <p:nvSpPr>
          <p:cNvPr id="46" name="Card2P1Label"/>
          <p:cNvSpPr/>
          <p:nvPr/>
        </p:nvSpPr>
        <p:spPr>
          <a:xfrm>
            <a:off x="6568340" y="3700000"/>
            <a:ext cx="4820740" cy="280000"/>
          </a:xfrm>
          <a:prstGeom prst="rect">
            <a:avLst/>
          </a:prstGeom>
          <a:noFill/>
          <a:ln>
            <a:noFill/>
          </a:ln>
        </p:spPr>
        <p:txBody>
          <a:bodyPr wrap="square" lIns="0" tIns="0" rIns="0" bIns="0" rtlCol="0" anchor="t"/>
          <a:lstStyle/>
          <a:p>
            <a:pPr marL="0" indent="0">
              <a:buNone/>
            </a:pPr>
            <a:r>
              <a:rPr lang="en-US" sz="1300" b="1">
                <a:solidFill>
                  <a:srgbClr val="0056D2"/>
                </a:solidFill>
              </a:rPr>
              <a:t>Automated Video Summarization</a:t>
            </a:r>
          </a:p>
        </p:txBody>
      </p:sp>
      <p:sp>
        <p:nvSpPr>
          <p:cNvPr id="47" name="Card2P1Body"/>
          <p:cNvSpPr/>
          <p:nvPr/>
        </p:nvSpPr>
        <p:spPr>
          <a:xfrm>
            <a:off x="6568340" y="3990000"/>
            <a:ext cx="4820740" cy="620000"/>
          </a:xfrm>
          <a:prstGeom prst="rect">
            <a:avLst/>
          </a:prstGeom>
          <a:noFill/>
          <a:ln>
            <a:noFill/>
          </a:ln>
        </p:spPr>
        <p:txBody>
          <a:bodyPr wrap="square" lIns="0" tIns="0" rIns="0" bIns="0" rtlCol="0" anchor="t"/>
          <a:lstStyle/>
          <a:p>
            <a:pPr marL="0" indent="0">
              <a:lnSpc>
                <a:spcPct val="120000"/>
              </a:lnSpc>
              <a:buNone/>
            </a:pPr>
            <a:r>
              <a:rPr lang="en-US" sz="1150">
                <a:solidFill>
                  <a:srgbClr val="5C6F84"/>
                </a:solidFill>
              </a:rPr>
              <a:t>Generate instant text overviews and key takeaways from long recordings via Cortex LLM processing.</a:t>
            </a:r>
          </a:p>
        </p:txBody>
      </p:sp>
      <p:sp>
        <p:nvSpPr>
          <p:cNvPr id="48" name="Card2P2Label"/>
          <p:cNvSpPr/>
          <p:nvPr/>
        </p:nvSpPr>
        <p:spPr>
          <a:xfrm>
            <a:off x="6568340" y="4720000"/>
            <a:ext cx="4820740" cy="280000"/>
          </a:xfrm>
          <a:prstGeom prst="rect">
            <a:avLst/>
          </a:prstGeom>
          <a:noFill/>
          <a:ln>
            <a:noFill/>
          </a:ln>
        </p:spPr>
        <p:txBody>
          <a:bodyPr wrap="square" lIns="0" tIns="0" rIns="0" bIns="0" rtlCol="0" anchor="t"/>
          <a:lstStyle/>
          <a:p>
            <a:pPr marL="0" indent="0">
              <a:buNone/>
            </a:pPr>
            <a:r>
              <a:rPr lang="en-US" sz="1300" b="1">
                <a:solidFill>
                  <a:srgbClr val="0056D2"/>
                </a:solidFill>
              </a:rPr>
              <a:t>Intelligent Navigation</a:t>
            </a:r>
          </a:p>
        </p:txBody>
      </p:sp>
      <p:sp>
        <p:nvSpPr>
          <p:cNvPr id="49" name="Card2P2Body"/>
          <p:cNvSpPr/>
          <p:nvPr/>
        </p:nvSpPr>
        <p:spPr>
          <a:xfrm>
            <a:off x="6568340" y="5010000"/>
            <a:ext cx="4820740" cy="1100000"/>
          </a:xfrm>
          <a:prstGeom prst="rect">
            <a:avLst/>
          </a:prstGeom>
          <a:noFill/>
          <a:ln>
            <a:noFill/>
          </a:ln>
        </p:spPr>
        <p:txBody>
          <a:bodyPr wrap="square" lIns="0" tIns="0" rIns="0" bIns="0" rtlCol="0" anchor="t"/>
          <a:lstStyle/>
          <a:p>
            <a:pPr marL="0" indent="0">
              <a:lnSpc>
                <a:spcPct val="120000"/>
              </a:lnSpc>
              <a:buNone/>
            </a:pPr>
            <a:r>
              <a:rPr lang="en-US" sz="1150">
                <a:solidFill>
                  <a:srgbClr val="5C6F84"/>
                </a:solidFill>
              </a:rPr>
              <a:t>Insert automated chapter markers and verbal action-item tracking beside the responsive player layout.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54864"/>
          </a:xfrm>
          <a:prstGeom prst="rect">
            <a:avLst/>
          </a:prstGeom>
          <a:solidFill>
            <a:srgbClr val="29B5E8"/>
          </a:solidFill>
          <a:ln w="12700">
            <a:solidFill>
              <a:srgbClr val="29B5E8"/>
            </a:solidFill>
            <a:prstDash val="solid"/>
          </a:ln>
        </p:spPr>
      </p:sp>
      <p:sp>
        <p:nvSpPr>
          <p:cNvPr id="6" name="Shape 4"/>
          <p:cNvSpPr/>
          <p:nvPr/>
        </p:nvSpPr>
        <p:spPr>
          <a:xfrm>
            <a:off x="502920" y="6400800"/>
            <a:ext cx="11155680" cy="0"/>
          </a:xfrm>
          <a:prstGeom prst="line">
            <a:avLst/>
          </a:prstGeom>
          <a:noFill/>
          <a:ln w="12700">
            <a:solidFill>
              <a:srgbClr val="D9E2EC"/>
            </a:solidFill>
            <a:prstDash val="solid"/>
          </a:ln>
        </p:spPr>
        <p:txBody>
          <a:bodyPr/>
          <a:lstStyle/>
          <a:p>
            <a:endParaRPr lang="en-US"/>
          </a:p>
        </p:txBody>
      </p:sp>
      <p:sp>
        <p:nvSpPr>
          <p:cNvPr id="9" name="Text 7"/>
          <p:cNvSpPr/>
          <p:nvPr/>
        </p:nvSpPr>
        <p:spPr>
          <a:xfrm>
            <a:off x="502920" y="467627"/>
            <a:ext cx="7315200" cy="274320"/>
          </a:xfrm>
          <a:prstGeom prst="rect">
            <a:avLst/>
          </a:prstGeom>
          <a:noFill/>
          <a:ln/>
        </p:spPr>
        <p:txBody>
          <a:bodyPr wrap="square" lIns="0" tIns="0" rIns="0" bIns="0" rtlCol="0" anchor="ctr"/>
          <a:lstStyle/>
          <a:p>
            <a:pPr marL="0" indent="0">
              <a:buNone/>
            </a:pPr>
            <a:r>
              <a:rPr lang="en-US" sz="1600" b="1" kern="0" spc="400">
                <a:solidFill>
                  <a:srgbClr val="29B5E8"/>
                </a:solidFill>
              </a:rPr>
              <a:t>08— LIVE DEMO</a:t>
            </a:r>
            <a:endParaRPr lang="en-US" sz="1600" b="1">
              <a:ea typeface="Calibri"/>
              <a:cs typeface="Calibri"/>
            </a:endParaRPr>
          </a:p>
        </p:txBody>
      </p:sp>
      <p:sp>
        <p:nvSpPr>
          <p:cNvPr id="10" name="Text 8"/>
          <p:cNvSpPr/>
          <p:nvPr/>
        </p:nvSpPr>
        <p:spPr>
          <a:xfrm>
            <a:off x="502920" y="1143000"/>
            <a:ext cx="11155680" cy="777240"/>
          </a:xfrm>
          <a:prstGeom prst="rect">
            <a:avLst/>
          </a:prstGeom>
          <a:noFill/>
          <a:ln/>
        </p:spPr>
        <p:txBody>
          <a:bodyPr wrap="square" lIns="0" tIns="0" rIns="0" bIns="0" rtlCol="0" anchor="ctr"/>
          <a:lstStyle/>
          <a:p>
            <a:r>
              <a:rPr lang="en-US" sz="3200" b="1">
                <a:solidFill>
                  <a:srgbClr val="0A2540"/>
                </a:solidFill>
                <a:latin typeface="Calibri"/>
                <a:ea typeface="Calibri"/>
                <a:cs typeface="Calibri"/>
              </a:rPr>
              <a:t>Let's see the utility in action</a:t>
            </a:r>
          </a:p>
        </p:txBody>
      </p:sp>
      <p:sp>
        <p:nvSpPr>
          <p:cNvPr id="11" name="Text 9"/>
          <p:cNvSpPr/>
          <p:nvPr/>
        </p:nvSpPr>
        <p:spPr>
          <a:xfrm>
            <a:off x="502920" y="1874520"/>
            <a:ext cx="11155680" cy="457200"/>
          </a:xfrm>
          <a:prstGeom prst="rect">
            <a:avLst/>
          </a:prstGeom>
          <a:noFill/>
          <a:ln/>
        </p:spPr>
        <p:txBody>
          <a:bodyPr wrap="square" lIns="0" tIns="0" rIns="0" bIns="0" rtlCol="0" anchor="ctr"/>
          <a:lstStyle/>
          <a:p>
            <a:pPr marL="0" indent="0">
              <a:buNone/>
            </a:pPr>
            <a:r>
              <a:rPr lang="en-US" sz="1400" i="1">
                <a:solidFill>
                  <a:srgbClr val="5C6F84"/>
                </a:solidFill>
                <a:latin typeface="Calibri" pitchFamily="34" charset="0"/>
                <a:ea typeface="Calibri" pitchFamily="34" charset="-122"/>
                <a:cs typeface="Calibri" pitchFamily="34" charset="-120"/>
              </a:rPr>
              <a:t>From spoken concept to exact playback — live</a:t>
            </a:r>
            <a:endParaRPr lang="en-US" sz="1400"/>
          </a:p>
        </p:txBody>
      </p:sp>
      <p:sp>
        <p:nvSpPr>
          <p:cNvPr id="12" name="Shape 10"/>
          <p:cNvSpPr/>
          <p:nvPr/>
        </p:nvSpPr>
        <p:spPr>
          <a:xfrm>
            <a:off x="502920" y="903572"/>
            <a:ext cx="914400" cy="36576"/>
          </a:xfrm>
          <a:prstGeom prst="rect">
            <a:avLst/>
          </a:prstGeom>
          <a:solidFill>
            <a:srgbClr val="29B5E8"/>
          </a:solidFill>
          <a:ln w="12700">
            <a:solidFill>
              <a:srgbClr val="29B5E8"/>
            </a:solidFill>
            <a:prstDash val="solid"/>
          </a:ln>
        </p:spPr>
      </p:sp>
      <p:sp>
        <p:nvSpPr>
          <p:cNvPr id="13" name="Shape 11"/>
          <p:cNvSpPr/>
          <p:nvPr/>
        </p:nvSpPr>
        <p:spPr>
          <a:xfrm>
            <a:off x="1325880" y="2560320"/>
            <a:ext cx="9509760" cy="3017520"/>
          </a:xfrm>
          <a:prstGeom prst="roundRect">
            <a:avLst>
              <a:gd name="adj" fmla="val 3636"/>
            </a:avLst>
          </a:prstGeom>
          <a:solidFill>
            <a:srgbClr val="0A2540"/>
          </a:solidFill>
          <a:ln w="12700">
            <a:solidFill>
              <a:srgbClr val="0A2540"/>
            </a:solidFill>
            <a:prstDash val="solid"/>
          </a:ln>
          <a:effectLst>
            <a:outerShdw blurRad="381000" dist="127000" dir="5400000" algn="bl" rotWithShape="0">
              <a:srgbClr val="0A2540">
                <a:alpha val="18000"/>
              </a:srgbClr>
            </a:outerShdw>
          </a:effectLst>
        </p:spPr>
      </p:sp>
      <p:sp>
        <p:nvSpPr>
          <p:cNvPr id="14" name="Shape 12"/>
          <p:cNvSpPr/>
          <p:nvPr/>
        </p:nvSpPr>
        <p:spPr>
          <a:xfrm>
            <a:off x="1463040" y="2697480"/>
            <a:ext cx="9235440" cy="2743200"/>
          </a:xfrm>
          <a:prstGeom prst="rect">
            <a:avLst/>
          </a:prstGeom>
          <a:solidFill>
            <a:srgbClr val="F4F7F9"/>
          </a:solidFill>
          <a:ln w="12700">
            <a:solidFill>
              <a:srgbClr val="F4F7F9"/>
            </a:solidFill>
            <a:prstDash val="solid"/>
          </a:ln>
        </p:spPr>
      </p:sp>
      <p:sp>
        <p:nvSpPr>
          <p:cNvPr id="15" name="Shape 13"/>
          <p:cNvSpPr/>
          <p:nvPr/>
        </p:nvSpPr>
        <p:spPr>
          <a:xfrm>
            <a:off x="1463040" y="2697480"/>
            <a:ext cx="9235440" cy="320040"/>
          </a:xfrm>
          <a:prstGeom prst="rect">
            <a:avLst/>
          </a:prstGeom>
          <a:solidFill>
            <a:srgbClr val="FFFFFF"/>
          </a:solidFill>
          <a:ln w="12700">
            <a:solidFill>
              <a:srgbClr val="D9E2EC"/>
            </a:solidFill>
            <a:prstDash val="solid"/>
          </a:ln>
        </p:spPr>
        <p:txBody>
          <a:bodyPr/>
          <a:lstStyle/>
          <a:p>
            <a:endParaRPr lang="en-US"/>
          </a:p>
        </p:txBody>
      </p:sp>
      <p:sp>
        <p:nvSpPr>
          <p:cNvPr id="16" name="Shape 14"/>
          <p:cNvSpPr/>
          <p:nvPr/>
        </p:nvSpPr>
        <p:spPr>
          <a:xfrm>
            <a:off x="1572768" y="2788920"/>
            <a:ext cx="137160" cy="137160"/>
          </a:xfrm>
          <a:prstGeom prst="ellipse">
            <a:avLst/>
          </a:prstGeom>
          <a:solidFill>
            <a:srgbClr val="FF5F57"/>
          </a:solidFill>
          <a:ln w="12700">
            <a:solidFill>
              <a:srgbClr val="FF5F57"/>
            </a:solidFill>
            <a:prstDash val="solid"/>
          </a:ln>
        </p:spPr>
        <p:txBody>
          <a:bodyPr/>
          <a:lstStyle/>
          <a:p>
            <a:endParaRPr lang="en-US"/>
          </a:p>
        </p:txBody>
      </p:sp>
      <p:sp>
        <p:nvSpPr>
          <p:cNvPr id="17" name="Shape 15"/>
          <p:cNvSpPr/>
          <p:nvPr/>
        </p:nvSpPr>
        <p:spPr>
          <a:xfrm>
            <a:off x="1783080" y="2788920"/>
            <a:ext cx="137160" cy="137160"/>
          </a:xfrm>
          <a:prstGeom prst="ellipse">
            <a:avLst/>
          </a:prstGeom>
          <a:solidFill>
            <a:srgbClr val="FEBC2E"/>
          </a:solidFill>
          <a:ln w="12700">
            <a:solidFill>
              <a:srgbClr val="FEBC2E"/>
            </a:solidFill>
            <a:prstDash val="solid"/>
          </a:ln>
        </p:spPr>
        <p:txBody>
          <a:bodyPr/>
          <a:lstStyle/>
          <a:p>
            <a:endParaRPr lang="en-US"/>
          </a:p>
        </p:txBody>
      </p:sp>
      <p:sp>
        <p:nvSpPr>
          <p:cNvPr id="18" name="Shape 16"/>
          <p:cNvSpPr/>
          <p:nvPr/>
        </p:nvSpPr>
        <p:spPr>
          <a:xfrm>
            <a:off x="1993392" y="2788920"/>
            <a:ext cx="137160" cy="137160"/>
          </a:xfrm>
          <a:prstGeom prst="ellipse">
            <a:avLst/>
          </a:prstGeom>
          <a:solidFill>
            <a:srgbClr val="28C840"/>
          </a:solidFill>
          <a:ln w="12700">
            <a:solidFill>
              <a:srgbClr val="28C840"/>
            </a:solidFill>
            <a:prstDash val="solid"/>
          </a:ln>
        </p:spPr>
        <p:txBody>
          <a:bodyPr/>
          <a:lstStyle/>
          <a:p>
            <a:endParaRPr lang="en-US"/>
          </a:p>
        </p:txBody>
      </p:sp>
      <p:sp>
        <p:nvSpPr>
          <p:cNvPr id="19" name="Text 17"/>
          <p:cNvSpPr/>
          <p:nvPr/>
        </p:nvSpPr>
        <p:spPr>
          <a:xfrm>
            <a:off x="2286000" y="2697480"/>
            <a:ext cx="3657600" cy="320040"/>
          </a:xfrm>
          <a:prstGeom prst="rect">
            <a:avLst/>
          </a:prstGeom>
          <a:noFill/>
          <a:ln/>
        </p:spPr>
        <p:txBody>
          <a:bodyPr wrap="square" lIns="0" tIns="0" rIns="0" bIns="0" rtlCol="0" anchor="ctr"/>
          <a:lstStyle/>
          <a:p>
            <a:pPr marL="0" indent="0">
              <a:buNone/>
            </a:pPr>
            <a:r>
              <a:rPr lang="en-US" sz="900">
                <a:solidFill>
                  <a:srgbClr val="8896A6"/>
                </a:solidFill>
              </a:rPr>
              <a:t>yashflix.ai / search</a:t>
            </a:r>
            <a:endParaRPr lang="en-US" sz="900"/>
          </a:p>
        </p:txBody>
      </p:sp>
      <p:sp>
        <p:nvSpPr>
          <p:cNvPr id="20" name="Shape 18"/>
          <p:cNvSpPr/>
          <p:nvPr/>
        </p:nvSpPr>
        <p:spPr>
          <a:xfrm>
            <a:off x="1828800" y="3246120"/>
            <a:ext cx="8503920" cy="502920"/>
          </a:xfrm>
          <a:prstGeom prst="roundRect">
            <a:avLst>
              <a:gd name="adj" fmla="val 10909"/>
            </a:avLst>
          </a:prstGeom>
          <a:solidFill>
            <a:srgbClr val="FFFFFF"/>
          </a:solidFill>
          <a:ln w="25400">
            <a:solidFill>
              <a:srgbClr val="29B5E8"/>
            </a:solidFill>
            <a:prstDash val="solid"/>
          </a:ln>
        </p:spPr>
      </p:sp>
      <p:sp>
        <p:nvSpPr>
          <p:cNvPr id="21" name="Shape 19"/>
          <p:cNvSpPr/>
          <p:nvPr/>
        </p:nvSpPr>
        <p:spPr>
          <a:xfrm>
            <a:off x="2011680" y="3392424"/>
            <a:ext cx="201168" cy="201168"/>
          </a:xfrm>
          <a:prstGeom prst="ellipse">
            <a:avLst/>
          </a:prstGeom>
          <a:solidFill>
            <a:srgbClr val="FFFFFF"/>
          </a:solidFill>
          <a:ln w="25400">
            <a:solidFill>
              <a:srgbClr val="29B5E8"/>
            </a:solidFill>
            <a:prstDash val="solid"/>
          </a:ln>
        </p:spPr>
      </p:sp>
      <p:sp>
        <p:nvSpPr>
          <p:cNvPr id="22" name="Shape 20"/>
          <p:cNvSpPr/>
          <p:nvPr/>
        </p:nvSpPr>
        <p:spPr>
          <a:xfrm>
            <a:off x="2176272" y="3575304"/>
            <a:ext cx="109728" cy="109728"/>
          </a:xfrm>
          <a:prstGeom prst="line">
            <a:avLst/>
          </a:prstGeom>
          <a:noFill/>
          <a:ln w="25400">
            <a:solidFill>
              <a:srgbClr val="29B5E8"/>
            </a:solidFill>
            <a:prstDash val="solid"/>
          </a:ln>
        </p:spPr>
      </p:sp>
      <p:sp>
        <p:nvSpPr>
          <p:cNvPr id="23" name="Text 21"/>
          <p:cNvSpPr/>
          <p:nvPr/>
        </p:nvSpPr>
        <p:spPr>
          <a:xfrm>
            <a:off x="2423160" y="3246120"/>
            <a:ext cx="7863840" cy="502920"/>
          </a:xfrm>
          <a:prstGeom prst="rect">
            <a:avLst/>
          </a:prstGeom>
          <a:noFill/>
          <a:ln/>
        </p:spPr>
        <p:txBody>
          <a:bodyPr wrap="square" lIns="0" tIns="0" rIns="0" bIns="0" rtlCol="0" anchor="ctr"/>
          <a:lstStyle/>
          <a:p>
            <a:pPr marL="0" indent="0">
              <a:buNone/>
            </a:pPr>
            <a:r>
              <a:rPr lang="en-US" sz="1200" i="1">
                <a:solidFill>
                  <a:srgbClr val="0A2540"/>
                </a:solidFill>
              </a:rPr>
              <a:t>"Show me where the architecture review approved the new caching layer"</a:t>
            </a:r>
            <a:endParaRPr lang="en-US" sz="1200"/>
          </a:p>
        </p:txBody>
      </p:sp>
      <p:sp>
        <p:nvSpPr>
          <p:cNvPr id="24" name="Shape 22"/>
          <p:cNvSpPr/>
          <p:nvPr/>
        </p:nvSpPr>
        <p:spPr>
          <a:xfrm>
            <a:off x="5532120" y="4069080"/>
            <a:ext cx="1097280" cy="1097280"/>
          </a:xfrm>
          <a:prstGeom prst="ellipse">
            <a:avLst/>
          </a:prstGeom>
          <a:solidFill>
            <a:srgbClr val="29B5E8"/>
          </a:solidFill>
          <a:ln w="12700">
            <a:solidFill>
              <a:srgbClr val="29B5E8"/>
            </a:solidFill>
            <a:prstDash val="solid"/>
          </a:ln>
          <a:effectLst>
            <a:outerShdw blurRad="228600" dist="50800" dir="5400000" algn="bl" rotWithShape="0">
              <a:srgbClr val="29B5E8">
                <a:alpha val="40000"/>
              </a:srgbClr>
            </a:outerShdw>
          </a:effectLst>
        </p:spPr>
        <p:txBody>
          <a:bodyPr/>
          <a:lstStyle/>
          <a:p>
            <a:endParaRPr lang="en-US"/>
          </a:p>
        </p:txBody>
      </p:sp>
      <p:sp>
        <p:nvSpPr>
          <p:cNvPr id="25" name="Text 23"/>
          <p:cNvSpPr/>
          <p:nvPr/>
        </p:nvSpPr>
        <p:spPr>
          <a:xfrm>
            <a:off x="5532120" y="4069080"/>
            <a:ext cx="1097280" cy="1097280"/>
          </a:xfrm>
          <a:prstGeom prst="rect">
            <a:avLst/>
          </a:prstGeom>
          <a:noFill/>
          <a:ln/>
        </p:spPr>
        <p:txBody>
          <a:bodyPr wrap="square" lIns="0" tIns="0" rIns="0" bIns="0" rtlCol="0" anchor="ctr"/>
          <a:lstStyle/>
          <a:p>
            <a:pPr algn="ctr"/>
            <a:r>
              <a:rPr lang="en-US" sz="4200" b="1">
                <a:solidFill>
                  <a:srgbClr val="FFFFFF"/>
                </a:solidFill>
              </a:rPr>
              <a:t> ▶</a:t>
            </a:r>
            <a:endParaRPr lang="en-US" sz="4200"/>
          </a:p>
        </p:txBody>
      </p:sp>
      <p:sp>
        <p:nvSpPr>
          <p:cNvPr id="26" name="Shape 24"/>
          <p:cNvSpPr/>
          <p:nvPr/>
        </p:nvSpPr>
        <p:spPr>
          <a:xfrm>
            <a:off x="1005840" y="5577840"/>
            <a:ext cx="10149840" cy="109728"/>
          </a:xfrm>
          <a:prstGeom prst="rect">
            <a:avLst/>
          </a:prstGeom>
          <a:solidFill>
            <a:srgbClr val="0A2540"/>
          </a:solidFill>
          <a:ln w="12700">
            <a:solidFill>
              <a:srgbClr val="0A2540"/>
            </a:solidFill>
            <a:prstDash val="solid"/>
          </a:ln>
        </p:spPr>
        <p:txBody>
          <a:bodyPr/>
          <a:lstStyle/>
          <a:p>
            <a:endParaRPr lang="en-US"/>
          </a:p>
        </p:txBody>
      </p:sp>
      <p:sp>
        <p:nvSpPr>
          <p:cNvPr id="27" name="Shape 25"/>
          <p:cNvSpPr/>
          <p:nvPr/>
        </p:nvSpPr>
        <p:spPr>
          <a:xfrm>
            <a:off x="5623560" y="5687568"/>
            <a:ext cx="914400" cy="54864"/>
          </a:xfrm>
          <a:prstGeom prst="rect">
            <a:avLst/>
          </a:prstGeom>
          <a:solidFill>
            <a:srgbClr val="0A2540"/>
          </a:solidFill>
          <a:ln w="12700">
            <a:solidFill>
              <a:srgbClr val="0A2540"/>
            </a:solidFill>
            <a:prstDash val="solid"/>
          </a:ln>
        </p:spPr>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11</Slides>
  <Notes>10</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352</cp:revision>
  <dcterms:created xsi:type="dcterms:W3CDTF">2026-06-10T11:26:52Z</dcterms:created>
  <dcterms:modified xsi:type="dcterms:W3CDTF">2026-06-28T05:49:48Z</dcterms:modified>
</cp:coreProperties>
</file>